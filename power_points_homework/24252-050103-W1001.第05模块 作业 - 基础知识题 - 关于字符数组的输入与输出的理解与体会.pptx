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279" r:id="rId4"/>
    <p:sldId id="1021" r:id="rId6"/>
    <p:sldId id="1309" r:id="rId7"/>
    <p:sldId id="990" r:id="rId8"/>
    <p:sldId id="992" r:id="rId9"/>
    <p:sldId id="993" r:id="rId10"/>
    <p:sldId id="994" r:id="rId11"/>
    <p:sldId id="995" r:id="rId12"/>
    <p:sldId id="996" r:id="rId13"/>
    <p:sldId id="997" r:id="rId14"/>
    <p:sldId id="998" r:id="rId15"/>
    <p:sldId id="999" r:id="rId16"/>
    <p:sldId id="1000" r:id="rId17"/>
    <p:sldId id="1001" r:id="rId18"/>
    <p:sldId id="1002" r:id="rId19"/>
    <p:sldId id="1003" r:id="rId20"/>
    <p:sldId id="1004" r:id="rId21"/>
    <p:sldId id="1005" r:id="rId22"/>
    <p:sldId id="1006" r:id="rId23"/>
    <p:sldId id="1007" r:id="rId24"/>
    <p:sldId id="1008" r:id="rId25"/>
    <p:sldId id="886" r:id="rId26"/>
    <p:sldId id="1009" r:id="rId27"/>
    <p:sldId id="1010" r:id="rId28"/>
    <p:sldId id="1011" r:id="rId29"/>
    <p:sldId id="1012" r:id="rId30"/>
    <p:sldId id="1013" r:id="rId31"/>
    <p:sldId id="1014" r:id="rId32"/>
    <p:sldId id="1015" r:id="rId33"/>
    <p:sldId id="1016" r:id="rId34"/>
    <p:sldId id="1017" r:id="rId35"/>
    <p:sldId id="1020" r:id="rId36"/>
    <p:sldId id="1019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、部分内容的填写，如果能确定是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不确定值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随机值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的，可直接填写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**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随机</a:t>
            </a:r>
            <a:r>
              <a:rPr lang="en-US" altLang="zh-CN" sz="1600" b="1" dirty="0">
                <a:latin typeface="+mn-ea"/>
              </a:rPr>
              <a:t>"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99018" y="1400426"/>
            <a:ext cx="8424936" cy="2820662"/>
            <a:chOff x="323528" y="3933056"/>
            <a:chExt cx="8424936" cy="282066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3528" y="3933056"/>
              <a:ext cx="6333333" cy="26380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948264" y="3933056"/>
              <a:ext cx="1800200" cy="2820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**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输出的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行内容是：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随机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>
              <a:stCxn id="4" idx="1"/>
              <a:endCxn id="4" idx="3"/>
            </p:cNvCxnSpPr>
            <p:nvPr/>
          </p:nvCxnSpPr>
          <p:spPr bwMode="auto">
            <a:xfrm>
              <a:off x="6948264" y="5343387"/>
              <a:ext cx="18002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箭头: 右 5"/>
            <p:cNvSpPr/>
            <p:nvPr/>
          </p:nvSpPr>
          <p:spPr bwMode="auto">
            <a:xfrm>
              <a:off x="5796136" y="5157192"/>
              <a:ext cx="1152128" cy="389869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>
                <a:latin typeface="+mn-ea"/>
              </a:rPr>
              <a:t>字符数组的输入与输出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数组下标表示前有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规定后面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必须是变量的地址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4"/>
          <p:cNvSpPr/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&amp;a[0]);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a[0];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1211580"/>
            <a:ext cx="3649345" cy="52787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并回车，表现如何？要求继续输入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多按几次回车，表现如何？要求继续输入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67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65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66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读取回车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不读取回车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’\0’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并回车，输出？正常输出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965" y="4657725"/>
            <a:ext cx="2303145" cy="11061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  <a:sym typeface="+mn-ea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并回车，输出？正常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定义的字符数组的长度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2275" y="4670425"/>
            <a:ext cx="1770380" cy="1245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n*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/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，尾零不输出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&lt;&lt; '*';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S,t,u,d,e,n,t,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S*t*u*d*e*n*t*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/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Student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把尾零提前，字符串结束位置也会提前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/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跟数组名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不是数组元素名</a:t>
              </a:r>
              <a:endPara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a[]="Student\0china";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("%s*\n",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14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数组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___14___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最后是否还有隐含的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？是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__7__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__’\0’____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China烫烫烫?ョj梓o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China烫烫烫?ョj梓o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字符串没有以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结尾，会自动往后找直到找到为止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不会，只循环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次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不初始化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踓煸鴿烫烫烫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踓煸鴿烫烫烫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字符串没有以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结尾，会自动往后找直到找到为止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都正常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____\0__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/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AutoShape 4"/>
            <p:cNvSpPr/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数组元素名形式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&amp;a[3]);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&amp;a[3]);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AutoShape 4"/>
          <p:cNvSpPr/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&amp;a[3];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输入输出时，表示形式都是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____abcd\0____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  <a:endParaRPr lang="zh-CN" altLang="en-US" sz="1600" b="1" dirty="0">
              <a:latin typeface="+mn-ea"/>
            </a:endParaRPr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287061" y="1611217"/>
          <a:ext cx="6984776" cy="2374687"/>
        </p:xfrm>
        <a:graphic>
          <a:graphicData uri="http://schemas.openxmlformats.org/drawingml/2006/table">
            <a:tbl>
              <a:tblPr/>
              <a:tblGrid>
                <a:gridCol w="2088232"/>
                <a:gridCol w="2520280"/>
                <a:gridCol w="2376264"/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scanf(“%s”,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输出单个字符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printf(“%c”,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printf(“%s”,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任一元素开始输入串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scanf(“%s”,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首元素地址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首元素地址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任一元素开始输出串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printf(“%s”, &amp;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首元素地址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cout &gt;&gt; &amp;</a:t>
                      </a:r>
                      <a:r>
                        <a:rPr kumimoji="1" lang="zh-CN" altLang="en-US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首元素地址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("%s-%s\n", a, b);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__B_______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abc-def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_____B____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输入分隔符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__space________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VS2022 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Dev C++   </a:t>
            </a:r>
            <a:r>
              <a:rPr lang="zh-CN" altLang="en-US" sz="1600" b="1" dirty="0">
                <a:latin typeface="+mn-ea"/>
              </a:rPr>
              <a:t>：有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，  无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，有</a:t>
            </a:r>
            <a:r>
              <a:rPr lang="en-US" altLang="zh-CN" sz="1600" b="1" dirty="0" err="1">
                <a:latin typeface="+mn-ea"/>
              </a:rPr>
              <a:t>fgets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字符数组名，最大长度，</a:t>
            </a:r>
            <a:r>
              <a:rPr lang="en-US" altLang="zh-CN" sz="1600" b="1" dirty="0" err="1">
                <a:latin typeface="+mn-ea"/>
              </a:rPr>
              <a:t>stdin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？预留一位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？预留一位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gets(a);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 def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？预留一位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？预留一位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均可用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输入含空格的字符串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(a,10,stdin);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065" y="657225"/>
            <a:ext cx="3096260" cy="5833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 def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多输出了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被输入了数组中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aaaaaaaaaaaaaaaaaaaaaaaaaaaa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aaaaaaaaaaaaaaaaaaa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97 97 97 97 97 97 97 97 97 97 97 97 97 97 97 97 97 97 97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("a[0][2]=%c\n", a[0][2]);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%c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("a[0]=%s\n", a[0]);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覆盖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a[1]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的输入字符串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覆盖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a[1],a[2]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的输入字符串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&gt;&gt; a[1];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同上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中是什么？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继续访问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。是输入的字符串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：简述你是怎么理解二维数组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越界的？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二维数组连续存储，超出全部范围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才会越界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怎样输出单个字符？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怎样输出字符串？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a[x][y]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&amp;a[x][y]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&amp;a[0][0],&amp;a[2][0]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a[1][3]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开始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覆盖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a[1]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的输入字符串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27-56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a[1][3]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开始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覆盖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a[1],a[2]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的输入字符串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个以上字符，输出为：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换为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&amp;a[1][3];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再重复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，观察结果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同上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27~56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个字符为什么不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出现错误？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中是什么？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继续访问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+mn-ea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sym typeface="+mn-ea"/>
              </a:rPr>
              <a:t>。是输入的字符串</a:t>
            </a:r>
            <a:endParaRPr kumimoji="1" lang="zh-CN" altLang="en-US" sz="1600" b="1" dirty="0">
              <a:solidFill>
                <a:srgbClr val="000000"/>
              </a:solidFill>
              <a:latin typeface="+mn-ea"/>
              <a:sym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：如果想不影响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本例中是≤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差别在哪？开始位置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15341</Words>
  <Application>WPS 演示</Application>
  <PresentationFormat>宽屏</PresentationFormat>
  <Paragraphs>1545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wps</cp:lastModifiedBy>
  <cp:revision>43</cp:revision>
  <dcterms:created xsi:type="dcterms:W3CDTF">2020-08-13T13:39:00Z</dcterms:created>
  <dcterms:modified xsi:type="dcterms:W3CDTF">2025-05-01T06:51:46Z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9AF44698C2784A82BB0A647288D39F84_12</vt:lpwstr>
  </property>
  <property fmtid="{D5CDD505-2E9C-101B-9397-08002B2CF9AE}" pid="3" name="KSOProductBuildVer">
    <vt:lpwstr>2052-12.8.2.15091</vt:lpwstr>
  </property>
</Properties>
</file>