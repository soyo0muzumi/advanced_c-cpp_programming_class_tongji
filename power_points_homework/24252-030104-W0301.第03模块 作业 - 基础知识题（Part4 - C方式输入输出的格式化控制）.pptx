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236" r:id="rId3"/>
    <p:sldId id="1275" r:id="rId5"/>
    <p:sldId id="1277" r:id="rId6"/>
    <p:sldId id="1230" r:id="rId7"/>
    <p:sldId id="1276" r:id="rId8"/>
    <p:sldId id="1076" r:id="rId9"/>
    <p:sldId id="1238" r:id="rId10"/>
    <p:sldId id="492" r:id="rId11"/>
    <p:sldId id="1240" r:id="rId12"/>
    <p:sldId id="1241" r:id="rId13"/>
    <p:sldId id="1248" r:id="rId14"/>
    <p:sldId id="1242" r:id="rId15"/>
    <p:sldId id="1249" r:id="rId16"/>
    <p:sldId id="1250" r:id="rId17"/>
    <p:sldId id="1244" r:id="rId18"/>
    <p:sldId id="1246" r:id="rId19"/>
    <p:sldId id="1245" r:id="rId20"/>
    <p:sldId id="1251" r:id="rId21"/>
    <p:sldId id="520" r:id="rId22"/>
    <p:sldId id="1253" r:id="rId23"/>
    <p:sldId id="1254" r:id="rId24"/>
    <p:sldId id="1265" r:id="rId25"/>
    <p:sldId id="1257" r:id="rId26"/>
    <p:sldId id="1255" r:id="rId27"/>
    <p:sldId id="1259" r:id="rId28"/>
    <p:sldId id="1258" r:id="rId29"/>
    <p:sldId id="1261" r:id="rId30"/>
    <p:sldId id="1262" r:id="rId31"/>
    <p:sldId id="1269" r:id="rId32"/>
    <p:sldId id="1270" r:id="rId33"/>
    <p:sldId id="1267" r:id="rId34"/>
    <p:sldId id="1268" r:id="rId35"/>
    <p:sldId id="1266" r:id="rId36"/>
    <p:sldId id="1273" r:id="rId37"/>
    <p:sldId id="1271" r:id="rId38"/>
    <p:sldId id="1272" r:id="rId39"/>
    <p:sldId id="1274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57" autoAdjust="0"/>
  </p:normalViewPr>
  <p:slideViewPr>
    <p:cSldViewPr snapToGrid="0">
      <p:cViewPr varScale="1">
        <p:scale>
          <a:sx n="106" d="100"/>
          <a:sy n="106" d="100"/>
        </p:scale>
        <p:origin x="756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558688-ABC7-453E-BA22-F4813582A5F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64EA91-AA2B-41BE-A574-976C7F87965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BF3E9-4CC2-493B-A23D-F9F5DAD6267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7390DD-0C99-43A2-9CF3-1A84E3C54C8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59EA07-C8E8-4665-81DA-F8AA97A807C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3C32B-E4BA-46A5-BF69-35FA6657006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DBF182-C675-4BC9-81D4-CCF465CAEDC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A92D58-1AC3-4A23-B7F9-A30D8EF4EF2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BE57AF-6576-4E74-9C99-9873E1BD645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163D1-1ED6-4CC4-B47B-DD6F56C1FF4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04CDD7-A086-4F78-BFF3-313ED457E3C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21E16A2B-F58A-4135-8A28-11C3BD506B97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image" Target="../media/image60.png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image" Target="../media/image6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7.png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image" Target="../media/image71.pn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1.png"/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image" Target="../media/image78.pn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5.png"/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image" Target="../media/image82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image" Target="../media/image86.png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>
                <a:solidFill>
                  <a:srgbClr val="FF0000"/>
                </a:solidFill>
                <a:latin typeface="+mn-ea"/>
              </a:rPr>
              <a:t>19</a:t>
            </a:r>
            <a:r>
              <a:rPr lang="zh-CN" altLang="en-US" sz="1600" b="1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编辑窗的右下角是否为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46" y="1623695"/>
            <a:ext cx="9229725" cy="50196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特别提示：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1</a:t>
            </a:r>
            <a:r>
              <a:rPr lang="zh-CN" altLang="en-US" sz="2800" b="1" dirty="0">
                <a:latin typeface="+mn-ea"/>
              </a:rPr>
              <a:t>、做题过程中，先按要求输入，如果想替换数据，也要先做完指定输入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2</a:t>
            </a:r>
            <a:r>
              <a:rPr lang="zh-CN" altLang="en-US" sz="2800" b="1" dirty="0">
                <a:latin typeface="+mn-ea"/>
              </a:rPr>
              <a:t>、如果替换数据后出现某些问题，先记录下来，不要问，等全部完成后，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   </a:t>
            </a:r>
            <a:r>
              <a:rPr lang="zh-CN" altLang="en-US" sz="2800" b="1" dirty="0">
                <a:latin typeface="+mn-ea"/>
              </a:rPr>
              <a:t>还想不通再问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也许你的问题在后面的题目中有答案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3</a:t>
            </a:r>
            <a:r>
              <a:rPr lang="zh-CN" altLang="en-US" sz="2800" b="1" dirty="0">
                <a:latin typeface="+mn-ea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不要偷懒、不要自以为是的脑补结论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!!!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4</a:t>
            </a:r>
            <a:r>
              <a:rPr lang="zh-CN" altLang="en-US" sz="2800" b="1" dirty="0">
                <a:latin typeface="+mn-ea"/>
              </a:rPr>
              <a:t>、先得到题目要求的小结论，再综合考虑上下题目间关系，得到综合结论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5</a:t>
            </a:r>
            <a:r>
              <a:rPr lang="zh-CN" altLang="en-US" sz="2800" b="1" dirty="0">
                <a:latin typeface="+mn-ea"/>
              </a:rPr>
              <a:t>、这些结论，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是让你记住的，不是让你完成作业后就忘掉了</a:t>
            </a:r>
            <a:endParaRPr lang="zh-CN" altLang="en-US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6</a:t>
            </a:r>
            <a:r>
              <a:rPr lang="zh-CN" altLang="en-US" sz="2800" b="1" dirty="0">
                <a:latin typeface="+mn-ea"/>
              </a:rPr>
              <a:t>、换位思考</a:t>
            </a:r>
            <a:r>
              <a:rPr lang="en-US" altLang="zh-CN" sz="2800" b="1" dirty="0">
                <a:latin typeface="+mn-ea"/>
              </a:rPr>
              <a:t>(</a:t>
            </a:r>
            <a:r>
              <a:rPr lang="zh-CN" altLang="en-US" sz="2800" b="1" dirty="0">
                <a:latin typeface="+mn-ea"/>
              </a:rPr>
              <a:t>从老师角度出发</a:t>
            </a:r>
            <a:r>
              <a:rPr lang="en-US" altLang="zh-CN" sz="2800" b="1" dirty="0">
                <a:latin typeface="+mn-ea"/>
              </a:rPr>
              <a:t>)</a:t>
            </a:r>
            <a:r>
              <a:rPr lang="zh-CN" altLang="en-US" sz="2800" b="1" dirty="0">
                <a:latin typeface="+mn-ea"/>
              </a:rPr>
              <a:t>，这些题的目的是希望掌握什么学习方法？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2000" b="1" dirty="0">
                <a:latin typeface="+mn-ea"/>
              </a:rPr>
              <a:t>本次作业特别要求：</a:t>
            </a:r>
            <a:endParaRPr lang="en-US" altLang="zh-CN" sz="2000" b="1" dirty="0">
              <a:latin typeface="+mn-ea"/>
            </a:endParaRPr>
          </a:p>
          <a:p>
            <a:pPr algn="l"/>
            <a:r>
              <a:rPr lang="en-US" altLang="zh-CN" sz="2000" b="1" dirty="0">
                <a:latin typeface="+mn-ea"/>
              </a:rPr>
              <a:t>1</a:t>
            </a:r>
            <a:r>
              <a:rPr lang="zh-CN" altLang="en-US" sz="2000" b="1" dirty="0">
                <a:latin typeface="+mn-ea"/>
              </a:rPr>
              <a:t>、建立解决方案</a:t>
            </a:r>
            <a:r>
              <a:rPr lang="en-US" altLang="zh-CN" sz="2000" b="1" dirty="0">
                <a:latin typeface="+mn-ea"/>
              </a:rPr>
              <a:t>-</a:t>
            </a:r>
            <a:r>
              <a:rPr lang="zh-CN" altLang="en-US" sz="2000" b="1" dirty="0">
                <a:latin typeface="+mn-ea"/>
              </a:rPr>
              <a:t>项目</a:t>
            </a:r>
            <a:r>
              <a:rPr lang="en-US" altLang="zh-CN" sz="2000" b="1" dirty="0">
                <a:latin typeface="+mn-ea"/>
              </a:rPr>
              <a:t>-</a:t>
            </a:r>
            <a:r>
              <a:rPr lang="zh-CN" altLang="en-US" sz="2000" b="1" dirty="0">
                <a:latin typeface="+mn-ea"/>
              </a:rPr>
              <a:t>源程序文件时，</a:t>
            </a:r>
            <a:r>
              <a:rPr lang="zh-CN" alt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一定要</a:t>
            </a:r>
            <a:r>
              <a:rPr lang="en-US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.c</a:t>
            </a:r>
            <a:r>
              <a:rPr lang="zh-CN" alt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后缀</a:t>
            </a:r>
            <a:r>
              <a:rPr lang="zh-CN" altLang="en-US" sz="2000" b="1" dirty="0">
                <a:latin typeface="+mn-ea"/>
              </a:rPr>
              <a:t>，不要</a:t>
            </a:r>
            <a:r>
              <a:rPr lang="en-US" altLang="zh-CN" sz="2000" b="1" dirty="0">
                <a:latin typeface="+mn-ea"/>
              </a:rPr>
              <a:t>.</a:t>
            </a:r>
            <a:r>
              <a:rPr lang="en-US" altLang="zh-CN" sz="2000" b="1" dirty="0" err="1">
                <a:latin typeface="+mn-ea"/>
              </a:rPr>
              <a:t>cpp</a:t>
            </a:r>
            <a:r>
              <a:rPr lang="zh-CN" altLang="en-US" sz="2000" b="1" dirty="0">
                <a:latin typeface="+mn-ea"/>
              </a:rPr>
              <a:t>后缀</a:t>
            </a:r>
            <a:r>
              <a:rPr lang="en-US" altLang="zh-CN" sz="2000" b="1" dirty="0">
                <a:latin typeface="+mn-ea"/>
              </a:rPr>
              <a:t>!!!</a:t>
            </a:r>
            <a:endParaRPr lang="en-US" altLang="zh-CN" sz="2000" b="1" dirty="0">
              <a:latin typeface="+mn-ea"/>
            </a:endParaRPr>
          </a:p>
          <a:p>
            <a:pPr algn="l"/>
            <a:r>
              <a:rPr lang="en-US" altLang="zh-CN" sz="2000" b="1" dirty="0">
                <a:latin typeface="+mn-ea"/>
              </a:rPr>
              <a:t>   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提醒：</a:t>
            </a:r>
            <a:r>
              <a:rPr lang="en-US" altLang="zh-CN" sz="2000" b="1" dirty="0">
                <a:latin typeface="+mn-ea"/>
              </a:rPr>
              <a:t>.c</a:t>
            </a:r>
            <a:r>
              <a:rPr lang="zh-CN" altLang="en-US" sz="2000" b="1" dirty="0">
                <a:latin typeface="+mn-ea"/>
              </a:rPr>
              <a:t>和</a:t>
            </a:r>
            <a:r>
              <a:rPr lang="en-US" altLang="zh-CN" sz="2000" b="1" dirty="0">
                <a:latin typeface="+mn-ea"/>
              </a:rPr>
              <a:t>.</a:t>
            </a:r>
            <a:r>
              <a:rPr lang="en-US" altLang="zh-CN" sz="2000" b="1" dirty="0" err="1">
                <a:latin typeface="+mn-ea"/>
              </a:rPr>
              <a:t>cpp</a:t>
            </a:r>
            <a:r>
              <a:rPr lang="zh-CN" altLang="en-US" sz="2000" b="1" dirty="0">
                <a:latin typeface="+mn-ea"/>
              </a:rPr>
              <a:t>的报错表现不同，按</a:t>
            </a:r>
            <a:r>
              <a:rPr lang="en-US" altLang="zh-CN" sz="2000" b="1" dirty="0">
                <a:latin typeface="+mn-ea"/>
              </a:rPr>
              <a:t>.</a:t>
            </a:r>
            <a:r>
              <a:rPr lang="en-US" altLang="zh-CN" sz="2000" b="1" dirty="0" err="1">
                <a:latin typeface="+mn-ea"/>
              </a:rPr>
              <a:t>cpp</a:t>
            </a:r>
            <a:r>
              <a:rPr lang="zh-CN" altLang="en-US" sz="2000" b="1" dirty="0">
                <a:latin typeface="+mn-ea"/>
              </a:rPr>
              <a:t>做会</a:t>
            </a:r>
            <a:r>
              <a:rPr lang="zh-CN" alt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影响分数</a:t>
            </a:r>
            <a:endParaRPr lang="en-US" altLang="zh-CN" sz="20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r>
              <a:rPr lang="en-US" altLang="zh-CN" sz="2000" b="1" dirty="0">
                <a:latin typeface="+mn-ea"/>
              </a:rPr>
              <a:t>2</a:t>
            </a:r>
            <a:r>
              <a:rPr lang="zh-CN" altLang="en-US" sz="2000" b="1" dirty="0">
                <a:latin typeface="+mn-ea"/>
              </a:rPr>
              <a:t>、如果是</a:t>
            </a:r>
            <a:r>
              <a:rPr lang="en-US" altLang="zh-CN" sz="2000" b="1" dirty="0">
                <a:latin typeface="+mn-ea"/>
              </a:rPr>
              <a:t>warning+</a:t>
            </a:r>
            <a:r>
              <a:rPr lang="zh-CN" altLang="en-US" sz="2000" b="1" dirty="0">
                <a:latin typeface="+mn-ea"/>
              </a:rPr>
              <a:t>有结果，则</a:t>
            </a:r>
            <a:r>
              <a:rPr lang="en-US" altLang="zh-CN" sz="2000" b="1" dirty="0">
                <a:latin typeface="+mn-ea"/>
              </a:rPr>
              <a:t>warning+</a:t>
            </a:r>
            <a:r>
              <a:rPr lang="zh-CN" altLang="en-US" sz="2000" b="1" dirty="0">
                <a:latin typeface="+mn-ea"/>
              </a:rPr>
              <a:t>运行结果两者的截图都要</a:t>
            </a:r>
            <a:r>
              <a:rPr lang="en-US" altLang="zh-CN" sz="2000" b="1" dirty="0">
                <a:latin typeface="+mn-ea"/>
              </a:rPr>
              <a:t>!!!</a:t>
            </a:r>
            <a:endParaRPr lang="en-US" altLang="zh-CN" sz="20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9833" y="1727078"/>
            <a:ext cx="3733333" cy="41047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977" y="2433002"/>
            <a:ext cx="4906724" cy="33988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zh-CN" altLang="en-US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★ 关于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在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中使用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时，报</a:t>
            </a:r>
            <a:r>
              <a:rPr lang="en-US" altLang="zh-CN" sz="1600" b="1" dirty="0"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的统一处理方法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更多内容，参考编号为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030105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的附件文档及视频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015" y="1110714"/>
            <a:ext cx="3764671" cy="23064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617" y="1110714"/>
            <a:ext cx="3374468" cy="23182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矩形 6"/>
          <p:cNvSpPr/>
          <p:nvPr/>
        </p:nvSpPr>
        <p:spPr bwMode="auto">
          <a:xfrm>
            <a:off x="6103565" y="3548445"/>
            <a:ext cx="5210980" cy="143456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、如上图两个程序，按 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CTRL+F5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可以正确运行，编译结果显示区域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未出现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warning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，但导航栏提示有一个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warning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、点开导航栏后出现一个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warning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信息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、这属于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智能提示（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IntelliSense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）的警告，这种级别的警告暂时忽略，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不需要消除，也不计入会扣分的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warning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的计数项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619014" y="3548445"/>
            <a:ext cx="5295238" cy="2826164"/>
            <a:chOff x="2115305" y="3429000"/>
            <a:chExt cx="5295238" cy="2826164"/>
          </a:xfrm>
        </p:grpSpPr>
        <p:grpSp>
          <p:nvGrpSpPr>
            <p:cNvPr id="2" name="组合 1"/>
            <p:cNvGrpSpPr/>
            <p:nvPr/>
          </p:nvGrpSpPr>
          <p:grpSpPr>
            <a:xfrm>
              <a:off x="2115305" y="3429000"/>
              <a:ext cx="5295238" cy="1434561"/>
              <a:chOff x="2115305" y="3429000"/>
              <a:chExt cx="5295238" cy="1434561"/>
            </a:xfrm>
          </p:grpSpPr>
          <p:pic>
            <p:nvPicPr>
              <p:cNvPr id="4" name="图片 3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15305" y="3429000"/>
                <a:ext cx="5295238" cy="139047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8" name="矩形 7"/>
              <p:cNvSpPr/>
              <p:nvPr/>
            </p:nvSpPr>
            <p:spPr bwMode="auto">
              <a:xfrm>
                <a:off x="3927412" y="3645024"/>
                <a:ext cx="1944216" cy="2880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2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导航栏显示有</a:t>
                </a:r>
                <a:r>
                  <a:rPr kumimoji="1" lang="en-US" altLang="zh-CN" sz="12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r>
                  <a:rPr kumimoji="1" lang="zh-CN" altLang="en-US" sz="12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个</a:t>
                </a:r>
                <a:r>
                  <a:rPr kumimoji="1" lang="en-US" altLang="zh-CN" sz="12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warning</a:t>
                </a:r>
                <a:endPara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2" name="矩形 21"/>
              <p:cNvSpPr/>
              <p:nvPr/>
            </p:nvSpPr>
            <p:spPr bwMode="auto">
              <a:xfrm>
                <a:off x="4190628" y="4575529"/>
                <a:ext cx="1944216" cy="2880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2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编译结果区域无</a:t>
                </a:r>
                <a:r>
                  <a:rPr kumimoji="1" lang="en-US" altLang="zh-CN" sz="12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waring</a:t>
                </a:r>
                <a:endPara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2115305" y="4967376"/>
              <a:ext cx="5295238" cy="1287788"/>
              <a:chOff x="2115305" y="4967376"/>
              <a:chExt cx="5295238" cy="1287788"/>
            </a:xfrm>
          </p:grpSpPr>
          <p:pic>
            <p:nvPicPr>
              <p:cNvPr id="5" name="图片 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15305" y="4967376"/>
                <a:ext cx="5295238" cy="128778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24" name="矩形 23"/>
              <p:cNvSpPr/>
              <p:nvPr/>
            </p:nvSpPr>
            <p:spPr bwMode="auto">
              <a:xfrm>
                <a:off x="4786406" y="5722058"/>
                <a:ext cx="2461723" cy="2880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2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点开导航栏后能看到一个</a:t>
                </a:r>
                <a:r>
                  <a:rPr kumimoji="1" lang="en-US" altLang="zh-CN" sz="12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warning</a:t>
                </a:r>
                <a:endPara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  形式：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格式控制表列</a:t>
            </a:r>
            <a:r>
              <a:rPr lang="en-US" altLang="zh-CN" sz="1600" b="1" dirty="0">
                <a:latin typeface="+mn-ea"/>
              </a:rPr>
              <a:t>, </a:t>
            </a:r>
            <a:r>
              <a:rPr lang="zh-CN" altLang="en-US" sz="1600" b="1" dirty="0">
                <a:latin typeface="+mn-ea"/>
              </a:rPr>
              <a:t>输出表列</a:t>
            </a:r>
            <a:r>
              <a:rPr lang="en-US" altLang="zh-CN" sz="1600" b="1" dirty="0">
                <a:latin typeface="+mn-ea"/>
              </a:rPr>
              <a:t>);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  格式控制表列的内容：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格式说明：以</a:t>
            </a:r>
            <a:r>
              <a:rPr lang="en-US" altLang="zh-CN" sz="1600" b="1" dirty="0">
                <a:latin typeface="+mn-ea"/>
              </a:rPr>
              <a:t>%</a:t>
            </a:r>
            <a:r>
              <a:rPr lang="zh-CN" altLang="en-US" sz="1600" b="1" dirty="0">
                <a:latin typeface="+mn-ea"/>
              </a:rPr>
              <a:t>开始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格式字符</a:t>
            </a:r>
            <a:r>
              <a:rPr lang="en-US" altLang="zh-CN" sz="1600" b="1" dirty="0">
                <a:latin typeface="+mn-ea"/>
              </a:rPr>
              <a:t>,</a:t>
            </a:r>
            <a:r>
              <a:rPr lang="zh-CN" altLang="en-US" sz="1600" b="1" dirty="0">
                <a:latin typeface="+mn-ea"/>
              </a:rPr>
              <a:t>表示按格式输出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普通字符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含转义符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：原样输出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  输出表列：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要输出的数据（常量、变量、表达式、函数）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常用的格式符种类：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</p:txBody>
      </p:sp>
      <p:graphicFrame>
        <p:nvGraphicFramePr>
          <p:cNvPr id="6" name="Group 3"/>
          <p:cNvGraphicFramePr>
            <a:graphicFrameLocks noGrp="1"/>
          </p:cNvGraphicFramePr>
          <p:nvPr/>
        </p:nvGraphicFramePr>
        <p:xfrm>
          <a:off x="831175" y="3380798"/>
          <a:ext cx="4703440" cy="3017520"/>
        </p:xfrm>
        <a:graphic>
          <a:graphicData uri="http://schemas.openxmlformats.org/drawingml/2006/table">
            <a:tbl>
              <a:tblPr/>
              <a:tblGrid>
                <a:gridCol w="641527"/>
                <a:gridCol w="4061913"/>
              </a:tblGrid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d, 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带符号的十进制形式整数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正数不带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+)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八进制无符号形式输出整数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不带前导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0)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x, X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十六进制无符号形式输出整数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不带前导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0x)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十进制无符号形式输出整数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以字符形式输出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一个字符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输出字符串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以小数形式输出浮点数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e, E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以指数形式输出浮点数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g, G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从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中选择宽度较短的形式输出浮点数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Group 27"/>
          <p:cNvGraphicFramePr>
            <a:graphicFrameLocks noGrp="1"/>
          </p:cNvGraphicFramePr>
          <p:nvPr/>
        </p:nvGraphicFramePr>
        <p:xfrm>
          <a:off x="5874478" y="3380798"/>
          <a:ext cx="4248472" cy="1926352"/>
        </p:xfrm>
        <a:graphic>
          <a:graphicData uri="http://schemas.openxmlformats.org/drawingml/2006/table">
            <a:tbl>
              <a:tblPr/>
              <a:tblGrid>
                <a:gridCol w="1080120"/>
                <a:gridCol w="3168352"/>
              </a:tblGrid>
              <a:tr h="1458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字母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字母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表示长整型整数，用于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d,o,x,u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前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表示短整型整数，用于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d,o,x,u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前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正整数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表示输出数据的宽度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58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正整数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.n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对浮点数，表示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位小数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对字符串，表示前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个字符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输出左对齐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矩形 3"/>
          <p:cNvSpPr/>
          <p:nvPr/>
        </p:nvSpPr>
        <p:spPr bwMode="auto">
          <a:xfrm>
            <a:off x="813999" y="2987098"/>
            <a:ext cx="4712677" cy="3639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所用的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格式字符</a:t>
            </a:r>
            <a:r>
              <a:rPr lang="zh-CN" altLang="en-US" sz="1600" b="1" dirty="0">
                <a:latin typeface="+mn-ea"/>
              </a:rPr>
              <a:t>的种类：</a:t>
            </a:r>
            <a:endParaRPr kumimoji="1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874479" y="2987098"/>
            <a:ext cx="4248472" cy="3639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所用的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附加格式字符</a:t>
            </a:r>
            <a:r>
              <a:rPr lang="zh-CN" altLang="en-US" sz="1600" b="1" dirty="0">
                <a:latin typeface="+mn-ea"/>
              </a:rPr>
              <a:t>的种类：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9730937" y="6062498"/>
            <a:ext cx="2084332" cy="4907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本页不用作答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a=10, b=5;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b=%d\n",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a,b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("Hello, Welcome!\n");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("Hello, Welcome\x21\n");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4452270"/>
            <a:ext cx="4147127" cy="208188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运行结果：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\x21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是</a:t>
            </a:r>
            <a:r>
              <a:rPr kumimoji="1" lang="zh-CN" altLang="en-US" sz="1600" b="1" dirty="0">
                <a:latin typeface="+mn-ea"/>
              </a:rPr>
              <a:t>哪个</a:t>
            </a:r>
            <a:r>
              <a:rPr kumimoji="1" lang="en-US" altLang="zh-CN" sz="1600" b="1" dirty="0">
                <a:latin typeface="+mn-ea"/>
              </a:rPr>
              <a:t>ASCII</a:t>
            </a:r>
            <a:r>
              <a:rPr kumimoji="1" lang="zh-CN" altLang="en-US" sz="1600" b="1" dirty="0">
                <a:latin typeface="+mn-ea"/>
              </a:rPr>
              <a:t>字符的</a:t>
            </a:r>
            <a:r>
              <a:rPr kumimoji="1" lang="en-US" altLang="zh-CN" sz="1600" b="1" dirty="0">
                <a:latin typeface="+mn-ea"/>
              </a:rPr>
              <a:t>16</a:t>
            </a:r>
            <a:r>
              <a:rPr kumimoji="1" lang="zh-CN" altLang="en-US" sz="1600" b="1" dirty="0">
                <a:latin typeface="+mn-ea"/>
              </a:rPr>
              <a:t>进制转义表示？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latin typeface="+mn-ea"/>
              </a:rPr>
              <a:t>转义符在格式控制表列中的输出形式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latin typeface="+mn-ea"/>
              </a:rPr>
              <a:t>是：</a:t>
            </a:r>
            <a:r>
              <a:rPr kumimoji="1" lang="en-US" altLang="zh-CN" sz="1600" b="1" dirty="0">
                <a:latin typeface="+mn-ea"/>
              </a:rPr>
              <a:t>______(</a:t>
            </a:r>
            <a:r>
              <a:rPr kumimoji="1" lang="zh-CN" altLang="en-US" sz="1600" b="1" dirty="0">
                <a:latin typeface="+mn-ea"/>
              </a:rPr>
              <a:t>字符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整数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转义符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4739241" y="1323975"/>
            <a:ext cx="6100208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写出与左侧程序输出完全一致的，用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C++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方式的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实现的代码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贴源码或截图均可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 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	int a = 10, b = 5;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	cout &lt;&lt; "a=" &lt;&lt; a &lt;&lt; ", " &lt;&lt; "b=" &lt;&lt; b &lt;&lt; endl;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	cout &lt;&lt; "Hello, Welcome!" &lt;&lt; endl;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	cout &lt;&lt; "Hello, Welcome\x21" &lt;&lt; endl;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	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a=10, b=5;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("a=%d\n", a, b);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("Hello, Welcome!\n");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4452267"/>
            <a:ext cx="5122140" cy="208188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运行结果：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latin typeface="+mn-ea"/>
              </a:rPr>
              <a:t>结论：如果</a:t>
            </a:r>
            <a:r>
              <a:rPr kumimoji="1" lang="en-US" altLang="zh-CN" sz="1600" b="1" dirty="0">
                <a:latin typeface="+mn-ea"/>
              </a:rPr>
              <a:t>%d(</a:t>
            </a:r>
            <a:r>
              <a:rPr kumimoji="1" lang="zh-CN" altLang="en-US" sz="1600" b="1" dirty="0">
                <a:latin typeface="+mn-ea"/>
              </a:rPr>
              <a:t>格式符的数量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小于</a:t>
            </a:r>
            <a:r>
              <a:rPr kumimoji="1" lang="zh-CN" altLang="en-US" sz="1600" b="1" dirty="0">
                <a:latin typeface="+mn-ea"/>
              </a:rPr>
              <a:t>后面输出表列的数量，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</a:t>
            </a:r>
            <a:r>
              <a:rPr kumimoji="1" lang="zh-CN" altLang="en-US" sz="1600" b="1" dirty="0">
                <a:latin typeface="+mn-ea"/>
              </a:rPr>
              <a:t>     则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输出</a:t>
            </a:r>
            <a:r>
              <a:rPr kumimoji="1" lang="en-US" altLang="zh-CN" sz="1600" b="1" dirty="0">
                <a:latin typeface="+mn-ea"/>
              </a:rPr>
              <a:t>%d</a:t>
            </a:r>
            <a:r>
              <a:rPr kumimoji="1" lang="zh-CN" altLang="en-US" sz="1600" b="1" dirty="0">
                <a:latin typeface="+mn-ea"/>
              </a:rPr>
              <a:t>数量个</a:t>
            </a:r>
            <a:r>
              <a:rPr kumimoji="1" lang="en-US" altLang="zh-CN" sz="1600" b="1" dirty="0">
                <a:latin typeface="+mn-ea"/>
              </a:rPr>
              <a:t>_____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714254" y="1323972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a=10, b=5;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 %d %d\n", a, b);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("Hello, Welcome!\n");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714254" y="4452267"/>
            <a:ext cx="5122140" cy="208188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结论：如果</a:t>
            </a:r>
            <a:r>
              <a:rPr kumimoji="1" lang="en-US" altLang="zh-CN" sz="1600" b="1" dirty="0">
                <a:latin typeface="+mn-ea"/>
              </a:rPr>
              <a:t>%d(</a:t>
            </a:r>
            <a:r>
              <a:rPr kumimoji="1" lang="zh-CN" altLang="en-US" sz="1600" b="1" dirty="0">
                <a:latin typeface="+mn-ea"/>
              </a:rPr>
              <a:t>格式符的数量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大于</a:t>
            </a:r>
            <a:r>
              <a:rPr kumimoji="1" lang="zh-CN" altLang="en-US" sz="1600" b="1" dirty="0">
                <a:latin typeface="+mn-ea"/>
              </a:rPr>
              <a:t>后面输出表列的数量，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</a:t>
            </a:r>
            <a:r>
              <a:rPr kumimoji="1" lang="zh-CN" altLang="en-US" sz="1600" b="1" dirty="0">
                <a:latin typeface="+mn-ea"/>
              </a:rPr>
              <a:t>     则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  <a:sym typeface="+mn-ea"/>
              </a:rPr>
              <a:t>输出</a:t>
            </a:r>
            <a:r>
              <a:rPr kumimoji="1" lang="en-US" altLang="zh-CN" sz="1600" b="1" dirty="0">
                <a:latin typeface="+mn-ea"/>
                <a:sym typeface="+mn-ea"/>
              </a:rPr>
              <a:t>%d</a:t>
            </a:r>
            <a:r>
              <a:rPr kumimoji="1" lang="zh-CN" altLang="en-US" sz="1600" b="1" dirty="0">
                <a:latin typeface="+mn-ea"/>
                <a:sym typeface="+mn-ea"/>
              </a:rPr>
              <a:t>数量个，不够的用随机数补</a:t>
            </a:r>
            <a:r>
              <a:rPr kumimoji="1" lang="en-US" altLang="zh-CN" sz="1600" b="1" dirty="0">
                <a:latin typeface="+mn-ea"/>
              </a:rPr>
              <a:t>_</a:t>
            </a:r>
            <a:endParaRPr kumimoji="1" lang="zh-CN" altLang="en-US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890" y="4876800"/>
            <a:ext cx="1862455" cy="3619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995" y="4833620"/>
            <a:ext cx="2281555" cy="4476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a=10, b=5;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ret1, ret2, ret3, ret4, ret5;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ret1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</a:t>
            </a:r>
            <a:r>
              <a:rPr kumimoji="1"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,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b=%d\n", a, b);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ret2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 b=%d\n", a, b);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跟上面比，少一个逗号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ret3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("a=%d\n", a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*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1000);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ret4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("Hello\n");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ret5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("Hello"); //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跟上面比，少一个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\n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("\n");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 %d %d %d %d\n", ret1, ret2, ret3, ret4, ret5);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232073" y="1323975"/>
            <a:ext cx="360737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对运行结果进行分析后，你认为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zh-CN" altLang="en-US" sz="1600" b="1" dirty="0">
                <a:latin typeface="+mn-ea"/>
              </a:rPr>
              <a:t>的返回值的含义是：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成功输出的字符个数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150" y="1602740"/>
            <a:ext cx="1476375" cy="11144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3"/>
            <a:ext cx="50613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stdio.h</a:t>
            </a:r>
            <a:r>
              <a:rPr lang="en-US" altLang="zh-CN" sz="1200" b="1" dirty="0">
                <a:latin typeface="+mn-ea"/>
              </a:rPr>
              <a:t>&gt;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short a = -2;</a:t>
            </a:r>
            <a:endParaRPr lang="en-US" altLang="zh-CN" sz="1200" b="1" dirty="0">
              <a:latin typeface="+mn-ea"/>
            </a:endParaRPr>
          </a:p>
          <a:p>
            <a:r>
              <a:rPr lang="pt-BR" altLang="zh-CN" sz="1200" b="1" dirty="0">
                <a:latin typeface="+mn-ea"/>
              </a:rPr>
              <a:t>    printf("a=%hi %hd %hu %ho %hx %hX\n", a, a, a, a, a, a);</a:t>
            </a:r>
            <a:endParaRPr lang="pt-BR" altLang="zh-CN" sz="1200" b="1" dirty="0">
              <a:latin typeface="+mn-ea"/>
            </a:endParaRPr>
          </a:p>
          <a:p>
            <a:r>
              <a:rPr lang="pt-BR" altLang="zh-CN" sz="1200" b="1" dirty="0">
                <a:latin typeface="+mn-ea"/>
              </a:rPr>
              <a:t>    printf("a=%i %d %u %o %x %X\n", a, a, a, a, a, a);</a:t>
            </a:r>
            <a:endParaRPr lang="pt-BR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("a=%li %</a:t>
            </a:r>
            <a:r>
              <a:rPr lang="en-US" altLang="zh-CN" sz="1200" b="1" dirty="0" err="1">
                <a:latin typeface="+mn-ea"/>
              </a:rPr>
              <a:t>ld</a:t>
            </a:r>
            <a:r>
              <a:rPr lang="en-US" altLang="zh-CN" sz="1200" b="1" dirty="0">
                <a:latin typeface="+mn-ea"/>
              </a:rPr>
              <a:t> %</a:t>
            </a:r>
            <a:r>
              <a:rPr lang="en-US" altLang="zh-CN" sz="1200" b="1" dirty="0" err="1">
                <a:latin typeface="+mn-ea"/>
              </a:rPr>
              <a:t>lu</a:t>
            </a:r>
            <a:r>
              <a:rPr lang="en-US" altLang="zh-CN" sz="1200" b="1" dirty="0">
                <a:latin typeface="+mn-ea"/>
              </a:rPr>
              <a:t> %lo %lx %</a:t>
            </a:r>
            <a:r>
              <a:rPr lang="en-US" altLang="zh-CN" sz="1200" b="1" dirty="0" err="1">
                <a:latin typeface="+mn-ea"/>
              </a:rPr>
              <a:t>lX</a:t>
            </a:r>
            <a:r>
              <a:rPr lang="en-US" altLang="zh-CN" sz="1200" b="1" dirty="0">
                <a:latin typeface="+mn-ea"/>
              </a:rPr>
              <a:t>\n", a, a, a, a, a, a);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unsigned short b = 40000;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("b=%hi %</a:t>
            </a:r>
            <a:r>
              <a:rPr lang="en-US" altLang="zh-CN" sz="1200" b="1" dirty="0" err="1">
                <a:latin typeface="+mn-ea"/>
              </a:rPr>
              <a:t>hd</a:t>
            </a:r>
            <a:r>
              <a:rPr lang="en-US" altLang="zh-CN" sz="1200" b="1" dirty="0">
                <a:latin typeface="+mn-ea"/>
              </a:rPr>
              <a:t> %hu %ho %hx %</a:t>
            </a:r>
            <a:r>
              <a:rPr lang="en-US" altLang="zh-CN" sz="1200" b="1" dirty="0" err="1">
                <a:latin typeface="+mn-ea"/>
              </a:rPr>
              <a:t>hX</a:t>
            </a:r>
            <a:r>
              <a:rPr lang="en-US" altLang="zh-CN" sz="1200" b="1" dirty="0">
                <a:latin typeface="+mn-ea"/>
              </a:rPr>
              <a:t>\n", b, b, b, b, b, b);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("b=%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 %d %u %o %x %X\n", b, b, b, b, b, b);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("b=%li %</a:t>
            </a:r>
            <a:r>
              <a:rPr lang="en-US" altLang="zh-CN" sz="1200" b="1" dirty="0" err="1">
                <a:latin typeface="+mn-ea"/>
              </a:rPr>
              <a:t>ld</a:t>
            </a:r>
            <a:r>
              <a:rPr lang="en-US" altLang="zh-CN" sz="1200" b="1" dirty="0">
                <a:latin typeface="+mn-ea"/>
              </a:rPr>
              <a:t> %</a:t>
            </a:r>
            <a:r>
              <a:rPr lang="en-US" altLang="zh-CN" sz="1200" b="1" dirty="0" err="1">
                <a:latin typeface="+mn-ea"/>
              </a:rPr>
              <a:t>lu</a:t>
            </a:r>
            <a:r>
              <a:rPr lang="en-US" altLang="zh-CN" sz="1200" b="1" dirty="0">
                <a:latin typeface="+mn-ea"/>
              </a:rPr>
              <a:t> %lo %lx %</a:t>
            </a:r>
            <a:r>
              <a:rPr lang="en-US" altLang="zh-CN" sz="1200" b="1" dirty="0" err="1">
                <a:latin typeface="+mn-ea"/>
              </a:rPr>
              <a:t>lX</a:t>
            </a:r>
            <a:r>
              <a:rPr lang="en-US" altLang="zh-CN" sz="1200" b="1" dirty="0">
                <a:latin typeface="+mn-ea"/>
              </a:rPr>
              <a:t>\n", b, b, b, b, b, b);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c = 70000;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("c=%hi %</a:t>
            </a:r>
            <a:r>
              <a:rPr lang="en-US" altLang="zh-CN" sz="1200" b="1" dirty="0" err="1">
                <a:latin typeface="+mn-ea"/>
              </a:rPr>
              <a:t>hd</a:t>
            </a:r>
            <a:r>
              <a:rPr lang="en-US" altLang="zh-CN" sz="1200" b="1" dirty="0">
                <a:latin typeface="+mn-ea"/>
              </a:rPr>
              <a:t> %hu %ho %hx %</a:t>
            </a:r>
            <a:r>
              <a:rPr lang="en-US" altLang="zh-CN" sz="1200" b="1" dirty="0" err="1">
                <a:latin typeface="+mn-ea"/>
              </a:rPr>
              <a:t>hX</a:t>
            </a:r>
            <a:r>
              <a:rPr lang="en-US" altLang="zh-CN" sz="1200" b="1" dirty="0">
                <a:latin typeface="+mn-ea"/>
              </a:rPr>
              <a:t>\n", c, c, c, c, c, c);</a:t>
            </a:r>
            <a:endParaRPr lang="en-US" altLang="zh-CN" sz="1200" b="1" dirty="0">
              <a:latin typeface="+mn-ea"/>
            </a:endParaRPr>
          </a:p>
          <a:p>
            <a:r>
              <a:rPr lang="pt-BR" altLang="zh-CN" sz="1200" b="1" dirty="0">
                <a:latin typeface="+mn-ea"/>
              </a:rPr>
              <a:t>    printf("c=%i %d %u %o %x %X\n", c, c, c, c, c, c);</a:t>
            </a:r>
            <a:endParaRPr lang="pt-BR" altLang="zh-CN" sz="1200" b="1" dirty="0">
              <a:latin typeface="+mn-ea"/>
            </a:endParaRPr>
          </a:p>
          <a:p>
            <a:r>
              <a:rPr lang="it-IT" altLang="zh-CN" sz="1200" b="1" dirty="0">
                <a:latin typeface="+mn-ea"/>
              </a:rPr>
              <a:t>    printf("c=%li %ld %lu %lo %lx %lX\n", c, c, c, c, c, c);</a:t>
            </a:r>
            <a:endParaRPr lang="it-IT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653454" y="1323972"/>
            <a:ext cx="51829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参考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zh-CN" altLang="en-US" sz="1600" b="1" dirty="0">
                <a:latin typeface="+mn-ea"/>
              </a:rPr>
              <a:t>的格式控制符和附加格式控制符，给出解释：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附加控制符</a:t>
            </a:r>
            <a:r>
              <a:rPr kumimoji="1" lang="en-US" altLang="zh-CN" sz="1600" b="1" dirty="0">
                <a:latin typeface="+mn-ea"/>
              </a:rPr>
              <a:t>l</a:t>
            </a:r>
            <a:r>
              <a:rPr kumimoji="1" lang="zh-CN" altLang="en-US" sz="1600" b="1" dirty="0">
                <a:latin typeface="+mn-ea"/>
              </a:rPr>
              <a:t>的作用：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l</a:t>
            </a:r>
            <a:r>
              <a:rPr kumimoji="1" lang="zh-CN" altLang="en-US" sz="1600" b="1" dirty="0">
                <a:latin typeface="+mn-ea"/>
              </a:rPr>
              <a:t>：表示输出</a:t>
            </a:r>
            <a:r>
              <a:rPr kumimoji="1" lang="en-US" altLang="zh-CN" sz="1600" b="1" dirty="0">
                <a:latin typeface="+mn-ea"/>
              </a:rPr>
              <a:t>long</a:t>
            </a:r>
            <a:r>
              <a:rPr kumimoji="1" lang="zh-CN" altLang="en-US" sz="1600" b="1" dirty="0">
                <a:latin typeface="+mn-ea"/>
              </a:rPr>
              <a:t>型数据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附加控制符</a:t>
            </a:r>
            <a:r>
              <a:rPr kumimoji="1" lang="en-US" altLang="zh-CN" sz="1600" b="1" dirty="0">
                <a:latin typeface="+mn-ea"/>
              </a:rPr>
              <a:t>h</a:t>
            </a:r>
            <a:r>
              <a:rPr kumimoji="1" lang="zh-CN" altLang="en-US" sz="1600" b="1" dirty="0">
                <a:latin typeface="+mn-ea"/>
              </a:rPr>
              <a:t>的作用：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h</a:t>
            </a:r>
            <a:r>
              <a:rPr kumimoji="1" lang="zh-CN" altLang="en-US" sz="1600" b="1" dirty="0">
                <a:latin typeface="+mn-ea"/>
              </a:rPr>
              <a:t>：用于将整型的格式字符修正为</a:t>
            </a:r>
            <a:r>
              <a:rPr kumimoji="1" lang="zh-CN" altLang="en-US" sz="1600" b="1" dirty="0">
                <a:latin typeface="+mn-ea"/>
              </a:rPr>
              <a:t>短整型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★ 在</a:t>
            </a: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方式中，如果要输出的数据类型与格式控制符的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类型不一致，则以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格式控制符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数据类型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格式控制符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为准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提醒：先看清楚，是字母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l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还是数字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1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095375"/>
            <a:ext cx="4691380" cy="16433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 = 70000;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ld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*\n", a);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("a=%10ld*\n", a);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("a=%-10ld*\n\n", a);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("a=%d*\n", a);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("a=%10d*\n", a);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("a=%10d*\n", -a);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("a=%-10d*\n\n", a);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("a=%-10d*\n", -a);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*\n", a);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("a=%10hd*\n", a);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("a=%-10hd*\n\n", a);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注：最后加*的目的，是为了看清是否有隐含空格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714254" y="1323972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参考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zh-CN" altLang="en-US" sz="1600" b="1" dirty="0">
                <a:latin typeface="+mn-ea"/>
              </a:rPr>
              <a:t>的格式控制符和附加格式控制符，给出解释：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</a:t>
            </a:r>
            <a:r>
              <a:rPr kumimoji="1" lang="en-US" altLang="zh-CN" sz="1600" b="1" dirty="0" err="1">
                <a:latin typeface="+mn-ea"/>
              </a:rPr>
              <a:t>ld</a:t>
            </a: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en-US" altLang="zh-CN" sz="1600" b="1" dirty="0">
                <a:latin typeface="+mn-ea"/>
              </a:rPr>
              <a:t>long_</a:t>
            </a:r>
            <a:r>
              <a:rPr kumimoji="1" lang="zh-CN" altLang="en-US" sz="1600" b="1" dirty="0">
                <a:latin typeface="+mn-ea"/>
              </a:rPr>
              <a:t>类型的数据类型输出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%10ld 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en-US" altLang="zh-CN" sz="1600" b="1" dirty="0">
                <a:latin typeface="+mn-ea"/>
              </a:rPr>
              <a:t>__long__</a:t>
            </a:r>
            <a:r>
              <a:rPr kumimoji="1" lang="zh-CN" altLang="en-US" sz="1600" b="1" dirty="0">
                <a:latin typeface="+mn-ea"/>
              </a:rPr>
              <a:t>类型输出，总宽度</a:t>
            </a:r>
            <a:r>
              <a:rPr kumimoji="1" lang="en-US" altLang="zh-CN" sz="1600" b="1" dirty="0">
                <a:latin typeface="+mn-ea"/>
              </a:rPr>
              <a:t>_10_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右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%-10ld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en-US" altLang="zh-CN" sz="1600" b="1" dirty="0">
                <a:latin typeface="+mn-ea"/>
              </a:rPr>
              <a:t>__long_</a:t>
            </a:r>
            <a:r>
              <a:rPr kumimoji="1" lang="zh-CN" altLang="en-US" sz="1600" b="1" dirty="0">
                <a:latin typeface="+mn-ea"/>
              </a:rPr>
              <a:t>类型输出，总宽度</a:t>
            </a:r>
            <a:r>
              <a:rPr kumimoji="1" lang="en-US" altLang="zh-CN" sz="1600" b="1" dirty="0">
                <a:latin typeface="+mn-ea"/>
              </a:rPr>
              <a:t>_10__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左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%d   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en-US" altLang="zh-CN" sz="1600" b="1" dirty="0">
                <a:latin typeface="+mn-ea"/>
              </a:rPr>
              <a:t>int_</a:t>
            </a:r>
            <a:r>
              <a:rPr kumimoji="1" lang="zh-CN" altLang="en-US" sz="1600" b="1" dirty="0">
                <a:latin typeface="+mn-ea"/>
              </a:rPr>
              <a:t>类型的数据类型输出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%10d 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en-US" altLang="zh-CN" sz="1600" b="1" dirty="0">
                <a:latin typeface="+mn-ea"/>
              </a:rPr>
              <a:t>__int__</a:t>
            </a:r>
            <a:r>
              <a:rPr kumimoji="1" lang="zh-CN" altLang="en-US" sz="1600" b="1" dirty="0">
                <a:latin typeface="+mn-ea"/>
              </a:rPr>
              <a:t>类型输出，总宽度</a:t>
            </a:r>
            <a:r>
              <a:rPr kumimoji="1" lang="en-US" altLang="zh-CN" sz="1600" b="1" dirty="0">
                <a:latin typeface="+mn-ea"/>
              </a:rPr>
              <a:t>_10___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右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%-10d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en-US" altLang="zh-CN" sz="1600" b="1" dirty="0">
                <a:latin typeface="+mn-ea"/>
              </a:rPr>
              <a:t>__int__</a:t>
            </a:r>
            <a:r>
              <a:rPr kumimoji="1" lang="zh-CN" altLang="en-US" sz="1600" b="1" dirty="0">
                <a:latin typeface="+mn-ea"/>
              </a:rPr>
              <a:t>类型输出，总宽度</a:t>
            </a:r>
            <a:r>
              <a:rPr kumimoji="1" lang="en-US" altLang="zh-CN" sz="1600" b="1" dirty="0">
                <a:latin typeface="+mn-ea"/>
              </a:rPr>
              <a:t>_10___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左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</a:t>
            </a:r>
            <a:r>
              <a:rPr kumimoji="1" lang="en-US" altLang="zh-CN" sz="1600" b="1" dirty="0" err="1">
                <a:latin typeface="+mn-ea"/>
              </a:rPr>
              <a:t>hd</a:t>
            </a: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en-US" altLang="zh-CN" sz="1600" b="1" dirty="0">
                <a:latin typeface="+mn-ea"/>
              </a:rPr>
              <a:t>short__</a:t>
            </a:r>
            <a:r>
              <a:rPr kumimoji="1" lang="zh-CN" altLang="en-US" sz="1600" b="1" dirty="0">
                <a:latin typeface="+mn-ea"/>
              </a:rPr>
              <a:t>类型的数据类型输出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%10hd 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en-US" altLang="zh-CN" sz="1600" b="1" dirty="0">
                <a:latin typeface="+mn-ea"/>
              </a:rPr>
              <a:t>_short_</a:t>
            </a:r>
            <a:r>
              <a:rPr kumimoji="1" lang="zh-CN" altLang="en-US" sz="1600" b="1" dirty="0">
                <a:latin typeface="+mn-ea"/>
              </a:rPr>
              <a:t>类型输出，总宽度</a:t>
            </a:r>
            <a:r>
              <a:rPr kumimoji="1" lang="en-US" altLang="zh-CN" sz="1600" b="1" dirty="0">
                <a:latin typeface="+mn-ea"/>
              </a:rPr>
              <a:t>_10_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右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%-10hd</a:t>
            </a:r>
            <a:r>
              <a:rPr kumimoji="1" lang="zh-CN" altLang="en-US" sz="1600" b="1" dirty="0">
                <a:latin typeface="+mn-ea"/>
              </a:rPr>
              <a:t>：</a:t>
            </a:r>
            <a:r>
              <a:rPr kumimoji="1" lang="zh-CN" altLang="en-US" sz="1600" b="1" dirty="0">
                <a:latin typeface="+mn-ea"/>
                <a:sym typeface="+mn-ea"/>
              </a:rPr>
              <a:t>以</a:t>
            </a:r>
            <a:r>
              <a:rPr kumimoji="1" lang="en-US" altLang="zh-CN" sz="1600" b="1" dirty="0">
                <a:latin typeface="+mn-ea"/>
                <a:sym typeface="+mn-ea"/>
              </a:rPr>
              <a:t>_short_</a:t>
            </a:r>
            <a:r>
              <a:rPr kumimoji="1" lang="zh-CN" altLang="en-US" sz="1600" b="1" dirty="0">
                <a:latin typeface="+mn-ea"/>
                <a:sym typeface="+mn-ea"/>
              </a:rPr>
              <a:t>类型输出，总宽度</a:t>
            </a:r>
            <a:r>
              <a:rPr kumimoji="1" lang="en-US" altLang="zh-CN" sz="1600" b="1" dirty="0">
                <a:latin typeface="+mn-ea"/>
                <a:sym typeface="+mn-ea"/>
              </a:rPr>
              <a:t>_10_</a:t>
            </a:r>
            <a:r>
              <a:rPr kumimoji="1" lang="zh-CN" altLang="en-US" sz="1600" b="1" dirty="0">
                <a:latin typeface="+mn-ea"/>
                <a:sym typeface="+mn-ea"/>
              </a:rPr>
              <a:t>，</a:t>
            </a:r>
            <a:r>
              <a:rPr kumimoji="1" lang="en-US" altLang="zh-CN" sz="1600" b="1" dirty="0">
                <a:latin typeface="+mn-ea"/>
                <a:sym typeface="+mn-ea"/>
              </a:rPr>
              <a:t>_</a:t>
            </a:r>
            <a:r>
              <a:rPr kumimoji="1" lang="zh-CN" altLang="en-US" sz="1600" b="1" dirty="0">
                <a:latin typeface="+mn-ea"/>
                <a:sym typeface="+mn-ea"/>
              </a:rPr>
              <a:t>左</a:t>
            </a:r>
            <a:r>
              <a:rPr kumimoji="1" lang="en-US" altLang="zh-CN" sz="1600" b="1" dirty="0">
                <a:latin typeface="+mn-ea"/>
                <a:sym typeface="+mn-ea"/>
              </a:rPr>
              <a:t>_</a:t>
            </a:r>
            <a:r>
              <a:rPr kumimoji="1" lang="zh-CN" altLang="en-US" sz="1600" b="1" dirty="0">
                <a:latin typeface="+mn-ea"/>
                <a:sym typeface="+mn-ea"/>
              </a:rPr>
              <a:t>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如果输出负数且指定宽度，负号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占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占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不占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总宽度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2490" y="397510"/>
            <a:ext cx="1952625" cy="23958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F.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stdio.h</a:t>
            </a:r>
            <a:r>
              <a:rPr lang="en-US" altLang="zh-CN" sz="1200" b="1" dirty="0">
                <a:latin typeface="+mn-ea"/>
              </a:rPr>
              <a:t>&gt;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float f = 123.456f;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("f=%f\n",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("f=%G\n\n", f);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 = 0.123456789f;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("f=%f\n",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("f=%G\n\n", f);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 = 123456789.0f;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("f=%f\n",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("f=%G\n\n", f);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kumimoji="1" lang="zh-CN" altLang="en-US" sz="10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714254" y="1323972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参考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zh-CN" altLang="en-US" sz="1600" b="1" dirty="0">
                <a:latin typeface="+mn-ea"/>
              </a:rPr>
              <a:t>的格式控制符和附加格式控制符，给出解释：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%f</a:t>
            </a:r>
            <a:r>
              <a:rPr kumimoji="1" lang="zh-CN" altLang="en-US" sz="1600" b="1" dirty="0">
                <a:latin typeface="+mn-ea"/>
              </a:rPr>
              <a:t>：将浮点数以十进制的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小数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形式输出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%e</a:t>
            </a:r>
            <a:r>
              <a:rPr kumimoji="1" lang="zh-CN" altLang="en-US" sz="1600" b="1" dirty="0">
                <a:latin typeface="+mn-ea"/>
              </a:rPr>
              <a:t>：将浮点数以十进制的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科学计数法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形式输出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%E</a:t>
            </a:r>
            <a:r>
              <a:rPr kumimoji="1" lang="zh-CN" altLang="en-US" sz="1600" b="1" dirty="0">
                <a:latin typeface="+mn-ea"/>
              </a:rPr>
              <a:t>：将浮点数以十进制的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  <a:sym typeface="+mn-ea"/>
              </a:rPr>
              <a:t>科学计数法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形式输出，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%e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%E</a:t>
            </a:r>
            <a:r>
              <a:rPr kumimoji="1" lang="zh-CN" altLang="en-US" sz="1600" b="1" dirty="0">
                <a:latin typeface="+mn-ea"/>
              </a:rPr>
              <a:t>的区别是</a:t>
            </a:r>
            <a:r>
              <a:rPr kumimoji="1" lang="en-US" altLang="zh-CN" sz="1600" b="1" dirty="0">
                <a:latin typeface="+mn-ea"/>
              </a:rPr>
              <a:t>__e</a:t>
            </a:r>
            <a:r>
              <a:rPr kumimoji="1" lang="zh-CN" altLang="en-US" sz="1600" b="1" dirty="0">
                <a:latin typeface="+mn-ea"/>
              </a:rPr>
              <a:t>的大小写不同</a:t>
            </a:r>
            <a:r>
              <a:rPr kumimoji="1" lang="en-US" altLang="zh-CN" sz="1600" b="1" dirty="0">
                <a:latin typeface="+mn-ea"/>
              </a:rPr>
              <a:t>___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%g/%G</a:t>
            </a:r>
            <a:r>
              <a:rPr kumimoji="1" lang="zh-CN" altLang="en-US" sz="1600" b="1" dirty="0">
                <a:latin typeface="+mn-ea"/>
              </a:rPr>
              <a:t>：输出形式为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根据数值大小决定小数还是科学计数法</a:t>
            </a:r>
            <a:r>
              <a:rPr kumimoji="1" lang="en-US" altLang="zh-CN" sz="1600" b="1" dirty="0">
                <a:latin typeface="+mn-ea"/>
              </a:rPr>
              <a:t>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★ 仔细观察并叙述清楚，如果觉得左例还不足以理解，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可以自己再构造测试数据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%g/%G</a:t>
            </a:r>
            <a:r>
              <a:rPr kumimoji="1" lang="zh-CN" altLang="en-US" sz="1600" b="1" dirty="0">
                <a:latin typeface="+mn-ea"/>
              </a:rPr>
              <a:t>：输出形式的差别为</a:t>
            </a:r>
            <a:r>
              <a:rPr kumimoji="1" lang="en-US" altLang="zh-CN" sz="1600" b="1" dirty="0">
                <a:latin typeface="+mn-ea"/>
              </a:rPr>
              <a:t>__e</a:t>
            </a:r>
            <a:r>
              <a:rPr kumimoji="1" lang="zh-CN" altLang="en-US" sz="1600" b="1" dirty="0">
                <a:latin typeface="+mn-ea"/>
              </a:rPr>
              <a:t>的大小写</a:t>
            </a:r>
            <a:r>
              <a:rPr kumimoji="1" lang="en-US" altLang="zh-CN" sz="1600" b="1" dirty="0">
                <a:latin typeface="+mn-ea"/>
              </a:rPr>
              <a:t>_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8850" y="201295"/>
            <a:ext cx="2500630" cy="3009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G.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stdio.h</a:t>
            </a:r>
            <a:r>
              <a:rPr lang="en-US" altLang="zh-CN" sz="1200" b="1" dirty="0">
                <a:latin typeface="+mn-ea"/>
              </a:rPr>
              <a:t>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double f = 123.456;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("f=%f\n",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</a:t>
            </a:r>
            <a:r>
              <a:rPr lang="en-US" altLang="zh-CN" sz="1200" b="1" dirty="0" err="1">
                <a:latin typeface="+mn-ea"/>
              </a:rPr>
              <a:t>lf</a:t>
            </a:r>
            <a:r>
              <a:rPr lang="en-US" altLang="zh-CN" sz="1200" b="1" dirty="0">
                <a:latin typeface="+mn-ea"/>
              </a:rPr>
              <a:t>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("f=%le\n",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("f=%lg\n\n", f);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 = 0.123456789;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("f=%f\n",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</a:t>
            </a:r>
            <a:r>
              <a:rPr lang="en-US" altLang="zh-CN" sz="1200" b="1" dirty="0" err="1">
                <a:latin typeface="+mn-ea"/>
              </a:rPr>
              <a:t>lf</a:t>
            </a:r>
            <a:r>
              <a:rPr lang="en-US" altLang="zh-CN" sz="1200" b="1" dirty="0">
                <a:latin typeface="+mn-ea"/>
              </a:rPr>
              <a:t>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("f=%le\n",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("f=%lg\n\n", f);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 = 123456789.0;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("f=%f\n",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</a:t>
            </a:r>
            <a:r>
              <a:rPr lang="en-US" altLang="zh-CN" sz="1200" b="1" dirty="0" err="1">
                <a:latin typeface="+mn-ea"/>
              </a:rPr>
              <a:t>lf</a:t>
            </a:r>
            <a:r>
              <a:rPr lang="en-US" altLang="zh-CN" sz="1200" b="1" dirty="0">
                <a:latin typeface="+mn-ea"/>
              </a:rPr>
              <a:t>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("f=%le\n",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("f=%lg\n\n",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714254" y="1323972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参考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zh-CN" altLang="en-US" sz="1600" b="1" dirty="0">
                <a:latin typeface="+mn-ea"/>
              </a:rPr>
              <a:t>的格式控制符和附加格式控制符，给出解释：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对于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数据：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、格式符</a:t>
            </a:r>
            <a:r>
              <a:rPr kumimoji="1" lang="en-US" altLang="zh-CN" sz="1600" b="1" dirty="0">
                <a:latin typeface="+mn-ea"/>
              </a:rPr>
              <a:t>%f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%</a:t>
            </a:r>
            <a:r>
              <a:rPr kumimoji="1" lang="en-US" altLang="zh-CN" sz="1600" b="1" dirty="0" err="1">
                <a:latin typeface="+mn-ea"/>
              </a:rPr>
              <a:t>lf</a:t>
            </a:r>
            <a:r>
              <a:rPr kumimoji="1" lang="zh-CN" altLang="en-US" sz="1600" b="1" dirty="0">
                <a:latin typeface="+mn-ea"/>
              </a:rPr>
              <a:t>是否有区别？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无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、如何证明你给出的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的结论？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(</a:t>
            </a:r>
            <a:r>
              <a:rPr kumimoji="1" lang="zh-CN" altLang="en-US" sz="1600" b="1" dirty="0">
                <a:latin typeface="+mn-ea"/>
              </a:rPr>
              <a:t>提示：三组数据的哪组能证明？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都可</a:t>
            </a:r>
            <a:endParaRPr kumimoji="1" lang="zh-CN" altLang="en-US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1690" y="1852930"/>
            <a:ext cx="2100580" cy="36957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H.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#include &lt;</a:t>
            </a:r>
            <a:r>
              <a:rPr kumimoji="1" lang="en-US" altLang="zh-CN" sz="1200" b="1" dirty="0" err="1">
                <a:latin typeface="+mn-ea"/>
              </a:rPr>
              <a:t>stdio.h</a:t>
            </a:r>
            <a:r>
              <a:rPr kumimoji="1" lang="en-US" altLang="zh-CN" sz="1200" b="1" dirty="0">
                <a:latin typeface="+mn-ea"/>
              </a:rPr>
              <a:t>&gt;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int main()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{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double f = 123456.789;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("f=%f*\n", f);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("f=%.2f*\n", f);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("f=%10.2f*\n", f);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("f=%-10.2f*\n\n", f);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("f=%e*\n", f);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("f=%.2e*\n", f);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("f=%10.2e*\n", f);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("f=%-10.2e*\n\n", f);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("f=%g*\n", f);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("f=%.2g*\n", f);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("f=%.3g*\n", f);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("f=%10.2g*\n", -f);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("f=%10.3g*\n", f);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("f=%-10.2g*\n", -f);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("f=%-10.3g*\n", f);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return 0;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}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注：最后加*的目的，是为了看清是否有隐含空格</a:t>
            </a:r>
            <a:endParaRPr kumimoji="1" lang="zh-CN" altLang="en-US" sz="12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714254" y="1323972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运行结果：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参考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zh-CN" altLang="en-US" sz="1200" b="1" dirty="0">
                <a:latin typeface="+mn-ea"/>
              </a:rPr>
              <a:t>的格式控制符和附加格式控制符，给出解释：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%10.2f </a:t>
            </a:r>
            <a:r>
              <a:rPr kumimoji="1" lang="zh-CN" altLang="en-US" sz="1200" b="1" dirty="0">
                <a:latin typeface="+mn-ea"/>
              </a:rPr>
              <a:t>：以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en-US" altLang="zh-CN" sz="1200" b="1" dirty="0">
                <a:latin typeface="+mn-ea"/>
              </a:rPr>
              <a:t>double_</a:t>
            </a:r>
            <a:r>
              <a:rPr kumimoji="1" lang="zh-CN" altLang="en-US" sz="1200" b="1" dirty="0">
                <a:latin typeface="+mn-ea"/>
              </a:rPr>
              <a:t>类型输出，总宽度</a:t>
            </a:r>
            <a:r>
              <a:rPr kumimoji="1" lang="en-US" altLang="zh-CN" sz="1200" b="1" dirty="0">
                <a:latin typeface="+mn-ea"/>
              </a:rPr>
              <a:t>__10____</a:t>
            </a:r>
            <a:r>
              <a:rPr kumimoji="1" lang="zh-CN" altLang="en-US" sz="1200" b="1" dirty="0">
                <a:latin typeface="+mn-ea"/>
              </a:rPr>
              <a:t>，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</a:t>
            </a:r>
            <a:r>
              <a:rPr kumimoji="1" lang="zh-CN" altLang="en-US" sz="1200" b="1" dirty="0">
                <a:latin typeface="+mn-ea"/>
              </a:rPr>
              <a:t>小数点后</a:t>
            </a:r>
            <a:r>
              <a:rPr kumimoji="1" lang="en-US" altLang="zh-CN" sz="1200" b="1" dirty="0">
                <a:latin typeface="+mn-ea"/>
              </a:rPr>
              <a:t>___2___</a:t>
            </a:r>
            <a:r>
              <a:rPr kumimoji="1" lang="zh-CN" altLang="en-US" sz="1200" b="1" dirty="0">
                <a:latin typeface="+mn-ea"/>
              </a:rPr>
              <a:t>位，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右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对齐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%-10.2f</a:t>
            </a:r>
            <a:r>
              <a:rPr kumimoji="1" lang="zh-CN" altLang="en-US" sz="1200" b="1" dirty="0">
                <a:latin typeface="+mn-ea"/>
              </a:rPr>
              <a:t>：以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en-US" altLang="zh-CN" sz="1200" b="1" dirty="0">
                <a:latin typeface="+mn-ea"/>
                <a:sym typeface="+mn-ea"/>
              </a:rPr>
              <a:t>double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类型输出，总宽度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en-US" altLang="zh-CN" sz="1200" b="1" dirty="0">
                <a:latin typeface="+mn-ea"/>
                <a:sym typeface="+mn-ea"/>
              </a:rPr>
              <a:t>10</a:t>
            </a:r>
            <a:r>
              <a:rPr kumimoji="1" lang="en-US" altLang="zh-CN" sz="1200" b="1" dirty="0">
                <a:latin typeface="+mn-ea"/>
              </a:rPr>
              <a:t>____</a:t>
            </a:r>
            <a:r>
              <a:rPr kumimoji="1" lang="zh-CN" altLang="en-US" sz="1200" b="1" dirty="0">
                <a:latin typeface="+mn-ea"/>
              </a:rPr>
              <a:t>，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</a:t>
            </a:r>
            <a:r>
              <a:rPr kumimoji="1" lang="zh-CN" altLang="en-US" sz="1200" b="1" dirty="0">
                <a:latin typeface="+mn-ea"/>
              </a:rPr>
              <a:t>小数点后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en-US" altLang="zh-CN" sz="1200" b="1" dirty="0">
                <a:latin typeface="+mn-ea"/>
                <a:sym typeface="+mn-ea"/>
              </a:rPr>
              <a:t>2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位，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左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对齐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%10.2e </a:t>
            </a:r>
            <a:r>
              <a:rPr kumimoji="1" lang="zh-CN" altLang="en-US" sz="1200" b="1" dirty="0">
                <a:latin typeface="+mn-ea"/>
              </a:rPr>
              <a:t>：</a:t>
            </a:r>
            <a:r>
              <a:rPr kumimoji="1" lang="zh-CN" altLang="en-US" sz="1200" b="1" dirty="0">
                <a:latin typeface="+mn-ea"/>
                <a:sym typeface="+mn-ea"/>
              </a:rPr>
              <a:t>以</a:t>
            </a:r>
            <a:r>
              <a:rPr kumimoji="1" lang="en-US" altLang="zh-CN" sz="1200" b="1" dirty="0">
                <a:latin typeface="+mn-ea"/>
                <a:sym typeface="+mn-ea"/>
              </a:rPr>
              <a:t>__double_</a:t>
            </a:r>
            <a:r>
              <a:rPr kumimoji="1" lang="zh-CN" altLang="en-US" sz="1200" b="1" dirty="0">
                <a:latin typeface="+mn-ea"/>
                <a:sym typeface="+mn-ea"/>
              </a:rPr>
              <a:t>类型输出，总宽度</a:t>
            </a:r>
            <a:r>
              <a:rPr kumimoji="1" lang="en-US" altLang="zh-CN" sz="1200" b="1" dirty="0">
                <a:latin typeface="+mn-ea"/>
                <a:sym typeface="+mn-ea"/>
              </a:rPr>
              <a:t>__10____</a:t>
            </a:r>
            <a:r>
              <a:rPr kumimoji="1" lang="zh-CN" altLang="en-US" sz="1200" b="1" dirty="0">
                <a:latin typeface="+mn-ea"/>
                <a:sym typeface="+mn-ea"/>
              </a:rPr>
              <a:t>，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  <a:sym typeface="+mn-ea"/>
              </a:rPr>
              <a:t>         </a:t>
            </a:r>
            <a:r>
              <a:rPr kumimoji="1" lang="zh-CN" altLang="en-US" sz="1200" b="1" dirty="0">
                <a:latin typeface="+mn-ea"/>
                <a:sym typeface="+mn-ea"/>
              </a:rPr>
              <a:t>小数点后</a:t>
            </a:r>
            <a:r>
              <a:rPr kumimoji="1" lang="en-US" altLang="zh-CN" sz="1200" b="1" dirty="0">
                <a:latin typeface="+mn-ea"/>
                <a:sym typeface="+mn-ea"/>
              </a:rPr>
              <a:t>___2___</a:t>
            </a:r>
            <a:r>
              <a:rPr kumimoji="1" lang="zh-CN" altLang="en-US" sz="1200" b="1" dirty="0">
                <a:latin typeface="+mn-ea"/>
                <a:sym typeface="+mn-ea"/>
              </a:rPr>
              <a:t>位，</a:t>
            </a:r>
            <a:r>
              <a:rPr kumimoji="1" lang="en-US" altLang="zh-CN" sz="1200" b="1" dirty="0">
                <a:latin typeface="+mn-ea"/>
                <a:sym typeface="+mn-ea"/>
              </a:rPr>
              <a:t>__</a:t>
            </a:r>
            <a:r>
              <a:rPr kumimoji="1" lang="zh-CN" altLang="en-US" sz="1200" b="1" dirty="0">
                <a:latin typeface="+mn-ea"/>
                <a:sym typeface="+mn-ea"/>
              </a:rPr>
              <a:t>右</a:t>
            </a:r>
            <a:r>
              <a:rPr kumimoji="1" lang="en-US" altLang="zh-CN" sz="1200" b="1" dirty="0">
                <a:latin typeface="+mn-ea"/>
                <a:sym typeface="+mn-ea"/>
              </a:rPr>
              <a:t>___</a:t>
            </a:r>
            <a:r>
              <a:rPr kumimoji="1" lang="zh-CN" altLang="en-US" sz="1200" b="1" dirty="0">
                <a:latin typeface="+mn-ea"/>
                <a:sym typeface="+mn-ea"/>
              </a:rPr>
              <a:t>对齐</a:t>
            </a:r>
            <a:endParaRPr kumimoji="1" lang="zh-CN" altLang="en-US" sz="1200" b="1" dirty="0">
              <a:latin typeface="+mn-ea"/>
              <a:sym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%-10.2e</a:t>
            </a:r>
            <a:r>
              <a:rPr kumimoji="1" lang="zh-CN" altLang="en-US" sz="1200" b="1" dirty="0">
                <a:latin typeface="+mn-ea"/>
              </a:rPr>
              <a:t>：</a:t>
            </a:r>
            <a:r>
              <a:rPr kumimoji="1" lang="zh-CN" altLang="en-US" sz="1200" b="1" dirty="0">
                <a:latin typeface="+mn-ea"/>
                <a:sym typeface="+mn-ea"/>
              </a:rPr>
              <a:t>以</a:t>
            </a:r>
            <a:r>
              <a:rPr kumimoji="1" lang="en-US" altLang="zh-CN" sz="1200" b="1" dirty="0">
                <a:latin typeface="+mn-ea"/>
                <a:sym typeface="+mn-ea"/>
              </a:rPr>
              <a:t>__double_</a:t>
            </a:r>
            <a:r>
              <a:rPr kumimoji="1" lang="zh-CN" altLang="en-US" sz="1200" b="1" dirty="0">
                <a:latin typeface="+mn-ea"/>
                <a:sym typeface="+mn-ea"/>
              </a:rPr>
              <a:t>类型输出，总宽度</a:t>
            </a:r>
            <a:r>
              <a:rPr kumimoji="1" lang="en-US" altLang="zh-CN" sz="1200" b="1" dirty="0">
                <a:latin typeface="+mn-ea"/>
                <a:sym typeface="+mn-ea"/>
              </a:rPr>
              <a:t>__10____</a:t>
            </a:r>
            <a:r>
              <a:rPr kumimoji="1" lang="zh-CN" altLang="en-US" sz="1200" b="1" dirty="0">
                <a:latin typeface="+mn-ea"/>
                <a:sym typeface="+mn-ea"/>
              </a:rPr>
              <a:t>，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  <a:sym typeface="+mn-ea"/>
              </a:rPr>
              <a:t>         </a:t>
            </a:r>
            <a:r>
              <a:rPr kumimoji="1" lang="zh-CN" altLang="en-US" sz="1200" b="1" dirty="0">
                <a:latin typeface="+mn-ea"/>
                <a:sym typeface="+mn-ea"/>
              </a:rPr>
              <a:t>小数点后</a:t>
            </a:r>
            <a:r>
              <a:rPr kumimoji="1" lang="en-US" altLang="zh-CN" sz="1200" b="1" dirty="0">
                <a:latin typeface="+mn-ea"/>
                <a:sym typeface="+mn-ea"/>
              </a:rPr>
              <a:t>___2___</a:t>
            </a:r>
            <a:r>
              <a:rPr kumimoji="1" lang="zh-CN" altLang="en-US" sz="1200" b="1" dirty="0">
                <a:latin typeface="+mn-ea"/>
                <a:sym typeface="+mn-ea"/>
              </a:rPr>
              <a:t>位，</a:t>
            </a:r>
            <a:r>
              <a:rPr kumimoji="1" lang="en-US" altLang="zh-CN" sz="1200" b="1" dirty="0">
                <a:latin typeface="+mn-ea"/>
                <a:sym typeface="+mn-ea"/>
              </a:rPr>
              <a:t>__</a:t>
            </a:r>
            <a:r>
              <a:rPr kumimoji="1" lang="zh-CN" altLang="en-US" sz="1200" b="1" dirty="0">
                <a:latin typeface="+mn-ea"/>
                <a:sym typeface="+mn-ea"/>
              </a:rPr>
              <a:t>左</a:t>
            </a:r>
            <a:r>
              <a:rPr kumimoji="1" lang="en-US" altLang="zh-CN" sz="1200" b="1" dirty="0">
                <a:latin typeface="+mn-ea"/>
                <a:sym typeface="+mn-ea"/>
              </a:rPr>
              <a:t>___</a:t>
            </a:r>
            <a:r>
              <a:rPr kumimoji="1" lang="zh-CN" altLang="en-US" sz="1200" b="1" dirty="0">
                <a:latin typeface="+mn-ea"/>
                <a:sym typeface="+mn-ea"/>
              </a:rPr>
              <a:t>对齐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latin typeface="+mn-ea"/>
              </a:rPr>
              <a:t>对</a:t>
            </a:r>
            <a:r>
              <a:rPr lang="en-US" altLang="zh-CN" sz="1200" b="1" dirty="0">
                <a:latin typeface="+mn-ea"/>
              </a:rPr>
              <a:t>%f</a:t>
            </a:r>
            <a:r>
              <a:rPr lang="zh-CN" altLang="en-US" sz="1200" b="1" dirty="0">
                <a:latin typeface="+mn-ea"/>
              </a:rPr>
              <a:t>和</a:t>
            </a:r>
            <a:r>
              <a:rPr lang="en-US" altLang="zh-CN" sz="1200" b="1" dirty="0">
                <a:latin typeface="+mn-ea"/>
              </a:rPr>
              <a:t>%e</a:t>
            </a:r>
            <a:r>
              <a:rPr lang="zh-CN" altLang="en-US" sz="1200" b="1" dirty="0">
                <a:latin typeface="+mn-ea"/>
              </a:rPr>
              <a:t>而言，指定的总宽度</a:t>
            </a:r>
            <a:r>
              <a:rPr lang="en-US" altLang="zh-CN" sz="1200" b="1" dirty="0">
                <a:latin typeface="+mn-ea"/>
              </a:rPr>
              <a:t>__</a:t>
            </a:r>
            <a:r>
              <a:rPr lang="zh-CN" altLang="en-US" sz="1200" b="1" dirty="0">
                <a:latin typeface="+mn-ea"/>
              </a:rPr>
              <a:t>包含</a:t>
            </a:r>
            <a:r>
              <a:rPr lang="en-US" altLang="zh-CN" sz="1200" b="1" dirty="0">
                <a:latin typeface="+mn-ea"/>
              </a:rPr>
              <a:t>_(</a:t>
            </a:r>
            <a:r>
              <a:rPr lang="zh-CN" altLang="en-US" sz="1200" b="1" dirty="0">
                <a:latin typeface="+mn-ea"/>
              </a:rPr>
              <a:t>包含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不包含</a:t>
            </a:r>
            <a:r>
              <a:rPr lang="en-US" altLang="zh-CN" sz="1200" b="1" dirty="0">
                <a:latin typeface="+mn-ea"/>
              </a:rPr>
              <a:t>)</a:t>
            </a:r>
            <a:r>
              <a:rPr lang="zh-CN" altLang="en-US" sz="1200" b="1" dirty="0">
                <a:latin typeface="+mn-ea"/>
              </a:rPr>
              <a:t>小数点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对</a:t>
            </a:r>
            <a:r>
              <a:rPr kumimoji="1" lang="en-US" altLang="zh-CN" sz="1200" b="1" dirty="0">
                <a:latin typeface="+mn-ea"/>
              </a:rPr>
              <a:t>%g</a:t>
            </a:r>
            <a:r>
              <a:rPr kumimoji="1" lang="zh-CN" altLang="en-US" sz="1200" b="1" dirty="0">
                <a:latin typeface="+mn-ea"/>
              </a:rPr>
              <a:t>而言，</a:t>
            </a:r>
            <a:r>
              <a:rPr kumimoji="1" lang="en-US" altLang="zh-CN" sz="1200" b="1" dirty="0">
                <a:latin typeface="+mn-ea"/>
              </a:rPr>
              <a:t>%</a:t>
            </a:r>
            <a:r>
              <a:rPr kumimoji="1" lang="en-US" altLang="zh-CN" sz="1200" b="1" dirty="0" err="1">
                <a:latin typeface="+mn-ea"/>
              </a:rPr>
              <a:t>m.n</a:t>
            </a:r>
            <a:r>
              <a:rPr kumimoji="1" lang="zh-CN" altLang="en-US" sz="1200" b="1" dirty="0">
                <a:latin typeface="+mn-ea"/>
              </a:rPr>
              <a:t>中</a:t>
            </a:r>
            <a:r>
              <a:rPr kumimoji="1" lang="en-US" altLang="zh-CN" sz="1200" b="1" dirty="0">
                <a:latin typeface="+mn-ea"/>
              </a:rPr>
              <a:t>n</a:t>
            </a:r>
            <a:r>
              <a:rPr kumimoji="1" lang="zh-CN" altLang="en-US" sz="1200" b="1" dirty="0">
                <a:latin typeface="+mn-ea"/>
              </a:rPr>
              <a:t>代表的位数是指</a:t>
            </a:r>
            <a:r>
              <a:rPr kumimoji="1" lang="en-US" altLang="zh-CN" sz="1200" b="1" dirty="0">
                <a:latin typeface="+mn-ea"/>
              </a:rPr>
              <a:t>_____</a:t>
            </a:r>
            <a:r>
              <a:rPr kumimoji="1" lang="zh-CN" altLang="en-US" sz="1200" b="1" dirty="0">
                <a:latin typeface="+mn-ea"/>
              </a:rPr>
              <a:t>有效数字位数</a:t>
            </a:r>
            <a:r>
              <a:rPr kumimoji="1" lang="en-US" altLang="zh-CN" sz="1200" b="1" dirty="0">
                <a:latin typeface="+mn-ea"/>
              </a:rPr>
              <a:t>____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如果输出负数且指定宽度，负号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占</a:t>
            </a:r>
            <a:r>
              <a:rPr kumimoji="1" lang="en-US" altLang="zh-CN" sz="1200" b="1" dirty="0">
                <a:latin typeface="+mn-ea"/>
              </a:rPr>
              <a:t>__(</a:t>
            </a:r>
            <a:r>
              <a:rPr kumimoji="1" lang="zh-CN" altLang="en-US" sz="1200" b="1" dirty="0">
                <a:latin typeface="+mn-ea"/>
              </a:rPr>
              <a:t>占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不占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总宽度</a:t>
            </a:r>
            <a:endParaRPr kumimoji="1" lang="zh-CN" altLang="en-US" sz="12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2195" y="1991360"/>
            <a:ext cx="1967230" cy="30626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I.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stdio.h</a:t>
            </a:r>
            <a:r>
              <a:rPr lang="en-US" altLang="zh-CN" sz="1600" b="1" dirty="0">
                <a:latin typeface="+mn-ea"/>
              </a:rPr>
              <a:t>&gt;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float f = 123456789.123;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("f=%f*\n", f);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("f=%10.2f*\n", f);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("f=%-10.2f*\n", f);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("f=%.2f*\n\n", f);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double d = 12345678901234567.6789;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("d=%f*\n", d);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("d=%10.2f*\n", d);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("d=%-10.2f*\n", d);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("d=%.2f*\n\n", d);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注：最后加*的目的，是为了看清是否有隐含空格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714254" y="1323972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给出下面两个概念的结论：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、在数据的有效位数超过精度时，则输出：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四舍五入</a:t>
            </a:r>
            <a:r>
              <a:rPr kumimoji="1" lang="zh-CN" altLang="en-US" sz="1600" b="1" dirty="0">
                <a:latin typeface="+mn-ea"/>
              </a:rPr>
              <a:t>保留到精度位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、如果指定的总宽度小于有效位数的宽度，则输出：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优先保证数据的</a:t>
            </a:r>
            <a:r>
              <a:rPr kumimoji="1" lang="zh-CN" altLang="en-US" sz="1600" b="1" dirty="0">
                <a:latin typeface="+mn-ea"/>
              </a:rPr>
              <a:t>有效位数显示</a:t>
            </a:r>
            <a:endParaRPr kumimoji="1" lang="zh-CN" altLang="en-US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3890" y="1360170"/>
            <a:ext cx="2562225" cy="16668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J.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#include &lt;</a:t>
            </a:r>
            <a:r>
              <a:rPr kumimoji="1" lang="en-US" altLang="zh-CN" sz="1600" b="1" dirty="0" err="1">
                <a:latin typeface="+mn-ea"/>
              </a:rPr>
              <a:t>stdio.h</a:t>
            </a:r>
            <a:r>
              <a:rPr kumimoji="1" lang="en-US" altLang="zh-CN" sz="1600" b="1" dirty="0">
                <a:latin typeface="+mn-ea"/>
              </a:rPr>
              <a:t>&gt;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#define str "</a:t>
            </a:r>
            <a:r>
              <a:rPr kumimoji="1" lang="en-US" altLang="zh-CN" sz="1600" b="1" dirty="0" err="1">
                <a:latin typeface="+mn-ea"/>
              </a:rPr>
              <a:t>abcdefghijklmnopqrstuvwxyz</a:t>
            </a:r>
            <a:r>
              <a:rPr kumimoji="1" lang="en-US" altLang="zh-CN" sz="1600" b="1" dirty="0">
                <a:latin typeface="+mn-ea"/>
              </a:rPr>
              <a:t>"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int main()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{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("str=%s*\n", str);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("str=%30s*\n", str);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("str=%-30s*\n", str);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("str=%5s*\n", str);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("str=%-5s*\n", str);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("str=%.5s*\n", str);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("str=%-.5s*\n", str);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("str=%10.5s*\n", str);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("str=%-10.5s*\n", str);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return 0;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}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注：最后加*的目的，是为了看清是否有隐含空格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714254" y="1323972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参考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zh-CN" altLang="en-US" sz="1600" b="1" dirty="0">
                <a:latin typeface="+mn-ea"/>
              </a:rPr>
              <a:t>的格式控制符和附加格式控制符，给出解释：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%s   </a:t>
            </a:r>
            <a:r>
              <a:rPr kumimoji="1" lang="zh-CN" altLang="en-US" sz="1600" b="1" dirty="0">
                <a:latin typeface="+mn-ea"/>
              </a:rPr>
              <a:t>：输出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en-US" altLang="zh-CN" sz="1600" b="1" dirty="0">
                <a:latin typeface="+mn-ea"/>
              </a:rPr>
              <a:t>char*_</a:t>
            </a:r>
            <a:r>
              <a:rPr kumimoji="1" lang="zh-CN" altLang="en-US" sz="1600" b="1" dirty="0">
                <a:latin typeface="+mn-ea"/>
              </a:rPr>
              <a:t>类型的数据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%30s </a:t>
            </a:r>
            <a:r>
              <a:rPr kumimoji="1" lang="zh-CN" altLang="en-US" sz="1600" b="1" dirty="0">
                <a:latin typeface="+mn-ea"/>
              </a:rPr>
              <a:t>：输出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en-US" altLang="zh-CN" sz="1600" b="1" dirty="0">
                <a:latin typeface="+mn-ea"/>
                <a:sym typeface="+mn-ea"/>
              </a:rPr>
              <a:t>char*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类型的数据，总宽度</a:t>
            </a:r>
            <a:r>
              <a:rPr kumimoji="1" lang="en-US" altLang="zh-CN" sz="1600" b="1" dirty="0">
                <a:latin typeface="+mn-ea"/>
              </a:rPr>
              <a:t>_30___</a:t>
            </a:r>
            <a:r>
              <a:rPr kumimoji="1" lang="zh-CN" altLang="en-US" sz="1600" b="1" dirty="0">
                <a:latin typeface="+mn-ea"/>
              </a:rPr>
              <a:t>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____</a:t>
            </a:r>
            <a:r>
              <a:rPr kumimoji="1" lang="zh-CN" altLang="en-US" sz="1600" b="1" dirty="0">
                <a:latin typeface="+mn-ea"/>
              </a:rPr>
              <a:t>右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%-30s</a:t>
            </a:r>
            <a:r>
              <a:rPr kumimoji="1" lang="zh-CN" altLang="en-US" sz="1600" b="1" dirty="0">
                <a:latin typeface="+mn-ea"/>
              </a:rPr>
              <a:t>：</a:t>
            </a:r>
            <a:r>
              <a:rPr kumimoji="1" lang="zh-CN" altLang="en-US" sz="1600" b="1" dirty="0">
                <a:latin typeface="+mn-ea"/>
                <a:sym typeface="+mn-ea"/>
              </a:rPr>
              <a:t>输出</a:t>
            </a:r>
            <a:r>
              <a:rPr kumimoji="1" lang="en-US" altLang="zh-CN" sz="1600" b="1" dirty="0">
                <a:latin typeface="+mn-ea"/>
                <a:sym typeface="+mn-ea"/>
              </a:rPr>
              <a:t>__</a:t>
            </a:r>
            <a:r>
              <a:rPr kumimoji="1" lang="en-US" altLang="zh-CN" sz="1600" b="1" dirty="0">
                <a:latin typeface="+mn-ea"/>
                <a:sym typeface="+mn-ea"/>
              </a:rPr>
              <a:t>char*</a:t>
            </a:r>
            <a:r>
              <a:rPr kumimoji="1" lang="en-US" altLang="zh-CN" sz="1600" b="1" dirty="0">
                <a:latin typeface="+mn-ea"/>
                <a:sym typeface="+mn-ea"/>
              </a:rPr>
              <a:t>_</a:t>
            </a:r>
            <a:r>
              <a:rPr kumimoji="1" lang="zh-CN" altLang="en-US" sz="1600" b="1" dirty="0">
                <a:latin typeface="+mn-ea"/>
                <a:sym typeface="+mn-ea"/>
              </a:rPr>
              <a:t>类型的数据，总宽度</a:t>
            </a:r>
            <a:r>
              <a:rPr kumimoji="1" lang="en-US" altLang="zh-CN" sz="1600" b="1" dirty="0">
                <a:latin typeface="+mn-ea"/>
                <a:sym typeface="+mn-ea"/>
              </a:rPr>
              <a:t>_30___</a:t>
            </a:r>
            <a:r>
              <a:rPr kumimoji="1" lang="zh-CN" altLang="en-US" sz="1600" b="1" dirty="0">
                <a:latin typeface="+mn-ea"/>
                <a:sym typeface="+mn-ea"/>
              </a:rPr>
              <a:t>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  <a:sym typeface="+mn-ea"/>
              </a:rPr>
              <a:t>       ____</a:t>
            </a:r>
            <a:r>
              <a:rPr kumimoji="1" lang="zh-CN" altLang="en-US" sz="1600" b="1" dirty="0">
                <a:latin typeface="+mn-ea"/>
                <a:sym typeface="+mn-ea"/>
              </a:rPr>
              <a:t>左</a:t>
            </a:r>
            <a:r>
              <a:rPr kumimoji="1" lang="en-US" altLang="zh-CN" sz="1600" b="1" dirty="0">
                <a:latin typeface="+mn-ea"/>
                <a:sym typeface="+mn-ea"/>
              </a:rPr>
              <a:t>__</a:t>
            </a:r>
            <a:r>
              <a:rPr kumimoji="1" lang="zh-CN" altLang="en-US" sz="1600" b="1" dirty="0">
                <a:latin typeface="+mn-ea"/>
                <a:sym typeface="+mn-ea"/>
              </a:rPr>
              <a:t>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如果指定的总宽度小于字符串的长度，则：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按字符串实际长度输出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对</a:t>
            </a:r>
            <a:r>
              <a:rPr kumimoji="1" lang="en-US" altLang="zh-CN" sz="1600" b="1" dirty="0">
                <a:latin typeface="+mn-ea"/>
              </a:rPr>
              <a:t>%s</a:t>
            </a:r>
            <a:r>
              <a:rPr kumimoji="1" lang="zh-CN" altLang="en-US" sz="1600" b="1" dirty="0">
                <a:latin typeface="+mn-ea"/>
              </a:rPr>
              <a:t>而言，</a:t>
            </a:r>
            <a:r>
              <a:rPr kumimoji="1" lang="en-US" altLang="zh-CN" sz="1600" b="1" dirty="0">
                <a:latin typeface="+mn-ea"/>
              </a:rPr>
              <a:t>%</a:t>
            </a:r>
            <a:r>
              <a:rPr kumimoji="1" lang="en-US" altLang="zh-CN" sz="1600" b="1" dirty="0" err="1">
                <a:latin typeface="+mn-ea"/>
              </a:rPr>
              <a:t>m.n</a:t>
            </a:r>
            <a:r>
              <a:rPr kumimoji="1" lang="zh-CN" altLang="en-US" sz="1600" b="1" dirty="0">
                <a:latin typeface="+mn-ea"/>
              </a:rPr>
              <a:t>中</a:t>
            </a:r>
            <a:r>
              <a:rPr kumimoji="1" lang="en-US" altLang="zh-CN" sz="1600" b="1" dirty="0">
                <a:latin typeface="+mn-ea"/>
              </a:rPr>
              <a:t>n</a:t>
            </a:r>
            <a:r>
              <a:rPr kumimoji="1" lang="zh-CN" altLang="en-US" sz="1600" b="1" dirty="0">
                <a:latin typeface="+mn-ea"/>
              </a:rPr>
              <a:t>代表的位数是指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输出字符串的最大字符数</a:t>
            </a:r>
            <a:r>
              <a:rPr kumimoji="1" lang="en-US" altLang="zh-CN" sz="1600" b="1" dirty="0">
                <a:latin typeface="+mn-ea"/>
              </a:rPr>
              <a:t>____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205" y="965200"/>
            <a:ext cx="3371850" cy="15811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K.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#include &lt;stdio.h&gt;</a:t>
            </a: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#define str "Student"</a:t>
            </a: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int main()</a:t>
            </a: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{</a:t>
            </a: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int a = 65;</a:t>
            </a: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printf("a=%o\n", a);</a:t>
            </a: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printf("a=%x\n", a);</a:t>
            </a: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printf("ch=%c\n", a);</a:t>
            </a: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printf("s=%s\n\n", str);</a:t>
            </a: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printf("a=0%o\n", a);</a:t>
            </a: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printf("a=0x%x\n", a);</a:t>
            </a: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printf("ch=\'%c\'\n", a);</a:t>
            </a: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printf("s=\"%s\"\n\n", str);</a:t>
            </a: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double d = 0.783;</a:t>
            </a: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</a:t>
            </a:r>
            <a:r>
              <a:rPr kumimoji="1" lang="zh-CN" altLang="pt-BR" sz="1600" b="1" dirty="0">
                <a:latin typeface="+mn-ea"/>
              </a:rPr>
              <a:t>百分比</a:t>
            </a:r>
            <a:r>
              <a:rPr kumimoji="1" lang="pt-BR" altLang="zh-CN" sz="1600" b="1" dirty="0">
                <a:latin typeface="+mn-ea"/>
              </a:rPr>
              <a:t>=%.2f%%\n", d * 100);</a:t>
            </a: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return 0;</a:t>
            </a: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}</a:t>
            </a:r>
            <a:endParaRPr kumimoji="1" lang="pt-BR" altLang="zh-CN" sz="16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714254" y="1323972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、对比第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组和第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组输出，得出的结论是：</a:t>
            </a:r>
            <a:endParaRPr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latin typeface="+mn-ea"/>
              </a:rPr>
              <a:t>    格式控制符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附加格式控制符，只负责给出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zh-CN" altLang="en-US" sz="1600" b="1" dirty="0">
                <a:latin typeface="+mn-ea"/>
              </a:rPr>
              <a:t>数据本身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zh-CN" altLang="en-US" sz="1600" b="1" dirty="0">
                <a:latin typeface="+mn-ea"/>
              </a:rPr>
              <a:t>的输出，若需要前导字符、单双引号等，需要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zh-CN" altLang="en-US" sz="1600" b="1" dirty="0">
                <a:latin typeface="+mn-ea"/>
              </a:rPr>
              <a:t>手动添加</a:t>
            </a:r>
            <a:r>
              <a:rPr lang="en-US" altLang="zh-CN" sz="1600" b="1" dirty="0">
                <a:latin typeface="+mn-ea"/>
              </a:rPr>
              <a:t>_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、输出字符</a:t>
            </a:r>
            <a:r>
              <a:rPr kumimoji="1" lang="en-US" altLang="zh-CN" sz="1600" b="1" dirty="0">
                <a:latin typeface="+mn-ea"/>
              </a:rPr>
              <a:t>'%'</a:t>
            </a:r>
            <a:r>
              <a:rPr kumimoji="1" lang="zh-CN" altLang="en-US" sz="1600" b="1" dirty="0">
                <a:latin typeface="+mn-ea"/>
              </a:rPr>
              <a:t>的方法是：</a:t>
            </a:r>
            <a:r>
              <a:rPr kumimoji="1" lang="en-US" altLang="zh-CN" sz="1600" b="1" dirty="0">
                <a:latin typeface="+mn-ea"/>
              </a:rPr>
              <a:t>___%%_____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1560" y="1519555"/>
            <a:ext cx="1643380" cy="203390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zh-CN" altLang="en-US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  形式：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格式控制表列，地址表列</a:t>
            </a:r>
            <a:r>
              <a:rPr lang="en-US" altLang="zh-CN" sz="1600" b="1" dirty="0">
                <a:latin typeface="+mn-ea"/>
              </a:rPr>
              <a:t>);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  </a:t>
            </a:r>
            <a:r>
              <a:rPr lang="zh-CN" altLang="en-US" sz="1600" b="1">
                <a:latin typeface="+mn-ea"/>
              </a:rPr>
              <a:t>格式控制表列的</a:t>
            </a:r>
            <a:r>
              <a:rPr lang="zh-CN" altLang="en-US" sz="1600" b="1" dirty="0">
                <a:latin typeface="+mn-ea"/>
              </a:rPr>
              <a:t>内容：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格式说明：以</a:t>
            </a:r>
            <a:r>
              <a:rPr lang="en-US" altLang="zh-CN" sz="1600" b="1" dirty="0">
                <a:latin typeface="+mn-ea"/>
              </a:rPr>
              <a:t>%</a:t>
            </a:r>
            <a:r>
              <a:rPr lang="zh-CN" altLang="en-US" sz="1600" b="1" dirty="0">
                <a:latin typeface="+mn-ea"/>
              </a:rPr>
              <a:t>开始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格式字符，表示按格式输入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普通字符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含转义符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：原样输入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  地址表列：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</a:t>
            </a:r>
            <a:r>
              <a:rPr lang="en-US" altLang="zh-CN" sz="1600" b="1" dirty="0">
                <a:latin typeface="+mn-ea"/>
              </a:rPr>
              <a:t>&amp;</a:t>
            </a:r>
            <a:r>
              <a:rPr lang="zh-CN" altLang="en-US" sz="1600" b="1" dirty="0">
                <a:latin typeface="+mn-ea"/>
              </a:rPr>
              <a:t>表示取地址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</a:t>
            </a:r>
            <a:r>
              <a:rPr lang="en-US" altLang="zh-CN" sz="1600" b="1" dirty="0">
                <a:latin typeface="+mn-ea"/>
              </a:rPr>
              <a:t>&amp;</a:t>
            </a:r>
            <a:r>
              <a:rPr lang="zh-CN" altLang="en-US" sz="1600" b="1" dirty="0">
                <a:latin typeface="+mn-ea"/>
              </a:rPr>
              <a:t>变量名：取该变量的内存地址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★ </a:t>
            </a:r>
            <a:r>
              <a:rPr lang="en-US" altLang="zh-CN" sz="1600" b="1" dirty="0">
                <a:latin typeface="+mn-ea"/>
              </a:rPr>
              <a:t>&amp;</a:t>
            </a:r>
            <a:r>
              <a:rPr lang="zh-CN" altLang="en-US" sz="1600" b="1" dirty="0">
                <a:latin typeface="+mn-ea"/>
              </a:rPr>
              <a:t>不能跟表达式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常量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理由与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=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等相同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  常用的格式符种类：</a:t>
            </a:r>
            <a:endParaRPr lang="zh-CN" altLang="en-US" sz="1600" b="1" dirty="0">
              <a:latin typeface="+mn-ea"/>
            </a:endParaRPr>
          </a:p>
        </p:txBody>
      </p:sp>
      <p:graphicFrame>
        <p:nvGraphicFramePr>
          <p:cNvPr id="6" name="Group 40"/>
          <p:cNvGraphicFramePr>
            <a:graphicFrameLocks noGrp="1"/>
          </p:cNvGraphicFramePr>
          <p:nvPr/>
        </p:nvGraphicFramePr>
        <p:xfrm>
          <a:off x="821879" y="3938435"/>
          <a:ext cx="4991472" cy="2682240"/>
        </p:xfrm>
        <a:graphic>
          <a:graphicData uri="http://schemas.openxmlformats.org/drawingml/2006/table">
            <a:tbl>
              <a:tblPr/>
              <a:tblGrid>
                <a:gridCol w="936104"/>
                <a:gridCol w="4055368"/>
              </a:tblGrid>
              <a:tr h="1215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d, 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输入带符号的十进制形式整数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1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输入八进制无符号形式整数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不带前导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0)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15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x, X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输入十六进制无符号形式整数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不带前导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0x)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1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输入十进制无符号形式整数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15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输入单个字符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1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输入字符串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15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输入小数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指数形式的浮点数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1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e,E,g,G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同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Group 3"/>
          <p:cNvGraphicFramePr>
            <a:graphicFrameLocks noGrp="1"/>
          </p:cNvGraphicFramePr>
          <p:nvPr/>
        </p:nvGraphicFramePr>
        <p:xfrm>
          <a:off x="6096000" y="4988893"/>
          <a:ext cx="3960440" cy="1633736"/>
        </p:xfrm>
        <a:graphic>
          <a:graphicData uri="http://schemas.openxmlformats.org/drawingml/2006/table">
            <a:tbl>
              <a:tblPr/>
              <a:tblGrid>
                <a:gridCol w="936104"/>
                <a:gridCol w="3024336"/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字母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输入长整型数，用于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d,o,x,u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前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double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型数，用于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f,e,g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前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h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输入短整型数，用于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d,o,x,u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前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正整数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指定输入数据所占的宽度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*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本输入项不赋给相应的变量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 bwMode="auto">
          <a:xfrm>
            <a:off x="821879" y="3574531"/>
            <a:ext cx="4712677" cy="3639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所用的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格式字符</a:t>
            </a:r>
            <a:r>
              <a:rPr lang="zh-CN" altLang="en-US" sz="1600" b="1" dirty="0">
                <a:latin typeface="+mn-ea"/>
              </a:rPr>
              <a:t>的种类：</a:t>
            </a:r>
            <a:endParaRPr kumimoji="1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096000" y="4618457"/>
            <a:ext cx="4248472" cy="3639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所用的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附加格式字符</a:t>
            </a:r>
            <a:r>
              <a:rPr lang="zh-CN" altLang="en-US" sz="1600" b="1" dirty="0">
                <a:latin typeface="+mn-ea"/>
              </a:rPr>
              <a:t>的种类：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096000" y="1195488"/>
            <a:ext cx="5915914" cy="331936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特别说明：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系列认为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函数是不安全的输入，因此缺省禁止使用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编译报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error)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，如果想继续使用，必须在源程序一开始加定义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>
                <a:solidFill>
                  <a:srgbClr val="00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highlight>
                <a:srgbClr val="FFFF00"/>
              </a:highligh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为了和其它编译器兼容，以及方便后续课程的学习，我们仍然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会继续使用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另：加 </a:t>
            </a:r>
            <a:r>
              <a:rPr kumimoji="1" lang="en-US" altLang="zh-CN" sz="1600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_CRT_SECURE_NO_WARNINGS </a:t>
            </a:r>
            <a:r>
              <a:rPr kumimoji="1" lang="zh-CN" altLang="en-US" sz="1600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的程序在其它编译器中可</a:t>
            </a:r>
            <a:endParaRPr kumimoji="1" lang="en-US" altLang="zh-CN" sz="1600" b="1" dirty="0">
              <a:solidFill>
                <a:srgbClr val="FF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zh-CN" altLang="en-US" sz="1600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正常使用</a:t>
            </a:r>
            <a:endParaRPr kumimoji="1" lang="en-US" altLang="zh-CN" sz="1600" b="1" dirty="0">
              <a:solidFill>
                <a:srgbClr val="FF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注：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VS</a:t>
            </a:r>
            <a:r>
              <a:rPr kumimoji="1" lang="zh-CN" altLang="en-US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系列中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语言用于安全输入的函数是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scanf_s</a:t>
            </a:r>
            <a:r>
              <a:rPr kumimoji="1" lang="zh-CN" altLang="en-US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，使用方法</a:t>
            </a:r>
            <a:endParaRPr kumimoji="1" lang="en-US" altLang="zh-CN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zh-CN" altLang="en-US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zh-CN" altLang="en-US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，考虑到兼容性，不建议大家使用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scanf_s</a:t>
            </a:r>
            <a:r>
              <a:rPr kumimoji="1" lang="zh-CN" altLang="en-US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，有兴</a:t>
            </a:r>
            <a:endParaRPr kumimoji="1" lang="en-US" altLang="zh-CN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zh-CN" altLang="en-US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趣可以自行查阅有关资料</a:t>
            </a:r>
            <a:endParaRPr kumimoji="1" lang="zh-CN" altLang="en-US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3"/>
            <a:ext cx="5122140" cy="26596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("%d", a);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("a=%d\n", a);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2114" y="3983661"/>
            <a:ext cx="5122140" cy="25504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VS</a:t>
            </a:r>
            <a:r>
              <a:rPr kumimoji="1" lang="zh-CN" altLang="en-US" sz="1600" b="1" dirty="0">
                <a:latin typeface="+mn-ea"/>
              </a:rPr>
              <a:t>中编译：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Dev</a:t>
            </a:r>
            <a:r>
              <a:rPr kumimoji="1" lang="zh-CN" altLang="en-US" sz="1600" b="1" dirty="0">
                <a:latin typeface="+mn-ea"/>
              </a:rPr>
              <a:t>中编译：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(↙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表示回车键，下同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714254" y="1323963"/>
            <a:ext cx="5122140" cy="26596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 =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("%d", a);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("a=%d\n", a);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714254" y="3983667"/>
            <a:ext cx="5122140" cy="25504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在</a:t>
            </a:r>
            <a:r>
              <a:rPr kumimoji="1" lang="en-US" altLang="zh-CN" sz="1200" b="1" dirty="0">
                <a:latin typeface="+mn-ea"/>
              </a:rPr>
              <a:t>VS</a:t>
            </a:r>
            <a:r>
              <a:rPr kumimoji="1" lang="zh-CN" altLang="en-US" sz="1200" b="1" dirty="0">
                <a:latin typeface="+mn-ea"/>
              </a:rPr>
              <a:t>中编译：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在</a:t>
            </a:r>
            <a:r>
              <a:rPr kumimoji="1" lang="en-US" altLang="zh-CN" sz="1200" b="1" dirty="0">
                <a:latin typeface="+mn-ea"/>
              </a:rPr>
              <a:t>Dev</a:t>
            </a:r>
            <a:r>
              <a:rPr kumimoji="1" lang="zh-CN" altLang="en-US" sz="1200" b="1" dirty="0">
                <a:latin typeface="+mn-ea"/>
              </a:rPr>
              <a:t>中编译：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结论：用</a:t>
            </a:r>
            <a:r>
              <a:rPr kumimoji="1" lang="en-US" altLang="zh-CN" sz="1200" b="1" dirty="0" err="1">
                <a:latin typeface="+mn-ea"/>
              </a:rPr>
              <a:t>scanf</a:t>
            </a:r>
            <a:r>
              <a:rPr kumimoji="1" lang="zh-CN" altLang="en-US" sz="1200" b="1" dirty="0">
                <a:latin typeface="+mn-ea"/>
              </a:rPr>
              <a:t>输入时，如果地址表列中直接跟变量名，则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错误</a:t>
            </a:r>
            <a:r>
              <a:rPr kumimoji="1" lang="en-US" altLang="zh-CN" sz="1200" b="1" dirty="0">
                <a:latin typeface="+mn-ea"/>
              </a:rPr>
              <a:t>____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(</a:t>
            </a:r>
            <a:r>
              <a:rPr kumimoji="1" lang="zh-CN" altLang="en-US" sz="1200" b="1" dirty="0">
                <a:latin typeface="+mn-ea"/>
              </a:rPr>
              <a:t>错误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正确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，其中</a:t>
            </a:r>
            <a:r>
              <a:rPr kumimoji="1" lang="en-US" altLang="zh-CN" sz="1200" b="1" dirty="0">
                <a:latin typeface="+mn-ea"/>
              </a:rPr>
              <a:t>VS</a:t>
            </a:r>
            <a:r>
              <a:rPr kumimoji="1" lang="zh-CN" altLang="en-US" sz="1200" b="1" dirty="0">
                <a:latin typeface="+mn-ea"/>
              </a:rPr>
              <a:t>的表现是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编译不通过</a:t>
            </a:r>
            <a:r>
              <a:rPr kumimoji="1" lang="en-US" altLang="zh-CN" sz="1200" b="1" dirty="0">
                <a:latin typeface="+mn-ea"/>
              </a:rPr>
              <a:t>____</a:t>
            </a:r>
            <a:r>
              <a:rPr kumimoji="1" lang="zh-CN" altLang="en-US" sz="1200" b="1" dirty="0">
                <a:latin typeface="+mn-ea"/>
              </a:rPr>
              <a:t>，</a:t>
            </a:r>
            <a:r>
              <a:rPr kumimoji="1" lang="en-US" altLang="zh-CN" sz="1200" b="1" dirty="0">
                <a:latin typeface="+mn-ea"/>
              </a:rPr>
              <a:t>Dev</a:t>
            </a:r>
            <a:r>
              <a:rPr kumimoji="1" lang="zh-CN" altLang="en-US" sz="1200" b="1" dirty="0">
                <a:latin typeface="+mn-ea"/>
              </a:rPr>
              <a:t>的表现是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程序无法运行</a:t>
            </a:r>
            <a:r>
              <a:rPr kumimoji="1" lang="en-US" altLang="zh-CN" sz="1200" b="1" dirty="0">
                <a:latin typeface="+mn-ea"/>
              </a:rPr>
              <a:t>__</a:t>
            </a:r>
            <a:endParaRPr kumimoji="1" lang="zh-CN" altLang="en-US" sz="12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505" y="4427220"/>
            <a:ext cx="4829175" cy="4286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55" y="5772150"/>
            <a:ext cx="5247640" cy="762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430" y="2680335"/>
            <a:ext cx="3510280" cy="200533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3650" y="4928235"/>
            <a:ext cx="4215765" cy="5562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3"/>
            <a:ext cx="5122140" cy="26596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a, b;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 %d", &amp;a, &amp;b);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b=%d\n", a, b);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2114" y="3983673"/>
            <a:ext cx="5122140" cy="25504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10 15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       </a:t>
            </a:r>
            <a:r>
              <a:rPr kumimoji="1" lang="en-US" altLang="zh-CN" sz="1600" b="1" u="sng" dirty="0">
                <a:latin typeface="+mn-ea"/>
              </a:rPr>
              <a:t>15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714254" y="1323964"/>
            <a:ext cx="5122140" cy="265969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a, b;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d%d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", &amp;a, &amp;b);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//%d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间无空格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b=%d\n", a, b);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714254" y="3983667"/>
            <a:ext cx="5122140" cy="25504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10 15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       </a:t>
            </a:r>
            <a:r>
              <a:rPr kumimoji="1" lang="en-US" altLang="zh-CN" sz="1600" b="1" u="sng" dirty="0">
                <a:latin typeface="+mn-ea"/>
              </a:rPr>
              <a:t>15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结论：多个输入时，格式控制符间是否有空格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  <a:sym typeface="+mn-ea"/>
              </a:rPr>
              <a:t>不影响</a:t>
            </a:r>
            <a:r>
              <a:rPr kumimoji="1" lang="en-US" altLang="zh-CN" sz="1600" b="1" dirty="0">
                <a:latin typeface="+mn-ea"/>
              </a:rPr>
              <a:t>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(</a:t>
            </a:r>
            <a:r>
              <a:rPr kumimoji="1" lang="zh-CN" altLang="en-US" sz="1600" b="1" dirty="0">
                <a:latin typeface="+mn-ea"/>
              </a:rPr>
              <a:t>影响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不影响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正确性</a:t>
            </a:r>
            <a:endParaRPr kumimoji="1" lang="zh-CN" altLang="en-US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1025" y="4072890"/>
            <a:ext cx="1485900" cy="5289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5475" y="5422900"/>
            <a:ext cx="1104900" cy="6096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0740" y="4199890"/>
            <a:ext cx="1485900" cy="52895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4860" y="5023485"/>
            <a:ext cx="11049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3"/>
            <a:ext cx="5122140" cy="26596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a=0, b=0;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("%d", &amp;a, &amp;b);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地址表列多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b=%d\n", a, b);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2114" y="3983665"/>
            <a:ext cx="5122140" cy="255048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10 15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结论：当地址表列的个数多于格式控制符时，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只读取格式控制符个</a:t>
            </a:r>
            <a:r>
              <a:rPr kumimoji="1" lang="en-US" altLang="zh-CN" sz="1600" b="1" dirty="0">
                <a:latin typeface="+mn-ea"/>
              </a:rPr>
              <a:t>__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714254" y="1323971"/>
            <a:ext cx="5122140" cy="265969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 %d", &amp;a);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格式符多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("a=%d\n", a);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714254" y="3983671"/>
            <a:ext cx="2572496" cy="16551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VS</a:t>
            </a:r>
            <a:r>
              <a:rPr kumimoji="1" lang="zh-CN" altLang="en-US" sz="1200" b="1" dirty="0">
                <a:latin typeface="+mn-ea"/>
              </a:rPr>
              <a:t>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10 15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       </a:t>
            </a:r>
            <a:r>
              <a:rPr kumimoji="1" lang="en-US" altLang="zh-CN" sz="1200" b="1" u="sng" dirty="0">
                <a:latin typeface="+mn-ea"/>
              </a:rPr>
              <a:t>15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8286750" y="3983669"/>
            <a:ext cx="2549644" cy="16551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Dev</a:t>
            </a:r>
            <a:r>
              <a:rPr kumimoji="1" lang="zh-CN" altLang="en-US" sz="1200" b="1" dirty="0">
                <a:latin typeface="+mn-ea"/>
              </a:rPr>
              <a:t>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10 15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       </a:t>
            </a:r>
            <a:r>
              <a:rPr kumimoji="1" lang="en-US" altLang="zh-CN" sz="1200" b="1" u="sng" dirty="0">
                <a:latin typeface="+mn-ea"/>
              </a:rPr>
              <a:t>15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714254" y="5638799"/>
            <a:ext cx="5122140" cy="89534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结论：当格式控制符的个数多个地址表列时</a:t>
            </a:r>
            <a:r>
              <a:rPr kumimoji="1" lang="en-US" altLang="zh-CN" sz="1200" b="1" dirty="0">
                <a:latin typeface="+mn-ea"/>
              </a:rPr>
              <a:t>_</a:t>
            </a:r>
            <a:r>
              <a:rPr kumimoji="1" lang="zh-CN" altLang="en-US" sz="1200" b="1" dirty="0">
                <a:latin typeface="+mn-ea"/>
              </a:rPr>
              <a:t>错误</a:t>
            </a:r>
            <a:r>
              <a:rPr kumimoji="1" lang="en-US" altLang="zh-CN" sz="1200" b="1" dirty="0">
                <a:latin typeface="+mn-ea"/>
              </a:rPr>
              <a:t>__</a:t>
            </a:r>
            <a:endParaRPr kumimoji="1" lang="en-US" altLang="zh-CN" sz="12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4380" y="4248150"/>
            <a:ext cx="1214755" cy="4000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4380" y="4912995"/>
            <a:ext cx="1186180" cy="3905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1695" y="4648200"/>
            <a:ext cx="1814830" cy="4953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275" y="4365625"/>
            <a:ext cx="757555" cy="39560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3"/>
            <a:ext cx="5122140" cy="26596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a, ret;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("%d", &amp;a);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ret=%d\n", a, ret);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2114" y="3983673"/>
            <a:ext cx="5122140" cy="25504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714254" y="1323969"/>
            <a:ext cx="5122140" cy="265969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a, b, ret;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 %d", &amp;a, &amp;b);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b=%d ret=%d\n", a, b, ret);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714254" y="3983667"/>
            <a:ext cx="5122140" cy="25504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10 15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结论：在输入正确时，</a:t>
            </a:r>
            <a:r>
              <a:rPr kumimoji="1" lang="en-US" altLang="zh-CN" sz="1600" b="1" dirty="0" err="1">
                <a:latin typeface="+mn-ea"/>
              </a:rPr>
              <a:t>scanf</a:t>
            </a:r>
            <a:r>
              <a:rPr kumimoji="1" lang="zh-CN" altLang="en-US" sz="1600" b="1" dirty="0">
                <a:latin typeface="+mn-ea"/>
              </a:rPr>
              <a:t>的返回值是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读取成功的个数</a:t>
            </a:r>
            <a:r>
              <a:rPr kumimoji="1" lang="en-US" altLang="zh-CN" sz="1600" b="1" dirty="0">
                <a:latin typeface="+mn-ea"/>
              </a:rPr>
              <a:t>__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725" y="4592320"/>
            <a:ext cx="1224280" cy="4095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365" y="4625340"/>
            <a:ext cx="1905000" cy="44323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3"/>
            <a:ext cx="5122140" cy="26596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a, b;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d,%d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", &amp;a, &amp;b);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b=%d\n", a, b);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2114" y="3983666"/>
            <a:ext cx="5122140" cy="25504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10 15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10,15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714254" y="1323969"/>
            <a:ext cx="5122140" cy="265969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a, b;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d,b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=%d", &amp;a, &amp;b);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b=%d\n", a, b);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714254" y="3983667"/>
            <a:ext cx="5122140" cy="25504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10 15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10,15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zh-CN" altLang="en-US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a=10,b=15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zh-CN" altLang="en-US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结论：当格式控制符中有其它字符（逗号，</a:t>
            </a:r>
            <a:r>
              <a:rPr kumimoji="1" lang="en-US" altLang="zh-CN" sz="1200" b="1" dirty="0">
                <a:latin typeface="+mn-ea"/>
              </a:rPr>
              <a:t>a=</a:t>
            </a:r>
            <a:r>
              <a:rPr kumimoji="1" lang="zh-CN" altLang="en-US" sz="1200" b="1" dirty="0">
                <a:latin typeface="+mn-ea"/>
              </a:rPr>
              <a:t>等）时，对这些字符的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</a:t>
            </a:r>
            <a:r>
              <a:rPr kumimoji="1" lang="zh-CN" altLang="en-US" sz="1200" b="1" dirty="0">
                <a:latin typeface="+mn-ea"/>
              </a:rPr>
              <a:t>输入方法是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加入其它字符输入</a:t>
            </a:r>
            <a:r>
              <a:rPr kumimoji="1" lang="en-US" altLang="zh-CN" sz="1200" b="1" dirty="0">
                <a:latin typeface="+mn-ea"/>
              </a:rPr>
              <a:t>__</a:t>
            </a:r>
            <a:endParaRPr kumimoji="1" lang="zh-CN" altLang="en-US" sz="12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6260" y="4312285"/>
            <a:ext cx="1847850" cy="2051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260" y="5050790"/>
            <a:ext cx="1162050" cy="1574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830" y="4229100"/>
            <a:ext cx="2400300" cy="3714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175" y="4717415"/>
            <a:ext cx="2433955" cy="3333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175" y="5335270"/>
            <a:ext cx="1162050" cy="157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F.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2"/>
            <a:ext cx="3446485" cy="311467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short c;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("%d", &amp;c);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("c=%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\n", c);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0589" y="4438649"/>
            <a:ext cx="3446485" cy="120903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480508" y="1323965"/>
            <a:ext cx="3520867" cy="31146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short c;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 &amp;c);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("c=%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\n", c);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486249" y="4438641"/>
            <a:ext cx="3512075" cy="120903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70000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4038600" y="1323969"/>
            <a:ext cx="3441908" cy="31146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c;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 &amp;c);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("c=%d\n", c);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4037074" y="4438645"/>
            <a:ext cx="3443434" cy="120903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590589" y="5647691"/>
            <a:ext cx="10407735" cy="88644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、附加格式控制符</a:t>
            </a:r>
            <a:r>
              <a:rPr kumimoji="1" lang="en-US" altLang="zh-CN" sz="1200" b="1" dirty="0">
                <a:latin typeface="+mn-ea"/>
              </a:rPr>
              <a:t>h</a:t>
            </a:r>
            <a:r>
              <a:rPr kumimoji="1" lang="zh-CN" altLang="en-US" sz="1200" b="1" dirty="0">
                <a:latin typeface="+mn-ea"/>
              </a:rPr>
              <a:t>的作用是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按短整型的方式读取</a:t>
            </a:r>
            <a:r>
              <a:rPr kumimoji="1" lang="en-US" altLang="zh-CN" sz="1200" b="1" dirty="0">
                <a:latin typeface="+mn-ea"/>
              </a:rPr>
              <a:t>___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、如果格式控制符的数据类型和要读取的变量类型的字节大小不一致（例：</a:t>
            </a:r>
            <a:r>
              <a:rPr kumimoji="1" lang="en-US" altLang="zh-CN" sz="1200" b="1" dirty="0">
                <a:latin typeface="+mn-ea"/>
              </a:rPr>
              <a:t>4/2</a:t>
            </a:r>
            <a:r>
              <a:rPr kumimoji="1" lang="zh-CN" altLang="en-US" sz="1200" b="1" dirty="0">
                <a:latin typeface="+mn-ea"/>
              </a:rPr>
              <a:t>字节），则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读取格式控制符大小的字节</a:t>
            </a:r>
            <a:r>
              <a:rPr kumimoji="1" lang="en-US" altLang="zh-CN" sz="1200" b="1" dirty="0">
                <a:latin typeface="+mn-ea"/>
              </a:rPr>
              <a:t>___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3</a:t>
            </a:r>
            <a:r>
              <a:rPr kumimoji="1"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、记住这个</a:t>
            </a:r>
            <a:r>
              <a:rPr kumimoji="1"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page</a:t>
            </a:r>
            <a:r>
              <a:rPr kumimoji="1"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，相关错误的原理性分析，第</a:t>
            </a:r>
            <a:r>
              <a:rPr kumimoji="1"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6</a:t>
            </a:r>
            <a:r>
              <a:rPr kumimoji="1"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章完成后会明白</a:t>
            </a:r>
            <a:r>
              <a:rPr kumimoji="1"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!!!</a:t>
            </a:r>
            <a:endParaRPr kumimoji="1" lang="en-US" altLang="zh-CN" sz="12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8155" y="4762500"/>
            <a:ext cx="586105" cy="4241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5145405"/>
            <a:ext cx="3980815" cy="3981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885" y="4065270"/>
            <a:ext cx="5191125" cy="23368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2755" y="5073650"/>
            <a:ext cx="1395730" cy="4000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7530" y="4555490"/>
            <a:ext cx="619125" cy="37147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1335" y="5060950"/>
            <a:ext cx="824230" cy="45275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G.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3"/>
            <a:ext cx="5122140" cy="52101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a, b, c;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 %x %o", &amp;a, &amp;b, &amp;c);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("a=%d, b=%d, c=%d\n", a, b, c);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714254" y="1323972"/>
            <a:ext cx="5122140" cy="521016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10 11 12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 ab 76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10 -11 +12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12 -ab +76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zh-CN" altLang="en-US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738630"/>
            <a:ext cx="1638300" cy="4000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622550"/>
            <a:ext cx="1609725" cy="4051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815" y="3747770"/>
            <a:ext cx="1733550" cy="3619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680" y="4669790"/>
            <a:ext cx="1833880" cy="45275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H.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3"/>
            <a:ext cx="5122140" cy="52101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short a, b, c;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%hx %ho", &amp;a, &amp;b, &amp;c);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("a=%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, b=%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, c=%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\n", a, b, c);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714254" y="1323972"/>
            <a:ext cx="5122140" cy="521016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10 11 12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 ab 76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10 -11 +12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12 -ab +76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zh-CN" altLang="en-US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1360" y="1773555"/>
            <a:ext cx="1605280" cy="4191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8340" y="2666365"/>
            <a:ext cx="1605280" cy="3289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450" y="3653790"/>
            <a:ext cx="1733550" cy="3619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4040" y="4674235"/>
            <a:ext cx="1833880" cy="45275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I.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714254" y="1323970"/>
            <a:ext cx="5122140" cy="315277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a, b;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("%3d %*2d %3d", &amp;a, &amp;b);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("a=%d b=%d\n", a, b);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714254" y="4476749"/>
            <a:ext cx="5122140" cy="205739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12345678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r>
              <a:rPr kumimoji="1" lang="en-US" altLang="zh-CN" sz="1600" b="1" dirty="0">
                <a:latin typeface="+mn-ea"/>
              </a:rPr>
              <a:t>*md</a:t>
            </a:r>
            <a:r>
              <a:rPr kumimoji="1" lang="zh-CN" altLang="en-US" sz="1600" b="1" dirty="0">
                <a:latin typeface="+mn-ea"/>
              </a:rPr>
              <a:t>的</a:t>
            </a:r>
            <a:r>
              <a:rPr kumimoji="1" lang="en-US" altLang="zh-CN" sz="1600" b="1" dirty="0">
                <a:latin typeface="+mn-ea"/>
              </a:rPr>
              <a:t>*m</a:t>
            </a:r>
            <a:r>
              <a:rPr kumimoji="1" lang="zh-CN" altLang="en-US" sz="1600" b="1" dirty="0">
                <a:latin typeface="+mn-ea"/>
              </a:rPr>
              <a:t>表示：跳过对应的</a:t>
            </a:r>
            <a:r>
              <a:rPr kumimoji="1" lang="zh-CN" altLang="en-US" sz="1600" b="1" dirty="0">
                <a:latin typeface="+mn-ea"/>
              </a:rPr>
              <a:t>输入数据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1"/>
            <a:ext cx="5122140" cy="315277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("%3d", &amp;a);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("a=%d\n", a);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4" y="4476750"/>
            <a:ext cx="5122140" cy="204787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12345678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r>
              <a:rPr kumimoji="1" lang="en-US" altLang="zh-CN" sz="1600" b="1" dirty="0">
                <a:latin typeface="+mn-ea"/>
              </a:rPr>
              <a:t>%md</a:t>
            </a:r>
            <a:r>
              <a:rPr kumimoji="1" lang="zh-CN" altLang="en-US" sz="1600" b="1" dirty="0">
                <a:latin typeface="+mn-ea"/>
              </a:rPr>
              <a:t>中的</a:t>
            </a:r>
            <a:r>
              <a:rPr kumimoji="1" lang="en-US" altLang="zh-CN" sz="1600" b="1" dirty="0">
                <a:latin typeface="+mn-ea"/>
              </a:rPr>
              <a:t>m</a:t>
            </a:r>
            <a:r>
              <a:rPr kumimoji="1" lang="zh-CN" altLang="en-US" sz="1600" b="1" dirty="0">
                <a:latin typeface="+mn-ea"/>
              </a:rPr>
              <a:t>表示：指定输入数据的</a:t>
            </a:r>
            <a:r>
              <a:rPr kumimoji="1" lang="zh-CN" altLang="en-US" sz="1600" b="1" dirty="0">
                <a:latin typeface="+mn-ea"/>
              </a:rPr>
              <a:t>最小宽度</a:t>
            </a:r>
            <a:endParaRPr kumimoji="1" lang="zh-CN" altLang="en-US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50" y="4889500"/>
            <a:ext cx="838200" cy="3575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1325" y="4832350"/>
            <a:ext cx="1090930" cy="41465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J.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7514394" y="1323970"/>
            <a:ext cx="3537537" cy="23687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int a;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%3d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", &amp;a);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("%d\n", a);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4053254" y="3692769"/>
            <a:ext cx="3461140" cy="203102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123 456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123a**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1"/>
            <a:ext cx="3461140" cy="23687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int a;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%d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", &amp;a);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("%d\n", a);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4" y="3692769"/>
            <a:ext cx="3461140" cy="203102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123 456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123a**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4053254" y="1323969"/>
            <a:ext cx="3461140" cy="23687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int a;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%x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", &amp;a);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("%d\n", a);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514394" y="3692769"/>
            <a:ext cx="3537537" cy="203102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123a**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12a**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90589" y="5723792"/>
            <a:ext cx="10461342" cy="8103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latin typeface="+mn-ea"/>
              </a:rPr>
              <a:t>scanf</a:t>
            </a:r>
            <a:r>
              <a:rPr kumimoji="1" lang="zh-CN" altLang="en-US" sz="1600" b="1" dirty="0">
                <a:latin typeface="+mn-ea"/>
              </a:rPr>
              <a:t>输入的终止条件是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空格</a:t>
            </a:r>
            <a:r>
              <a:rPr kumimoji="1" lang="en-US" altLang="zh-CN" sz="1600" b="1" dirty="0">
                <a:latin typeface="+mn-ea"/>
              </a:rPr>
              <a:t>_______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 ____</a:t>
            </a:r>
            <a:r>
              <a:rPr kumimoji="1" lang="zh-CN" altLang="en-US" sz="1600" b="1" dirty="0">
                <a:latin typeface="+mn-ea"/>
              </a:rPr>
              <a:t>换行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 __</a:t>
            </a:r>
            <a:r>
              <a:rPr kumimoji="1" lang="zh-CN" altLang="en-US" sz="1600" b="1" dirty="0">
                <a:latin typeface="+mn-ea"/>
              </a:rPr>
              <a:t>其它字符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限制条件完成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共四项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8630" y="3999865"/>
            <a:ext cx="371475" cy="1765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8630" y="4553585"/>
            <a:ext cx="371475" cy="17653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9100" y="5107305"/>
            <a:ext cx="371475" cy="17653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195" y="3999865"/>
            <a:ext cx="462280" cy="14795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195" y="4553585"/>
            <a:ext cx="462280" cy="14795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195" y="5107305"/>
            <a:ext cx="462280" cy="14795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9625" y="3999865"/>
            <a:ext cx="371475" cy="17653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9625" y="4553585"/>
            <a:ext cx="371475" cy="17653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625" y="5078730"/>
            <a:ext cx="228600" cy="16700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K.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714254" y="1323970"/>
            <a:ext cx="5122140" cy="236000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a, b;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("%3d%*2d%3d", &amp;a, &amp;b);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("%d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 %d\n", a, b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714254" y="3683977"/>
            <a:ext cx="5122140" cy="245305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输入：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123456↙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，输出：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输入：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12345678↙    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，输出：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输入：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123456789↙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，输出：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输入：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123 45 678↙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，输出：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2"/>
            <a:ext cx="5122140" cy="236000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a, b;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("%3d%3d", &amp;a, &amp;b);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</a:t>
            </a:r>
            <a:r>
              <a:rPr kumimoji="1" lang="en-US" altLang="zh-CN" sz="1600" b="1" dirty="0">
                <a:latin typeface="+mn-ea"/>
              </a:rPr>
              <a:t> %d\n", a,</a:t>
            </a:r>
            <a:r>
              <a:rPr kumimoji="1" lang="zh-CN" altLang="en-US" sz="1600" b="1" dirty="0">
                <a:latin typeface="+mn-ea"/>
              </a:rPr>
              <a:t> </a:t>
            </a:r>
            <a:r>
              <a:rPr kumimoji="1" lang="en-US" altLang="zh-CN" sz="1600" b="1" dirty="0">
                <a:latin typeface="+mn-ea"/>
              </a:rPr>
              <a:t>b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4" y="3680314"/>
            <a:ext cx="5122140" cy="24567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输入：</a:t>
            </a:r>
            <a:r>
              <a:rPr kumimoji="1" lang="en-US" altLang="zh-CN" sz="12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12</a:t>
            </a:r>
            <a:r>
              <a:rPr kumimoji="1" lang="en-US" altLang="zh-CN" sz="1200" b="1" u="sng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↙ 345↙</a:t>
            </a:r>
            <a:r>
              <a:rPr kumimoji="1" lang="en-US" altLang="zh-CN" sz="1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，输出：</a:t>
            </a:r>
            <a:endParaRPr kumimoji="1" lang="en-US" altLang="zh-CN" sz="12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输入：</a:t>
            </a:r>
            <a:r>
              <a:rPr kumimoji="1" lang="en-US" altLang="zh-CN" sz="1200" b="1" u="sng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12↙ 3456↙</a:t>
            </a:r>
            <a:r>
              <a:rPr kumimoji="1"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，输出：</a:t>
            </a:r>
            <a:endParaRPr kumimoji="1" lang="en-US" altLang="zh-CN" sz="12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输入：</a:t>
            </a:r>
            <a:r>
              <a:rPr kumimoji="1" lang="en-US" altLang="zh-CN" sz="1200" b="1" u="sng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123↙456↙</a:t>
            </a:r>
            <a:r>
              <a:rPr kumimoji="1" lang="en-US" altLang="zh-CN" sz="1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，输出：</a:t>
            </a:r>
            <a:endParaRPr kumimoji="1" lang="en-US" altLang="zh-CN" sz="12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输入：</a:t>
            </a:r>
            <a:r>
              <a:rPr kumimoji="1" lang="en-US" altLang="zh-CN" sz="1200" b="1" u="sng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1234︺5678↙</a:t>
            </a:r>
            <a:r>
              <a:rPr kumimoji="1"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，输出：</a:t>
            </a:r>
            <a:endParaRPr kumimoji="1"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u="sng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输入：</a:t>
            </a:r>
            <a:r>
              <a:rPr kumimoji="1" lang="en-US" altLang="zh-CN" sz="1200" b="1" u="sng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123456↙</a:t>
            </a:r>
            <a:r>
              <a:rPr kumimoji="1" lang="en-US" altLang="zh-CN" sz="1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kumimoji="1"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，输出：</a:t>
            </a:r>
            <a:endParaRPr kumimoji="1" lang="en-US" altLang="zh-CN" sz="12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u="sng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输入：</a:t>
            </a:r>
            <a:r>
              <a:rPr kumimoji="1" lang="en-US" altLang="zh-CN" sz="12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en-US" altLang="zh-CN" sz="1200" b="1" u="sng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2345678↙</a:t>
            </a:r>
            <a:r>
              <a:rPr kumimoji="1" lang="en-US" altLang="zh-CN" sz="1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，输出：</a:t>
            </a:r>
            <a:endParaRPr kumimoji="1" lang="en-US" altLang="zh-CN" sz="12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注：特别关注第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4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项的结果，想想为什么？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90589" y="6137030"/>
            <a:ext cx="10245806" cy="39710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考查上题得出的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scanf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终止条件的结论是否完整，如果不完整，补充修改上题的结论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8445" y="3736340"/>
            <a:ext cx="709930" cy="2051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8445" y="4068445"/>
            <a:ext cx="709930" cy="2051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445" y="4400550"/>
            <a:ext cx="776605" cy="1905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8445" y="4773295"/>
            <a:ext cx="609600" cy="1809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445" y="5192395"/>
            <a:ext cx="776605" cy="1905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445" y="5557520"/>
            <a:ext cx="776605" cy="1905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5690" y="3745865"/>
            <a:ext cx="671830" cy="19558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5690" y="4210050"/>
            <a:ext cx="909955" cy="1905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5690" y="4725035"/>
            <a:ext cx="909955" cy="1905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5690" y="5236845"/>
            <a:ext cx="90995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L.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3924296"/>
            <a:ext cx="2625871" cy="123678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123.45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2"/>
            <a:ext cx="2625871" cy="260032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float f;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("%f", &amp;f);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("f=%f\n", f);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3217985" y="1323970"/>
            <a:ext cx="2625871" cy="260032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float f;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 &amp;f);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("f=%f\n", f);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843856" y="1323969"/>
            <a:ext cx="2625871" cy="26003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double f;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 &amp;f);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("f=%f\n", f);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8469727" y="1323968"/>
            <a:ext cx="2625871" cy="26003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double f;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("%f", &amp;f);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("f=%f\n", f);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590589" y="5161083"/>
            <a:ext cx="10505009" cy="13730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>
                <a:latin typeface="+mn-ea"/>
              </a:rPr>
              <a:t>、附加格式</a:t>
            </a:r>
            <a:r>
              <a:rPr kumimoji="1" lang="zh-CN" altLang="en-US" sz="1600" b="1" dirty="0">
                <a:latin typeface="+mn-ea"/>
              </a:rPr>
              <a:t>控制符</a:t>
            </a:r>
            <a:r>
              <a:rPr kumimoji="1" lang="en-US" altLang="zh-CN" sz="1600" b="1" dirty="0">
                <a:latin typeface="+mn-ea"/>
              </a:rPr>
              <a:t>l</a:t>
            </a:r>
            <a:r>
              <a:rPr kumimoji="1" lang="zh-CN" altLang="en-US" sz="1600" b="1" dirty="0">
                <a:latin typeface="+mn-ea"/>
              </a:rPr>
              <a:t>的作用是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表示要读取的数据为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类型</a:t>
            </a:r>
            <a:r>
              <a:rPr kumimoji="1" lang="en-US" altLang="zh-CN" sz="1600" b="1" dirty="0">
                <a:latin typeface="+mn-ea"/>
              </a:rPr>
              <a:t>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、如果格式控制符的数据类型和要读取的变量类型的字节大小不一致（例：</a:t>
            </a:r>
            <a:r>
              <a:rPr kumimoji="1" lang="en-US" altLang="zh-CN" sz="1600" b="1" dirty="0">
                <a:latin typeface="+mn-ea"/>
              </a:rPr>
              <a:t>4/8</a:t>
            </a:r>
            <a:r>
              <a:rPr kumimoji="1" lang="zh-CN" altLang="en-US" sz="1600" b="1" dirty="0">
                <a:latin typeface="+mn-ea"/>
              </a:rPr>
              <a:t>字节），则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可能导致读取的数据不正确甚至出现程序错误或异常</a:t>
            </a:r>
            <a:r>
              <a:rPr kumimoji="1" lang="en-US" altLang="zh-CN" sz="1600" b="1" dirty="0">
                <a:latin typeface="+mn-ea"/>
              </a:rPr>
              <a:t>___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zh-CN" altLang="en-US" sz="1600" b="1" dirty="0">
                <a:latin typeface="+mn-ea"/>
              </a:rPr>
              <a:t>中，输出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型数据时，</a:t>
            </a:r>
            <a:r>
              <a:rPr kumimoji="1" lang="en-US" altLang="zh-CN" sz="1600" b="1" dirty="0">
                <a:latin typeface="+mn-ea"/>
              </a:rPr>
              <a:t>%f </a:t>
            </a:r>
            <a:r>
              <a:rPr kumimoji="1" lang="zh-CN" altLang="en-US" sz="1600" b="1" dirty="0">
                <a:latin typeface="+mn-ea"/>
              </a:rPr>
              <a:t>和 </a:t>
            </a:r>
            <a:r>
              <a:rPr kumimoji="1" lang="en-US" altLang="zh-CN" sz="1600" b="1" dirty="0">
                <a:latin typeface="+mn-ea"/>
              </a:rPr>
              <a:t>%</a:t>
            </a:r>
            <a:r>
              <a:rPr kumimoji="1" lang="en-US" altLang="zh-CN" sz="1600" b="1" dirty="0" err="1">
                <a:latin typeface="+mn-ea"/>
              </a:rPr>
              <a:t>lf</a:t>
            </a:r>
            <a:r>
              <a:rPr kumimoji="1" lang="en-US" altLang="zh-CN" sz="1600" b="1" dirty="0">
                <a:latin typeface="+mn-ea"/>
              </a:rPr>
              <a:t> __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差别；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en-US" altLang="zh-CN" sz="1600" b="1" dirty="0" err="1">
                <a:latin typeface="+mn-ea"/>
              </a:rPr>
              <a:t>scanf</a:t>
            </a:r>
            <a:r>
              <a:rPr kumimoji="1" lang="zh-CN" altLang="en-US" sz="1600" b="1" dirty="0">
                <a:latin typeface="+mn-ea"/>
              </a:rPr>
              <a:t>中， 输入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型数据时，</a:t>
            </a:r>
            <a:r>
              <a:rPr kumimoji="1" lang="en-US" altLang="zh-CN" sz="1600" b="1" dirty="0">
                <a:latin typeface="+mn-ea"/>
              </a:rPr>
              <a:t>%f </a:t>
            </a:r>
            <a:r>
              <a:rPr kumimoji="1" lang="zh-CN" altLang="en-US" sz="1600" b="1" dirty="0">
                <a:latin typeface="+mn-ea"/>
              </a:rPr>
              <a:t>和 </a:t>
            </a:r>
            <a:r>
              <a:rPr kumimoji="1" lang="en-US" altLang="zh-CN" sz="1600" b="1" dirty="0">
                <a:latin typeface="+mn-ea"/>
              </a:rPr>
              <a:t>%</a:t>
            </a:r>
            <a:r>
              <a:rPr kumimoji="1" lang="en-US" altLang="zh-CN" sz="1600" b="1" dirty="0" err="1">
                <a:latin typeface="+mn-ea"/>
              </a:rPr>
              <a:t>lf</a:t>
            </a:r>
            <a:r>
              <a:rPr kumimoji="1" lang="en-US" altLang="zh-CN" sz="1600" b="1" dirty="0">
                <a:latin typeface="+mn-ea"/>
              </a:rPr>
              <a:t> ___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差别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3217984" y="3924294"/>
            <a:ext cx="2625871" cy="123679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123.45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5843857" y="3924297"/>
            <a:ext cx="2625871" cy="12367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123.45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8469727" y="3924297"/>
            <a:ext cx="2625871" cy="12367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123.45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4416425"/>
            <a:ext cx="1304925" cy="2527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180" y="4383405"/>
            <a:ext cx="1847850" cy="1955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575" y="4578985"/>
            <a:ext cx="1405255" cy="5575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4540" y="4383405"/>
            <a:ext cx="1262380" cy="25273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2100" y="4767580"/>
            <a:ext cx="6610350" cy="26225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M.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714254" y="1323970"/>
            <a:ext cx="5122140" cy="245672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float f;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("%7f", &amp;f);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("%f\n", f);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714254" y="3780692"/>
            <a:ext cx="5122140" cy="20398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1234.5678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12.345678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12345678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1"/>
            <a:ext cx="5122140" cy="245672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float f;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("%7.2f", &amp;f);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("%f\n", f);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4" y="3780693"/>
            <a:ext cx="5122140" cy="203981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1234.56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12.3456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123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90589" y="5820507"/>
            <a:ext cx="10245805" cy="71363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>
                <a:latin typeface="+mn-ea"/>
              </a:rPr>
              <a:t>%mf/%</a:t>
            </a:r>
            <a:r>
              <a:rPr kumimoji="1" lang="en-US" altLang="zh-CN" sz="1200" b="1" dirty="0" err="1">
                <a:latin typeface="+mn-ea"/>
              </a:rPr>
              <a:t>mlf</a:t>
            </a:r>
            <a:r>
              <a:rPr kumimoji="1" lang="zh-CN" altLang="en-US" sz="1200" b="1" dirty="0">
                <a:latin typeface="+mn-ea"/>
              </a:rPr>
              <a:t>如果指定了宽度</a:t>
            </a:r>
            <a:r>
              <a:rPr kumimoji="1" lang="en-US" altLang="zh-CN" sz="1200" b="1" dirty="0">
                <a:latin typeface="+mn-ea"/>
              </a:rPr>
              <a:t>m</a:t>
            </a:r>
            <a:r>
              <a:rPr kumimoji="1" lang="zh-CN" altLang="en-US" sz="1200" b="1" dirty="0">
                <a:latin typeface="+mn-ea"/>
              </a:rPr>
              <a:t>，则</a:t>
            </a:r>
            <a:r>
              <a:rPr kumimoji="1" lang="en-US" altLang="zh-CN" sz="1200" b="1" dirty="0">
                <a:latin typeface="+mn-ea"/>
              </a:rPr>
              <a:t>____</a:t>
            </a:r>
            <a:r>
              <a:rPr kumimoji="1" lang="zh-CN" altLang="en-US" sz="1200" b="1" dirty="0">
                <a:latin typeface="+mn-ea"/>
              </a:rPr>
              <a:t>读取不超过</a:t>
            </a:r>
            <a:r>
              <a:rPr kumimoji="1" lang="en-US" altLang="zh-CN" sz="1200" b="1" dirty="0">
                <a:latin typeface="+mn-ea"/>
              </a:rPr>
              <a:t>m</a:t>
            </a:r>
            <a:r>
              <a:rPr kumimoji="1" lang="zh-CN" altLang="en-US" sz="1200" b="1" dirty="0">
                <a:latin typeface="+mn-ea"/>
              </a:rPr>
              <a:t>宽度的数据转换</a:t>
            </a:r>
            <a:r>
              <a:rPr kumimoji="1" lang="en-US" altLang="zh-CN" sz="1200" b="1" dirty="0">
                <a:latin typeface="+mn-ea"/>
              </a:rPr>
              <a:t>____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>
                <a:latin typeface="+mn-ea"/>
              </a:rPr>
              <a:t>%m.nf/%</a:t>
            </a:r>
            <a:r>
              <a:rPr kumimoji="1" lang="en-US" altLang="zh-CN" sz="1200" b="1" dirty="0" err="1">
                <a:latin typeface="+mn-ea"/>
              </a:rPr>
              <a:t>m.nlf</a:t>
            </a:r>
            <a:r>
              <a:rPr kumimoji="1" lang="zh-CN" altLang="en-US" sz="1200" b="1" dirty="0">
                <a:latin typeface="+mn-ea"/>
              </a:rPr>
              <a:t>如果指定了精度（小数点后的位数），则</a:t>
            </a:r>
            <a:r>
              <a:rPr kumimoji="1" lang="en-US" altLang="zh-CN" sz="1200" b="1" dirty="0">
                <a:latin typeface="+mn-ea"/>
              </a:rPr>
              <a:t>____</a:t>
            </a:r>
            <a:r>
              <a:rPr kumimoji="1" lang="zh-CN" altLang="en-US" sz="1200" b="1" dirty="0">
                <a:latin typeface="+mn-ea"/>
              </a:rPr>
              <a:t>无法处理</a:t>
            </a:r>
            <a:r>
              <a:rPr kumimoji="1" lang="en-US" altLang="zh-CN" sz="1200" b="1" dirty="0">
                <a:latin typeface="+mn-ea"/>
              </a:rPr>
              <a:t>__  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（注：确认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scanf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的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%f/%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lf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是否支持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.n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形式的附加格式控制符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!!!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）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1815" y="4076700"/>
            <a:ext cx="1724025" cy="4095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190" y="4819015"/>
            <a:ext cx="1771650" cy="2336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905" y="5541645"/>
            <a:ext cx="1795780" cy="2381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990" y="4076700"/>
            <a:ext cx="1219200" cy="24320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4365" y="4819015"/>
            <a:ext cx="948055" cy="2476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4665" y="5541645"/>
            <a:ext cx="1371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N.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3"/>
            <a:ext cx="5122140" cy="22156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c1, c2;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("%c %c", &amp;c1, &amp;c2);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("c1=%c c2=%c\n", c1, c2);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2114" y="3539578"/>
            <a:ext cx="5122140" cy="20837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ABCD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A BCD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'A' BCD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\n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714254" y="1323973"/>
            <a:ext cx="5122140" cy="22156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c1, c2;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c%c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 &amp;c1, &amp;c2);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两个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%c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间无空格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("c1=%d c2=%d\n", c1, c2);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714254" y="3539577"/>
            <a:ext cx="5122140" cy="20837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ABCD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A BCD</a:t>
            </a:r>
            <a:r>
              <a:rPr kumimoji="1" lang="en-US" altLang="zh-CN" sz="1200" b="1" dirty="0">
                <a:latin typeface="+mn-ea"/>
              </a:rPr>
              <a:t>↙ 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（特别关注此项的差异）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'A' BCD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\n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90589" y="5623353"/>
            <a:ext cx="10245805" cy="9107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>
                <a:latin typeface="+mn-ea"/>
              </a:rPr>
              <a:t>%c</a:t>
            </a:r>
            <a:r>
              <a:rPr kumimoji="1" lang="zh-CN" altLang="en-US" sz="1200" b="1" dirty="0">
                <a:latin typeface="+mn-ea"/>
              </a:rPr>
              <a:t>只读</a:t>
            </a:r>
            <a:r>
              <a:rPr kumimoji="1" lang="en-US" altLang="zh-CN" sz="1200" b="1" dirty="0">
                <a:latin typeface="+mn-ea"/>
              </a:rPr>
              <a:t>_1_</a:t>
            </a:r>
            <a:r>
              <a:rPr kumimoji="1" lang="zh-CN" altLang="en-US" sz="1200" b="1" dirty="0">
                <a:latin typeface="+mn-ea"/>
              </a:rPr>
              <a:t>个字符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>
                <a:latin typeface="+mn-ea"/>
              </a:rPr>
              <a:t>%c</a:t>
            </a:r>
            <a:r>
              <a:rPr kumimoji="1" lang="zh-CN" altLang="en-US" sz="1200" b="1" dirty="0">
                <a:latin typeface="+mn-ea"/>
              </a:rPr>
              <a:t>在输入转义符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单引号等特殊字符时，得到的是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  <a:sym typeface="+mn-ea"/>
              </a:rPr>
              <a:t>特殊字符自身的</a:t>
            </a:r>
            <a:r>
              <a:rPr kumimoji="1" lang="en-US" altLang="zh-CN" sz="1200" b="1" dirty="0">
                <a:latin typeface="+mn-ea"/>
                <a:sym typeface="+mn-ea"/>
              </a:rPr>
              <a:t>ASCII</a:t>
            </a:r>
            <a:r>
              <a:rPr kumimoji="1" lang="zh-CN" altLang="en-US" sz="1200" b="1" dirty="0">
                <a:latin typeface="+mn-ea"/>
                <a:sym typeface="+mn-ea"/>
              </a:rPr>
              <a:t>码</a:t>
            </a:r>
            <a:r>
              <a:rPr kumimoji="1" lang="en-US" altLang="zh-CN" sz="1200" b="1" dirty="0">
                <a:latin typeface="+mn-ea"/>
              </a:rPr>
              <a:t>___(</a:t>
            </a:r>
            <a:r>
              <a:rPr kumimoji="1" lang="zh-CN" altLang="en-US" sz="1200" b="1" dirty="0">
                <a:latin typeface="+mn-ea"/>
              </a:rPr>
              <a:t>特殊字符自身的</a:t>
            </a:r>
            <a:r>
              <a:rPr kumimoji="1" lang="en-US" altLang="zh-CN" sz="1200" b="1" dirty="0">
                <a:latin typeface="+mn-ea"/>
              </a:rPr>
              <a:t>ASCII</a:t>
            </a:r>
            <a:r>
              <a:rPr kumimoji="1" lang="zh-CN" altLang="en-US" sz="1200" b="1" dirty="0">
                <a:latin typeface="+mn-ea"/>
              </a:rPr>
              <a:t>码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特殊字符的转义含义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、空格</a:t>
            </a:r>
            <a:r>
              <a:rPr kumimoji="1" lang="en-US" altLang="zh-CN" sz="1200" b="1" dirty="0">
                <a:latin typeface="+mn-ea"/>
              </a:rPr>
              <a:t>_</a:t>
            </a:r>
            <a:r>
              <a:rPr kumimoji="1" lang="zh-CN" altLang="en-US" sz="1200" b="1" dirty="0">
                <a:latin typeface="+mn-ea"/>
              </a:rPr>
              <a:t>是</a:t>
            </a:r>
            <a:r>
              <a:rPr kumimoji="1" lang="en-US" altLang="zh-CN" sz="1200" b="1" dirty="0">
                <a:latin typeface="+mn-ea"/>
              </a:rPr>
              <a:t>_(</a:t>
            </a:r>
            <a:r>
              <a:rPr kumimoji="1" lang="zh-CN" altLang="en-US" sz="1200" b="1" dirty="0">
                <a:latin typeface="+mn-ea"/>
              </a:rPr>
              <a:t>是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不是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en-US" altLang="zh-CN" sz="1200" b="1" dirty="0" err="1">
                <a:latin typeface="+mn-ea"/>
              </a:rPr>
              <a:t>scanf</a:t>
            </a:r>
            <a:r>
              <a:rPr kumimoji="1" lang="zh-CN" altLang="en-US" sz="1200" b="1" dirty="0">
                <a:latin typeface="+mn-ea"/>
              </a:rPr>
              <a:t>中</a:t>
            </a:r>
            <a:r>
              <a:rPr kumimoji="1" lang="en-US" altLang="zh-CN" sz="1200" b="1" dirty="0">
                <a:latin typeface="+mn-ea"/>
              </a:rPr>
              <a:t>%c</a:t>
            </a:r>
            <a:r>
              <a:rPr kumimoji="1" lang="zh-CN" altLang="en-US" sz="1200" b="1" dirty="0">
                <a:latin typeface="+mn-ea"/>
              </a:rPr>
              <a:t>方式的有效输入，但必须注意</a:t>
            </a:r>
            <a:r>
              <a:rPr kumimoji="1" lang="en-US" altLang="zh-CN" sz="1200" b="1" dirty="0">
                <a:latin typeface="+mn-ea"/>
              </a:rPr>
              <a:t>____</a:t>
            </a:r>
            <a:r>
              <a:rPr kumimoji="1" lang="zh-CN" altLang="en-US" sz="1200" b="1" dirty="0">
                <a:latin typeface="+mn-ea"/>
              </a:rPr>
              <a:t>空格必须是有效输入</a:t>
            </a:r>
            <a:r>
              <a:rPr kumimoji="1" lang="en-US" altLang="zh-CN" sz="1200" b="1" dirty="0">
                <a:latin typeface="+mn-ea"/>
              </a:rPr>
              <a:t>________</a:t>
            </a:r>
            <a:endParaRPr kumimoji="1" lang="en-US" altLang="zh-CN" sz="12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780" y="3789045"/>
            <a:ext cx="1066800" cy="1765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780" y="4365625"/>
            <a:ext cx="1066800" cy="17653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780" y="4942205"/>
            <a:ext cx="962025" cy="2095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695" y="5427980"/>
            <a:ext cx="957580" cy="19558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065" y="3789045"/>
            <a:ext cx="1143000" cy="23812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6065" y="4304030"/>
            <a:ext cx="1200150" cy="23812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885" y="4879340"/>
            <a:ext cx="1186180" cy="23368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4310" y="5389880"/>
            <a:ext cx="1214755" cy="23368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O.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3924295"/>
            <a:ext cx="2625871" cy="123679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A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2"/>
            <a:ext cx="2625871" cy="260032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short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("%c", &amp;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("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=%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hd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3217985" y="1323970"/>
            <a:ext cx="2625871" cy="26003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("%c", &amp;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("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=%d\n",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843856" y="1323969"/>
            <a:ext cx="2625871" cy="26003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long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("%c", &amp;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("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=%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ld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8469727" y="1323968"/>
            <a:ext cx="2625871" cy="26003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float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("%c", &amp;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("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=%f\n",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590589" y="5161083"/>
            <a:ext cx="10505009" cy="13730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%c</a:t>
            </a:r>
            <a:r>
              <a:rPr kumimoji="1" lang="zh-CN" altLang="en-US" sz="1600" b="1" dirty="0">
                <a:latin typeface="+mn-ea"/>
              </a:rPr>
              <a:t>方式读入时，地址表列中的变量不能是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非</a:t>
            </a:r>
            <a:r>
              <a:rPr kumimoji="1" lang="en-US" altLang="zh-CN" sz="1600" b="1" dirty="0">
                <a:latin typeface="+mn-ea"/>
              </a:rPr>
              <a:t>char__</a:t>
            </a:r>
            <a:r>
              <a:rPr kumimoji="1" lang="zh-CN" altLang="en-US" sz="1600" b="1" dirty="0">
                <a:latin typeface="+mn-ea"/>
              </a:rPr>
              <a:t>类型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不要列</a:t>
            </a:r>
            <a:r>
              <a:rPr kumimoji="1" lang="en-US" altLang="zh-CN" sz="1600" b="1" dirty="0">
                <a:latin typeface="+mn-ea"/>
              </a:rPr>
              <a:t>short/int/long/float</a:t>
            </a:r>
            <a:r>
              <a:rPr kumimoji="1" lang="zh-CN" altLang="en-US" sz="1600" b="1" dirty="0">
                <a:latin typeface="+mn-ea"/>
              </a:rPr>
              <a:t>等具体名称，总结共性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目前只需要记住现象</a:t>
            </a:r>
            <a:r>
              <a:rPr kumimoji="1"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结论，学习完第</a:t>
            </a:r>
            <a:r>
              <a:rPr kumimoji="1"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6</a:t>
            </a:r>
            <a:r>
              <a:rPr kumimoji="1"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章后，会从原理上理解为什么有错</a:t>
            </a:r>
            <a:r>
              <a:rPr kumimoji="1"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!!!</a:t>
            </a:r>
            <a:endParaRPr kumimoji="1" lang="en-US" altLang="zh-CN" sz="16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3217984" y="3924296"/>
            <a:ext cx="2625871" cy="123678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A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5843857" y="3924297"/>
            <a:ext cx="2625871" cy="12367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A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8469727" y="3924297"/>
            <a:ext cx="2625871" cy="12367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A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020" y="4459605"/>
            <a:ext cx="929005" cy="1670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760" y="4452620"/>
            <a:ext cx="1386205" cy="1809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280" y="4461510"/>
            <a:ext cx="1295400" cy="1955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8995" y="4476115"/>
            <a:ext cx="19335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P.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3"/>
            <a:ext cx="5122140" cy="52101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s1[10],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s2[10];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//s1/s2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是数组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后续内容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("%s %s", s1, s2);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("s1=%s\ns2=%s\n", s1, s2);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* 特别说明：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数组名，代表了数组的首地址，因此放在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scanf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中时，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s1/s2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可以不加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&amp;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，具体概念后续数组时再详细说明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*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714254" y="1323972"/>
            <a:ext cx="5122140" cy="521016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tong ji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tong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       </a:t>
            </a:r>
            <a:r>
              <a:rPr kumimoji="1" lang="en-US" altLang="zh-CN" sz="1200" b="1" u="sng" dirty="0">
                <a:latin typeface="+mn-ea"/>
              </a:rPr>
              <a:t>ji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tong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       </a:t>
            </a:r>
            <a:r>
              <a:rPr kumimoji="1" lang="en-US" altLang="zh-CN" sz="1200" b="1" u="sng" dirty="0">
                <a:latin typeface="+mn-ea"/>
              </a:rPr>
              <a:t>hello1234</a:t>
            </a:r>
            <a:r>
              <a:rPr kumimoji="1" lang="en-US" altLang="zh-CN" sz="1200" b="1" dirty="0">
                <a:latin typeface="+mn-ea"/>
              </a:rPr>
              <a:t>↙(9</a:t>
            </a:r>
            <a:r>
              <a:rPr kumimoji="1" lang="zh-CN" altLang="en-US" sz="1200" b="1" dirty="0">
                <a:latin typeface="+mn-ea"/>
              </a:rPr>
              <a:t>个字符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tong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       </a:t>
            </a:r>
            <a:r>
              <a:rPr kumimoji="1" lang="en-US" altLang="zh-CN" sz="1200" b="1" u="sng" dirty="0">
                <a:latin typeface="+mn-ea"/>
              </a:rPr>
              <a:t>hello12345</a:t>
            </a:r>
            <a:r>
              <a:rPr kumimoji="1" lang="en-US" altLang="zh-CN" sz="1200" b="1" dirty="0">
                <a:latin typeface="+mn-ea"/>
              </a:rPr>
              <a:t>↙(10</a:t>
            </a:r>
            <a:r>
              <a:rPr kumimoji="1" lang="zh-CN" altLang="en-US" sz="1200" b="1" dirty="0">
                <a:latin typeface="+mn-ea"/>
              </a:rPr>
              <a:t>个字符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 err="1">
                <a:latin typeface="+mn-ea"/>
              </a:rPr>
              <a:t>tongjiuniversity</a:t>
            </a:r>
            <a:r>
              <a:rPr kumimoji="1" lang="en-US" altLang="zh-CN" sz="1200" b="1" dirty="0">
                <a:latin typeface="+mn-ea"/>
              </a:rPr>
              <a:t>↙(</a:t>
            </a:r>
            <a:r>
              <a:rPr kumimoji="1" lang="zh-CN" altLang="en-US" sz="1200" b="1" dirty="0">
                <a:latin typeface="+mn-ea"/>
              </a:rPr>
              <a:t>超过</a:t>
            </a:r>
            <a:r>
              <a:rPr kumimoji="1" lang="en-US" altLang="zh-CN" sz="1200" b="1" dirty="0">
                <a:latin typeface="+mn-ea"/>
              </a:rPr>
              <a:t>10</a:t>
            </a:r>
            <a:r>
              <a:rPr kumimoji="1" lang="zh-CN" altLang="en-US" sz="1200" b="1" dirty="0">
                <a:latin typeface="+mn-ea"/>
              </a:rPr>
              <a:t>个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       </a:t>
            </a:r>
            <a:r>
              <a:rPr kumimoji="1" lang="en-US" altLang="zh-CN" sz="1200" b="1" u="sng" dirty="0">
                <a:latin typeface="+mn-ea"/>
              </a:rPr>
              <a:t>hello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>
                <a:latin typeface="+mn-ea"/>
              </a:rPr>
              <a:t>%s_</a:t>
            </a:r>
            <a:r>
              <a:rPr kumimoji="1" lang="zh-CN" altLang="en-US" sz="1200" b="1" dirty="0">
                <a:latin typeface="+mn-ea"/>
              </a:rPr>
              <a:t>不能</a:t>
            </a:r>
            <a:r>
              <a:rPr kumimoji="1" lang="en-US" altLang="zh-CN" sz="1200" b="1" dirty="0">
                <a:latin typeface="+mn-ea"/>
              </a:rPr>
              <a:t>_(</a:t>
            </a:r>
            <a:r>
              <a:rPr kumimoji="1" lang="zh-CN" altLang="en-US" sz="1200" b="1" dirty="0">
                <a:latin typeface="+mn-ea"/>
              </a:rPr>
              <a:t>能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不能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读入含空格的字符串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>
                <a:latin typeface="+mn-ea"/>
              </a:rPr>
              <a:t>%s</a:t>
            </a:r>
            <a:r>
              <a:rPr kumimoji="1" lang="zh-CN" altLang="en-US" sz="1200" b="1" dirty="0">
                <a:latin typeface="+mn-ea"/>
              </a:rPr>
              <a:t>输入时，如果数组的大小为</a:t>
            </a:r>
            <a:r>
              <a:rPr kumimoji="1" lang="en-US" altLang="zh-CN" sz="1200" b="1" dirty="0">
                <a:latin typeface="+mn-ea"/>
              </a:rPr>
              <a:t>n</a:t>
            </a:r>
            <a:r>
              <a:rPr kumimoji="1" lang="zh-CN" altLang="en-US" sz="1200" b="1" dirty="0">
                <a:latin typeface="+mn-ea"/>
              </a:rPr>
              <a:t>，则最多输入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en-US" altLang="zh-CN" sz="1200" b="1" dirty="0">
                <a:latin typeface="+mn-ea"/>
              </a:rPr>
              <a:t>n-1__</a:t>
            </a:r>
            <a:r>
              <a:rPr kumimoji="1" lang="zh-CN" altLang="en-US" sz="1200" b="1" dirty="0">
                <a:latin typeface="+mn-ea"/>
              </a:rPr>
              <a:t>个字符</a:t>
            </a:r>
            <a:endParaRPr kumimoji="1" lang="en-US" altLang="zh-CN" sz="12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7705" y="1562100"/>
            <a:ext cx="819150" cy="4000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7705" y="2292350"/>
            <a:ext cx="819150" cy="4000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705" y="3022600"/>
            <a:ext cx="1266825" cy="3905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845" y="4473575"/>
            <a:ext cx="1076325" cy="3619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9825" y="4473575"/>
            <a:ext cx="146685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Q.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2"/>
            <a:ext cx="5122140" cy="271169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char s[80];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("%s", s);</a:t>
            </a:r>
            <a:endParaRPr kumimoji="1" lang="en-US" altLang="zh-CN" sz="1600" b="1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("%s\n", s);</a:t>
            </a:r>
            <a:endParaRPr kumimoji="1" lang="en-US" altLang="zh-CN" sz="1600" b="1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2114" y="4035668"/>
            <a:ext cx="5122140" cy="24984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"\r\n\</a:t>
            </a:r>
            <a:r>
              <a:rPr kumimoji="1" lang="en-US" altLang="zh-CN" sz="1600" b="1" u="sng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tabc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"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3333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3333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3333CC"/>
                </a:solidFill>
                <a:latin typeface="+mn-ea"/>
              </a:rPr>
              <a:t>该字符串真正的内存存储为</a:t>
            </a:r>
            <a:r>
              <a:rPr kumimoji="1" lang="en-US" altLang="zh-CN" sz="1600" b="1" dirty="0">
                <a:solidFill>
                  <a:srgbClr val="3333CC"/>
                </a:solidFill>
                <a:latin typeface="+mn-ea"/>
              </a:rPr>
              <a:t>_10_</a:t>
            </a:r>
            <a:r>
              <a:rPr kumimoji="1" lang="zh-CN" altLang="en-US" sz="1600" b="1" dirty="0">
                <a:solidFill>
                  <a:srgbClr val="3333CC"/>
                </a:solidFill>
                <a:latin typeface="+mn-ea"/>
              </a:rPr>
              <a:t>个字节，这些字节的值</a:t>
            </a:r>
            <a:endParaRPr kumimoji="1" lang="en-US" altLang="zh-CN" sz="1600" b="1" dirty="0">
              <a:solidFill>
                <a:srgbClr val="3333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3333CC"/>
                </a:solidFill>
                <a:latin typeface="+mn-ea"/>
              </a:rPr>
              <a:t>分别是</a:t>
            </a:r>
            <a:r>
              <a:rPr kumimoji="1" lang="en-US" altLang="zh-CN" sz="1600" b="1" dirty="0">
                <a:solidFill>
                  <a:srgbClr val="3333CC"/>
                </a:solidFill>
                <a:latin typeface="+mn-ea"/>
              </a:rPr>
              <a:t>_________</a:t>
            </a:r>
            <a:endParaRPr kumimoji="1" lang="en-US" altLang="zh-CN" sz="1600" b="1" dirty="0">
              <a:solidFill>
                <a:srgbClr val="3333CC"/>
              </a:solidFill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714254" y="1323973"/>
            <a:ext cx="5122140" cy="271169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char s[80], t[80];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s,%s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s,t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("s=%s\n", s);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("t=%s\n", t);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714254" y="4035666"/>
            <a:ext cx="5122140" cy="249846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abc,def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与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2-E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不同，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"%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</a:rPr>
              <a:t>s,%s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"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之间的逗号是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__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当做第一个字符串的有效字符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___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原样输入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当做第一个字符串的有效字符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)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2770" y="4357370"/>
            <a:ext cx="1028700" cy="2476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415" y="5281930"/>
            <a:ext cx="1214755" cy="13188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615" y="4605020"/>
            <a:ext cx="2072005" cy="31940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R.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2"/>
            <a:ext cx="5122140" cy="258300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a, ret;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("%d", &amp;a);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 ret=%d\n", a, ret);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714254" y="3906981"/>
            <a:ext cx="5122140" cy="212436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10 20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 20a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10a20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 err="1">
                <a:latin typeface="+mn-ea"/>
              </a:rPr>
              <a:t>abc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714254" y="1323971"/>
            <a:ext cx="5122140" cy="258300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a, b, ret;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 %d", &amp;a, &amp;b);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 b=%d ret=%d\n", a, b, ret);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4" y="3906981"/>
            <a:ext cx="5122140" cy="212436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10a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 err="1">
                <a:latin typeface="+mn-ea"/>
              </a:rPr>
              <a:t>abc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90589" y="6031345"/>
            <a:ext cx="10245805" cy="50279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r>
              <a:rPr kumimoji="1" lang="en-US" altLang="zh-CN" sz="1600" b="1" dirty="0" err="1">
                <a:latin typeface="+mn-ea"/>
              </a:rPr>
              <a:t>scanf</a:t>
            </a:r>
            <a:r>
              <a:rPr kumimoji="1" lang="zh-CN" altLang="en-US" sz="1600" b="1" dirty="0">
                <a:latin typeface="+mn-ea"/>
              </a:rPr>
              <a:t>返回值是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成功读取的个数</a:t>
            </a:r>
            <a:r>
              <a:rPr kumimoji="1" lang="en-US" altLang="zh-CN" sz="1600" b="1" dirty="0">
                <a:latin typeface="+mn-ea"/>
              </a:rPr>
              <a:t>_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7355" y="4199890"/>
            <a:ext cx="1152525" cy="2190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7355" y="4975225"/>
            <a:ext cx="1152525" cy="2190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015" y="5675630"/>
            <a:ext cx="1857375" cy="28130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165" y="4142740"/>
            <a:ext cx="1519555" cy="2762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165" y="4699000"/>
            <a:ext cx="1519555" cy="27622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165" y="5255260"/>
            <a:ext cx="2262505" cy="2476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4165" y="5831205"/>
            <a:ext cx="2971800" cy="2000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20483</Words>
  <Application>WPS 演示</Application>
  <PresentationFormat>宽屏</PresentationFormat>
  <Paragraphs>1631</Paragraphs>
  <Slides>37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6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wps</cp:lastModifiedBy>
  <cp:revision>94</cp:revision>
  <dcterms:created xsi:type="dcterms:W3CDTF">2020-08-13T13:39:00Z</dcterms:created>
  <dcterms:modified xsi:type="dcterms:W3CDTF">2025-03-15T07:39:29Z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5A7B720C165843C8BDB3D70FCF231CC6_12</vt:lpwstr>
  </property>
  <property fmtid="{D5CDD505-2E9C-101B-9397-08002B2CF9AE}" pid="3" name="KSOProductBuildVer">
    <vt:lpwstr>2052-12.8.2.15091</vt:lpwstr>
  </property>
</Properties>
</file>