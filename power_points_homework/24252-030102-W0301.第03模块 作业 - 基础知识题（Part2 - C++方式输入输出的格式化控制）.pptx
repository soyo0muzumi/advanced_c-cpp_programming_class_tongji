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49" r:id="rId3"/>
    <p:sldId id="1268" r:id="rId4"/>
    <p:sldId id="1269" r:id="rId6"/>
    <p:sldId id="1230" r:id="rId7"/>
    <p:sldId id="492" r:id="rId8"/>
    <p:sldId id="1267" r:id="rId9"/>
    <p:sldId id="1265" r:id="rId10"/>
    <p:sldId id="1237" r:id="rId11"/>
    <p:sldId id="1236" r:id="rId12"/>
    <p:sldId id="1238" r:id="rId13"/>
    <p:sldId id="1239" r:id="rId14"/>
    <p:sldId id="1240" r:id="rId15"/>
    <p:sldId id="1241" r:id="rId16"/>
    <p:sldId id="1244" r:id="rId17"/>
    <p:sldId id="1243" r:id="rId18"/>
    <p:sldId id="1245" r:id="rId19"/>
    <p:sldId id="1252" r:id="rId20"/>
    <p:sldId id="1255" r:id="rId21"/>
    <p:sldId id="1254" r:id="rId22"/>
    <p:sldId id="1246" r:id="rId23"/>
    <p:sldId id="1256" r:id="rId24"/>
    <p:sldId id="1257" r:id="rId25"/>
    <p:sldId id="1258" r:id="rId26"/>
    <p:sldId id="1247" r:id="rId27"/>
    <p:sldId id="1259" r:id="rId28"/>
    <p:sldId id="1249" r:id="rId29"/>
    <p:sldId id="1263" r:id="rId30"/>
    <p:sldId id="1260" r:id="rId31"/>
    <p:sldId id="1250" r:id="rId32"/>
    <p:sldId id="1261" r:id="rId33"/>
    <p:sldId id="1262" r:id="rId34"/>
    <p:sldId id="1231" r:id="rId35"/>
    <p:sldId id="1186" r:id="rId36"/>
    <p:sldId id="1234" r:id="rId37"/>
    <p:sldId id="1235" r:id="rId38"/>
    <p:sldId id="1232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90941" autoAdjust="0"/>
  </p:normalViewPr>
  <p:slideViewPr>
    <p:cSldViewPr snapToGrid="0">
      <p:cViewPr varScale="1">
        <p:scale>
          <a:sx n="102" d="100"/>
          <a:sy n="102" d="100"/>
        </p:scale>
        <p:origin x="33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19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说明：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中的格式控制很丰富，实现方法也有多种，下表列出的只是常用一部分，用于本次作业</a:t>
            </a:r>
            <a:endParaRPr lang="en-US" altLang="zh-CN" sz="1600" b="1" dirty="0">
              <a:latin typeface="+mn-ea"/>
            </a:endParaRPr>
          </a:p>
        </p:txBody>
      </p:sp>
      <p:graphicFrame>
        <p:nvGraphicFramePr>
          <p:cNvPr id="6" name="表格 11"/>
          <p:cNvGraphicFramePr/>
          <p:nvPr/>
        </p:nvGraphicFramePr>
        <p:xfrm>
          <a:off x="859057" y="1370538"/>
          <a:ext cx="10158413" cy="50874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01983"/>
                <a:gridCol w="7156430"/>
              </a:tblGrid>
              <a:tr h="2998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控制符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作用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dec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hex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oct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setbase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(n=8,10,16)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setfill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(c)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设置填充字符，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可以是字符常量或字符变量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568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setprecision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设置实数的精度为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位。在以一般十进制形式输出时，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代表有效数字。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在以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fixed(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固定小数位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形式和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scientific(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指数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形式输出时，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为小数位数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setw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设置字段宽度为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::fixed)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设置浮点数以固定的小数位数显示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::scientific)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设置浮点数以科学计数法（即指数形式）显示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::left)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输出数据左对齐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::right)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输出数据右对齐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skipws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忽略前导的空格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::uppercase)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在以科学计数法输出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和十六进制输出字母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时，以大写表示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showpos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输出正数时，给出“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+”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号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(*)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终止已设置的输出格式状态，括号内为具体内容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本处用*替代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8380071" y="1370538"/>
            <a:ext cx="3631843" cy="17886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重要提示：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、后面作业需要的知识点，除非明确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提示自行上网查找，都先在本文档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中查找是否有符合要求的设置项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、不看本页，网上瞎找，然后说作业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多的，本课程及本作业不背锅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进制前导符的使用：回答问题并将程序的运行结果截图贴上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允许多页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1323973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short a1 = 1234, a2 = 0x1234, a3 = 01234, a4 = 0b1101001;  //</a:t>
            </a:r>
            <a:r>
              <a:rPr lang="zh-CN" altLang="en-US" sz="1200" b="1" dirty="0">
                <a:latin typeface="+mn-ea"/>
              </a:rPr>
              <a:t>常量为各进制表示正数</a:t>
            </a:r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en-US" altLang="zh-CN" sz="1200" b="1" dirty="0" err="1">
                <a:latin typeface="+mn-ea"/>
              </a:rPr>
              <a:t>dec</a:t>
            </a:r>
            <a:r>
              <a:rPr lang="en-US" altLang="zh-CN" sz="1200" b="1" dirty="0">
                <a:latin typeface="+mn-ea"/>
              </a:rPr>
              <a:t>:" &lt;&lt; </a:t>
            </a:r>
            <a:r>
              <a:rPr lang="en-US" altLang="zh-CN" sz="1200" b="1" dirty="0" err="1">
                <a:latin typeface="+mn-ea"/>
              </a:rPr>
              <a:t>dec</a:t>
            </a:r>
            <a:r>
              <a:rPr lang="en-US" altLang="zh-CN" sz="1200" b="1" dirty="0">
                <a:latin typeface="+mn-ea"/>
              </a:rPr>
              <a:t> &lt;&lt; a1 &lt;&lt; ' ' &lt;&lt; a2 &lt;&lt; ' ' &lt;&lt; a3 &lt;&lt; ' ' &lt;&lt; a4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"hex:" &lt;&lt; hex &lt;&lt; a1 &lt;&lt; ' ' &lt;&lt; a2 &lt;&lt; ' ' &lt;&lt; a3 &lt;&lt; ' ' &lt;&lt; a4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"oct:" &lt;&lt; oct &lt;&lt; a1 &lt;&lt; ' ' &lt;&lt; a2 &lt;&lt; ' ' &lt;&lt; a3 &lt;&lt; ' ' &lt;&lt; a4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short b1 = -1234, b2 = -0x1234, b3 = -01234, b4 = -0b1101001;  //</a:t>
            </a:r>
            <a:r>
              <a:rPr lang="zh-CN" altLang="en-US" sz="1200" b="1" dirty="0">
                <a:latin typeface="+mn-ea"/>
              </a:rPr>
              <a:t>常量为各进制表示负数</a:t>
            </a:r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"dec:" &lt;&lt; dec &lt;&lt; b1 &lt;&lt; ' ' &lt;&lt; b2 &lt;&lt; ' ' &lt;&lt; b3 &lt;&lt; ' ' &lt;&lt; b4 &lt;&lt; endl;</a:t>
            </a:r>
            <a:endParaRPr lang="fr-FR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"hex:" &lt;&lt; hex &lt;&lt; b1 &lt;&lt; ' ' &lt;&lt; b2 &lt;&lt; ' ' &lt;&lt; b3 &lt;&lt; ' ' &lt;&lt; b4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"oct:" &lt;&lt; oct &lt;&lt; b1 &lt;&lt; ' ' &lt;&lt; b2 &lt;&lt; ' ' &lt;&lt; b3 &lt;&lt; ' ' &lt;&lt; b4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short c1 = 40000, c2 = 0x9876, c3 = 0171234, c4 = 0b1101010100111100;  //</a:t>
            </a:r>
            <a:r>
              <a:rPr lang="zh-CN" altLang="en-US" sz="1200" b="1" dirty="0">
                <a:latin typeface="+mn-ea"/>
              </a:rPr>
              <a:t>赋值后最高位均为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，有</a:t>
            </a:r>
            <a:r>
              <a:rPr lang="en-US" altLang="zh-CN" sz="1200" b="1" dirty="0">
                <a:latin typeface="+mn-ea"/>
              </a:rPr>
              <a:t>warning</a:t>
            </a:r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"dec:" &lt;&lt; dec &lt;&lt; c1 &lt;&lt; ' ' &lt;&lt; c2 &lt;&lt; ' ' &lt;&lt; c3 &lt;&lt; ' ' &lt;&lt; c4 &lt;&lt; endl;</a:t>
            </a:r>
            <a:endParaRPr lang="fr-FR" altLang="zh-CN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"hex:" &lt;&lt; hex &lt;&lt; c1 &lt;&lt; ' ' &lt;&lt; c2 &lt;&lt; ' ' &lt;&lt; c3 &lt;&lt; ' ' &lt;&lt; c4 &lt;&lt; endl;</a:t>
            </a:r>
            <a:endParaRPr lang="fr-FR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"oct:" &lt;&lt; oct &lt;&lt; c1 &lt;&lt; ' ' &lt;&lt; c2 &lt;&lt; ' ' &lt;&lt; c3 &lt;&lt; ' ' &lt;&lt; c4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允许贴图覆盖代码部分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6665" y="1447800"/>
            <a:ext cx="300545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总结及结论：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、源程序中的整数，有</a:t>
            </a:r>
            <a:r>
              <a:rPr kumimoji="1" lang="en-US" altLang="zh-CN" sz="1600" b="1" dirty="0">
                <a:latin typeface="+mn-ea"/>
              </a:rPr>
              <a:t>___3_</a:t>
            </a:r>
            <a:r>
              <a:rPr kumimoji="1" lang="zh-CN" altLang="en-US" sz="1600" b="1" dirty="0">
                <a:latin typeface="+mn-ea"/>
              </a:rPr>
              <a:t>种不同进制的表示形式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、无论源程序中整型常量表示为何种进制，它的机内存储均为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二进制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形式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、如果想使数据输出时使用不同进制，要加</a:t>
            </a:r>
            <a:r>
              <a:rPr kumimoji="1" lang="en-US" altLang="zh-CN" sz="1600" b="1" dirty="0">
                <a:latin typeface="+mn-ea"/>
              </a:rPr>
              <a:t>___hex,oct,dec____</a:t>
            </a:r>
            <a:r>
              <a:rPr kumimoji="1" lang="zh-CN" altLang="en-US" sz="1600" b="1" dirty="0">
                <a:latin typeface="+mn-ea"/>
              </a:rPr>
              <a:t>等进制前导符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、输出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二进制前导符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、只有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十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进制有负数形式输出；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16</a:t>
            </a:r>
            <a:r>
              <a:rPr kumimoji="1" lang="zh-CN" altLang="en-US" sz="1600" b="1" dirty="0">
                <a:latin typeface="+mn-ea"/>
              </a:rPr>
              <a:t>进制输出负数时，特征是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数值部分为补码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8</a:t>
            </a:r>
            <a:r>
              <a:rPr kumimoji="1" lang="zh-CN" altLang="en-US" sz="1600" b="1" dirty="0">
                <a:latin typeface="+mn-ea"/>
              </a:rPr>
              <a:t>进制输出负数时，特征是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  <a:sym typeface="+mn-ea"/>
              </a:rPr>
              <a:t>数值部分为补码</a:t>
            </a:r>
            <a:r>
              <a:rPr kumimoji="1" lang="en-US" altLang="zh-CN" sz="1600" b="1" dirty="0">
                <a:latin typeface="+mn-ea"/>
              </a:rPr>
              <a:t>__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进制前导符的连续使用：回答问题并将程序的运行结果截图贴上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88076" y="5534025"/>
            <a:ext cx="10247336" cy="1000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+mn-ea"/>
              </a:rPr>
              <a:t>dec</a:t>
            </a:r>
            <a:r>
              <a:rPr kumimoji="1" lang="en-US" altLang="zh-CN" sz="1600" b="1" dirty="0">
                <a:latin typeface="+mn-ea"/>
              </a:rPr>
              <a:t>/hex/oct</a:t>
            </a:r>
            <a:r>
              <a:rPr kumimoji="1" lang="zh-CN" altLang="en-US" sz="1600" b="1" dirty="0">
                <a:latin typeface="+mn-ea"/>
              </a:rPr>
              <a:t>等进制前导符设置后，对后面的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数据有效，直到用另一个控制符去改变为止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88075" y="1323973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400" b="1" dirty="0">
                <a:latin typeface="+mn-ea"/>
              </a:rPr>
              <a:t>#include &lt;iostream&gt;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#include &lt;</a:t>
            </a:r>
            <a:r>
              <a:rPr lang="en-US" altLang="zh-CN" sz="1400" b="1" dirty="0" err="1">
                <a:latin typeface="+mn-ea"/>
              </a:rPr>
              <a:t>iomanip</a:t>
            </a:r>
            <a:r>
              <a:rPr lang="en-US" altLang="zh-CN" sz="1400" b="1" dirty="0">
                <a:latin typeface="+mn-ea"/>
              </a:rPr>
              <a:t>&gt;</a:t>
            </a:r>
            <a:endParaRPr lang="en-US" altLang="zh-CN" sz="1400" b="1" dirty="0">
              <a:latin typeface="+mn-ea"/>
            </a:endParaRP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using namespace std;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int main()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{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int a = 10;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cout</a:t>
            </a:r>
            <a:r>
              <a:rPr lang="en-US" altLang="zh-CN" sz="14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&lt;&lt; "1234567" &lt;&lt; </a:t>
            </a:r>
            <a:r>
              <a:rPr lang="en-US" altLang="zh-CN" sz="14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endl</a:t>
            </a:r>
            <a:r>
              <a:rPr lang="en-US" altLang="zh-CN" sz="14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;</a:t>
            </a:r>
            <a:r>
              <a:rPr lang="en-US" altLang="zh-CN" sz="1400" b="1" dirty="0">
                <a:solidFill>
                  <a:srgbClr val="FF0000"/>
                </a:solidFill>
                <a:latin typeface="+mn-ea"/>
              </a:rPr>
              <a:t>  //</a:t>
            </a:r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此处必须改为你的学号，否则本作业</a:t>
            </a:r>
            <a:r>
              <a:rPr lang="en-US" altLang="zh-CN" sz="14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分（后续含学号的所有作业要求相同）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hex;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oct;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</a:t>
            </a:r>
            <a:r>
              <a:rPr lang="en-US" altLang="zh-CN" sz="1400" b="1" dirty="0" err="1">
                <a:latin typeface="+mn-ea"/>
              </a:rPr>
              <a:t>dec</a:t>
            </a:r>
            <a:r>
              <a:rPr lang="en-US" altLang="zh-CN" sz="1400" b="1" dirty="0">
                <a:latin typeface="+mn-ea"/>
              </a:rPr>
              <a:t>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  <a:endParaRPr lang="en-US" altLang="zh-CN" sz="1400" b="1" dirty="0">
              <a:latin typeface="+mn-ea"/>
            </a:endParaRP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return 0;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}</a:t>
            </a:r>
            <a:endParaRPr lang="en-US" altLang="zh-CN" sz="1400" b="1" dirty="0">
              <a:latin typeface="+mn-ea"/>
            </a:endParaRPr>
          </a:p>
          <a:p>
            <a:endParaRPr lang="en-US" altLang="zh-CN" sz="14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9230" y="3740785"/>
            <a:ext cx="1228725" cy="10052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C.setbase</a:t>
            </a:r>
            <a:r>
              <a:rPr lang="zh-CN" altLang="en-US" sz="1600" b="1" dirty="0">
                <a:latin typeface="+mn-ea"/>
              </a:rPr>
              <a:t>的使用：同</a:t>
            </a:r>
            <a:r>
              <a:rPr lang="en-US" altLang="zh-CN" sz="1600" b="1" dirty="0">
                <a:latin typeface="+mn-ea"/>
              </a:rPr>
              <a:t>1.A</a:t>
            </a:r>
            <a:r>
              <a:rPr lang="zh-CN" altLang="en-US" sz="1600" b="1" dirty="0">
                <a:latin typeface="+mn-ea"/>
              </a:rPr>
              <a:t>的形式，按要求自行构造测试程序，回答问题并将程序的运行结果截图贴上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允许多页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013434" y="1323974"/>
            <a:ext cx="582197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自行构造若干组测试数据，运行并截图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中允许的合法值有</a:t>
            </a:r>
            <a:r>
              <a:rPr kumimoji="1" lang="en-US" altLang="zh-CN" sz="1600" b="1" dirty="0">
                <a:latin typeface="+mn-ea"/>
              </a:rPr>
              <a:t>__8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10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16____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中出现非法值时，处理方法是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按默认十进制输出</a:t>
            </a:r>
            <a:r>
              <a:rPr kumimoji="1" lang="en-US" altLang="zh-CN" sz="1600" b="1" dirty="0">
                <a:latin typeface="+mn-ea"/>
              </a:rPr>
              <a:t>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设置后，对后面的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有效，直到用另一个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去改变为止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442131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}//</a:t>
            </a:r>
            <a:r>
              <a:rPr lang="zh-CN" altLang="en-US" sz="1600" b="1" dirty="0">
                <a:latin typeface="+mn-ea"/>
              </a:rPr>
              <a:t>允许直接贴构造的程序，不用再输入到这里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构造的程序要求能看出对右侧问题的回答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将构造的程序直接贴图上来，左侧不写也可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340" y="2582545"/>
            <a:ext cx="4785995" cy="3300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D.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::uppercase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</a:t>
            </a:r>
            <a:r>
              <a:rPr lang="zh-CN" altLang="en-US" sz="1600" b="1" dirty="0">
                <a:latin typeface="+mn-ea"/>
              </a:rPr>
              <a:t>：按要求自行构造测试程序，能对比看出用和不用的差别即可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013434" y="1323974"/>
            <a:ext cx="582197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测试程序中的数据类型为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，自行构造若干组测试数据，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运行并截图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uppercase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_16_</a:t>
            </a:r>
            <a:r>
              <a:rPr kumimoji="1" lang="zh-CN" altLang="en-US" sz="1600" b="1" dirty="0">
                <a:latin typeface="+mn-ea"/>
              </a:rPr>
              <a:t>进制一起使用才能看出效果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uppercase</a:t>
            </a:r>
            <a:r>
              <a:rPr kumimoji="1" lang="zh-CN" altLang="en-US" sz="1600" b="1" dirty="0">
                <a:latin typeface="+mn-ea"/>
              </a:rPr>
              <a:t>设置后，对后面的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  <a:sym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、同一个程序中，设置完</a:t>
            </a:r>
            <a:r>
              <a:rPr kumimoji="1" lang="en-US" altLang="zh-CN" sz="1600" b="1" dirty="0">
                <a:latin typeface="+mn-ea"/>
              </a:rPr>
              <a:t>uppercase</a:t>
            </a:r>
            <a:r>
              <a:rPr kumimoji="1" lang="zh-CN" altLang="en-US" sz="1600" b="1" dirty="0">
                <a:latin typeface="+mn-ea"/>
              </a:rPr>
              <a:t>，如果想恢复小写，具体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的做法是</a:t>
            </a:r>
            <a:r>
              <a:rPr kumimoji="1" lang="en-US" altLang="zh-CN" sz="1600" b="1" dirty="0">
                <a:latin typeface="+mn-ea"/>
              </a:rPr>
              <a:t>____使用 nouppercase 控制符_____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本小问如果不会，先不要问，先往后做，看后面的题目是否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有相似问题可以启发你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442131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}//</a:t>
            </a:r>
            <a:r>
              <a:rPr lang="zh-CN" altLang="en-US" sz="1600" b="1" dirty="0">
                <a:latin typeface="+mn-ea"/>
              </a:rPr>
              <a:t>允许直接贴构造的程序，不用再输入到这里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构造的程序要求能看出对右侧问题的回答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将构造的程序直接贴图上来，左侧不写也可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" y="4132580"/>
            <a:ext cx="5146040" cy="25457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E.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showpos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</a:t>
            </a:r>
            <a:r>
              <a:rPr lang="zh-CN" altLang="en-US" sz="1600" b="1" dirty="0">
                <a:latin typeface="+mn-ea"/>
              </a:rPr>
              <a:t>：按要求自行构造测试程序，能对比看出用和不用的差别即可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013434" y="1323974"/>
            <a:ext cx="582197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测试程序中的数据类型为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，自行构造若干组测试数据，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运行并截图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十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进制一起使用才能看出效果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kumimoji="1" lang="zh-CN" altLang="en-US" sz="1600" b="1" dirty="0">
                <a:latin typeface="+mn-ea"/>
              </a:rPr>
              <a:t>设置后，对后面的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、同一个程序中，设置完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kumimoji="1" lang="zh-CN" altLang="en-US" sz="1600" b="1" dirty="0">
                <a:latin typeface="+mn-ea"/>
              </a:rPr>
              <a:t>，如果想取消，具体的做法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____使用 noshowpos 操纵符______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本小问如果不会，先不要问，先往后做，看后面的题目是否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有相似问题可以启发你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442131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}//</a:t>
            </a:r>
            <a:r>
              <a:rPr lang="zh-CN" altLang="en-US" sz="1600" b="1" dirty="0">
                <a:latin typeface="+mn-ea"/>
              </a:rPr>
              <a:t>允许直接贴构造的程序，不用再输入到这里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构造的程序要求能看出对右侧问题的回答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将构造的程序直接贴图上来，左侧不写也可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05" y="4032250"/>
            <a:ext cx="5832475" cy="26790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009396" y="1323974"/>
            <a:ext cx="582601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本例贴图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441728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000" b="1" dirty="0">
                <a:latin typeface="+mn-ea"/>
              </a:rPr>
              <a:t>#include &lt;iostream&gt;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iomanip</a:t>
            </a:r>
            <a:r>
              <a:rPr lang="en-US" altLang="zh-CN" sz="1000" b="1" dirty="0">
                <a:latin typeface="+mn-ea"/>
              </a:rPr>
              <a:t>&gt;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using namespace std;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int main()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{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float f1 = 1234.5678F;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float f2 = 8765.4321F;</a:t>
            </a:r>
            <a:endParaRPr lang="en-US" altLang="zh-CN" sz="1000" b="1" dirty="0"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1</a:t>
            </a:r>
            <a:r>
              <a:rPr lang="zh-CN" altLang="en-US" sz="1000" b="1" dirty="0">
                <a:latin typeface="+mn-ea"/>
              </a:rPr>
              <a:t>组：不设或非法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(0)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2</a:t>
            </a:r>
            <a:r>
              <a:rPr lang="zh-CN" altLang="en-US" sz="1000" b="1" dirty="0">
                <a:latin typeface="+mn-ea"/>
              </a:rPr>
              <a:t>组：小于等于整数位数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(1)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(2)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(3)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(4)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3</a:t>
            </a:r>
            <a:r>
              <a:rPr lang="zh-CN" altLang="en-US" sz="1000" b="1" dirty="0">
                <a:latin typeface="+mn-ea"/>
              </a:rPr>
              <a:t>组：大于整数位数，但小与等于</a:t>
            </a:r>
            <a:r>
              <a:rPr lang="en-US" altLang="zh-CN" sz="1000" b="1" dirty="0">
                <a:latin typeface="+mn-ea"/>
              </a:rPr>
              <a:t>float</a:t>
            </a:r>
            <a:r>
              <a:rPr lang="zh-CN" altLang="en-US" sz="1000" b="1" dirty="0">
                <a:latin typeface="+mn-ea"/>
              </a:rPr>
              <a:t>型有效数字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(5)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(6)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(7)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4</a:t>
            </a:r>
            <a:r>
              <a:rPr lang="zh-CN" altLang="en-US" sz="1000" b="1" dirty="0">
                <a:latin typeface="+mn-ea"/>
              </a:rPr>
              <a:t>组：大于</a:t>
            </a:r>
            <a:r>
              <a:rPr lang="en-US" altLang="zh-CN" sz="1000" b="1" dirty="0">
                <a:latin typeface="+mn-ea"/>
              </a:rPr>
              <a:t>float</a:t>
            </a:r>
            <a:r>
              <a:rPr lang="zh-CN" altLang="en-US" sz="1000" b="1" dirty="0">
                <a:latin typeface="+mn-ea"/>
              </a:rPr>
              <a:t>型有效数字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(8)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(9)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(10)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(25)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return 0;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}</a:t>
            </a:r>
            <a:endParaRPr lang="en-US" altLang="zh-CN" sz="10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861848" y="2133601"/>
            <a:ext cx="1538452" cy="342899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4290" y="2329815"/>
            <a:ext cx="3215005" cy="29387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1323973"/>
            <a:ext cx="1024733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050" b="1" dirty="0">
                <a:latin typeface="+mn-ea"/>
              </a:rPr>
              <a:t>#include &lt;iostream&gt;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#include &lt;</a:t>
            </a:r>
            <a:r>
              <a:rPr lang="en-US" altLang="zh-CN" sz="1050" b="1" dirty="0" err="1">
                <a:latin typeface="+mn-ea"/>
              </a:rPr>
              <a:t>iomanip</a:t>
            </a:r>
            <a:r>
              <a:rPr lang="en-US" altLang="zh-CN" sz="1050" b="1" dirty="0">
                <a:latin typeface="+mn-ea"/>
              </a:rPr>
              <a:t>&gt;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using namespace std;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int main()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{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float f1 = 1234567890123456789.0F;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float f2 = 9876543210987654321.0F;</a:t>
            </a:r>
            <a:endParaRPr lang="en-US" altLang="zh-CN" sz="1050" b="1" dirty="0">
              <a:latin typeface="+mn-ea"/>
            </a:endParaRPr>
          </a:p>
          <a:p>
            <a:endParaRPr lang="zh-CN" altLang="en-US" sz="1050" b="1" dirty="0">
              <a:latin typeface="+mn-ea"/>
            </a:endParaRPr>
          </a:p>
          <a:p>
            <a:r>
              <a:rPr lang="zh-CN" altLang="en-US" sz="1050" b="1" dirty="0">
                <a:latin typeface="+mn-ea"/>
              </a:rPr>
              <a:t>    </a:t>
            </a:r>
            <a:r>
              <a:rPr lang="en-US" altLang="zh-CN" sz="1050" b="1" dirty="0">
                <a:latin typeface="+mn-ea"/>
              </a:rPr>
              <a:t>/* </a:t>
            </a:r>
            <a:r>
              <a:rPr lang="zh-CN" altLang="en-US" sz="1050" b="1" dirty="0">
                <a:latin typeface="+mn-ea"/>
              </a:rPr>
              <a:t>第</a:t>
            </a:r>
            <a:r>
              <a:rPr lang="en-US" altLang="zh-CN" sz="1050" b="1" dirty="0">
                <a:latin typeface="+mn-ea"/>
              </a:rPr>
              <a:t>1</a:t>
            </a:r>
            <a:r>
              <a:rPr lang="zh-CN" altLang="en-US" sz="1050" b="1" dirty="0">
                <a:latin typeface="+mn-ea"/>
              </a:rPr>
              <a:t>组：不设或非法 *</a:t>
            </a:r>
            <a:r>
              <a:rPr lang="en-US" altLang="zh-CN" sz="1050" b="1" dirty="0">
                <a:latin typeface="+mn-ea"/>
              </a:rPr>
              <a:t>/</a:t>
            </a:r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(0)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endParaRPr lang="en-US" altLang="zh-CN" sz="1050" b="1" dirty="0">
              <a:latin typeface="+mn-ea"/>
            </a:endParaRPr>
          </a:p>
          <a:p>
            <a:r>
              <a:rPr lang="zh-CN" altLang="en-US" sz="1050" b="1" dirty="0">
                <a:latin typeface="+mn-ea"/>
              </a:rPr>
              <a:t>    </a:t>
            </a:r>
            <a:r>
              <a:rPr lang="en-US" altLang="zh-CN" sz="1050" b="1" dirty="0">
                <a:latin typeface="+mn-ea"/>
              </a:rPr>
              <a:t>/* </a:t>
            </a:r>
            <a:r>
              <a:rPr lang="zh-CN" altLang="en-US" sz="1050" b="1" dirty="0">
                <a:latin typeface="+mn-ea"/>
              </a:rPr>
              <a:t>第</a:t>
            </a:r>
            <a:r>
              <a:rPr lang="en-US" altLang="zh-CN" sz="1050" b="1" dirty="0">
                <a:latin typeface="+mn-ea"/>
              </a:rPr>
              <a:t>2</a:t>
            </a:r>
            <a:r>
              <a:rPr lang="zh-CN" altLang="en-US" sz="1050" b="1" dirty="0">
                <a:latin typeface="+mn-ea"/>
              </a:rPr>
              <a:t>组：小于等于整数位数 并且 小与等于</a:t>
            </a:r>
            <a:r>
              <a:rPr lang="en-US" altLang="zh-CN" sz="1050" b="1" dirty="0">
                <a:latin typeface="+mn-ea"/>
              </a:rPr>
              <a:t>float</a:t>
            </a:r>
            <a:r>
              <a:rPr lang="zh-CN" altLang="en-US" sz="1050" b="1" dirty="0">
                <a:latin typeface="+mn-ea"/>
              </a:rPr>
              <a:t>型有效数字 *</a:t>
            </a:r>
            <a:r>
              <a:rPr lang="en-US" altLang="zh-CN" sz="1050" b="1" dirty="0">
                <a:latin typeface="+mn-ea"/>
              </a:rPr>
              <a:t>/</a:t>
            </a:r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(1)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(2)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(3)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(4)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(5)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(6)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(7)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endParaRPr lang="zh-CN" altLang="en-US" sz="1050" b="1" dirty="0">
              <a:latin typeface="+mn-ea"/>
            </a:endParaRPr>
          </a:p>
          <a:p>
            <a:r>
              <a:rPr lang="zh-CN" altLang="en-US" sz="1050" b="1" dirty="0">
                <a:latin typeface="+mn-ea"/>
              </a:rPr>
              <a:t>    </a:t>
            </a:r>
            <a:r>
              <a:rPr lang="en-US" altLang="zh-CN" sz="1050" b="1" dirty="0">
                <a:latin typeface="+mn-ea"/>
              </a:rPr>
              <a:t>/* </a:t>
            </a:r>
            <a:r>
              <a:rPr lang="zh-CN" altLang="en-US" sz="1050" b="1" dirty="0">
                <a:latin typeface="+mn-ea"/>
              </a:rPr>
              <a:t>第</a:t>
            </a:r>
            <a:r>
              <a:rPr lang="en-US" altLang="zh-CN" sz="1050" b="1" dirty="0">
                <a:latin typeface="+mn-ea"/>
              </a:rPr>
              <a:t>3</a:t>
            </a:r>
            <a:r>
              <a:rPr lang="zh-CN" altLang="en-US" sz="1050" b="1" dirty="0">
                <a:latin typeface="+mn-ea"/>
              </a:rPr>
              <a:t>组：大于</a:t>
            </a:r>
            <a:r>
              <a:rPr lang="en-US" altLang="zh-CN" sz="1050" b="1" dirty="0">
                <a:latin typeface="+mn-ea"/>
              </a:rPr>
              <a:t>float</a:t>
            </a:r>
            <a:r>
              <a:rPr lang="zh-CN" altLang="en-US" sz="1050" b="1" dirty="0">
                <a:latin typeface="+mn-ea"/>
              </a:rPr>
              <a:t>型有效数字 *</a:t>
            </a:r>
            <a:r>
              <a:rPr lang="en-US" altLang="zh-CN" sz="1050" b="1" dirty="0">
                <a:latin typeface="+mn-ea"/>
              </a:rPr>
              <a:t>/</a:t>
            </a:r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(8)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(9)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(10)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为什么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f1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比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f2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少一位？</a:t>
            </a:r>
            <a:endParaRPr lang="zh-CN" altLang="en-US" sz="105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(11)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(25)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return 0;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}</a:t>
            </a:r>
            <a:endParaRPr lang="en-US" altLang="zh-CN" sz="105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861848" y="2133600"/>
            <a:ext cx="2481427" cy="3810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276974" y="1323974"/>
            <a:ext cx="455843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本例贴图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0520" y="2571115"/>
            <a:ext cx="3786505" cy="2824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(3)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009396" y="1323974"/>
            <a:ext cx="582601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本例贴图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441728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float f1 = 0.12345678F;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float f2 = 0.87654321F;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组：不设或非法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(0)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组：小与等于</a:t>
            </a:r>
            <a:r>
              <a:rPr lang="en-US" altLang="zh-CN" sz="1100" b="1" dirty="0">
                <a:latin typeface="+mn-ea"/>
              </a:rPr>
              <a:t>float</a:t>
            </a:r>
            <a:r>
              <a:rPr lang="zh-CN" altLang="en-US" sz="1100" b="1" dirty="0">
                <a:latin typeface="+mn-ea"/>
              </a:rPr>
              <a:t>型有效数字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(1)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(2)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(3)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(4)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(5)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(6)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(7)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3</a:t>
            </a:r>
            <a:r>
              <a:rPr lang="zh-CN" altLang="en-US" sz="1100" b="1" dirty="0">
                <a:latin typeface="+mn-ea"/>
              </a:rPr>
              <a:t>组：大于</a:t>
            </a:r>
            <a:r>
              <a:rPr lang="en-US" altLang="zh-CN" sz="1100" b="1" dirty="0">
                <a:latin typeface="+mn-ea"/>
              </a:rPr>
              <a:t>float</a:t>
            </a:r>
            <a:r>
              <a:rPr lang="zh-CN" altLang="en-US" sz="1100" b="1" dirty="0">
                <a:latin typeface="+mn-ea"/>
              </a:rPr>
              <a:t>型有效数字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(8)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(9)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(10)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(25)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899948" y="2181225"/>
            <a:ext cx="1795627" cy="40005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715" y="2045335"/>
            <a:ext cx="4967605" cy="27673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88076" y="1323974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重要结论：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setprecision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指定输出位数后，系统会按指定位数输出，即使指定位数超过数据的有效位数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   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即：输出数据的某位开始是</a:t>
            </a: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不可信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的，但依然会输出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</a:t>
            </a:r>
            <a:r>
              <a:rPr kumimoji="1" lang="en-US" altLang="zh-CN" sz="1600" b="1" dirty="0" err="1">
                <a:latin typeface="+mn-ea"/>
              </a:rPr>
              <a:t>setprecision</a:t>
            </a:r>
            <a:r>
              <a:rPr kumimoji="1" lang="zh-CN" altLang="en-US" sz="1600" b="1" dirty="0">
                <a:latin typeface="+mn-ea"/>
              </a:rPr>
              <a:t>单独使用时的显示规律总结（如果数据不够，可以再自己构造测试数据）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整数：当setprecision指定的位数大于整数本身的位数时，会在整数前面补0，使其达到指定的输出位数。</a:t>
            </a:r>
            <a:endParaRPr kumimoji="1" 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浮点数</a:t>
            </a:r>
            <a:r>
              <a:rPr kumimoji="1" lang="zh-CN" altLang="en-US" sz="1600" b="1" dirty="0">
                <a:latin typeface="+mn-ea"/>
              </a:rPr>
              <a:t>：setprecision指定的是有效数字的位数。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1.F-(1)~(3)</a:t>
            </a:r>
            <a:r>
              <a:rPr kumimoji="1" lang="zh-CN" altLang="en-US" sz="1600" b="1" dirty="0">
                <a:latin typeface="+mn-ea"/>
              </a:rPr>
              <a:t>中的数据类型换为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型（有效位数为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位），自行构造测试数据，验证总结出的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数据的显示规律是否同样适用于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型（如果适用，不用贴图，如果不适用，贴对应代码及运行截图）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适用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05474" y="1323974"/>
            <a:ext cx="512993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1133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f1 = 1234.5678F;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f2 = 8765.4321F;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::fixed)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909545" y="2438400"/>
            <a:ext cx="1967005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2905" y="2794635"/>
            <a:ext cx="5615305" cy="14573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1133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f1 = 1234567890123456789.0F;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f2 = 9876543210987654321.0F;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::fixed)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05476" y="1323974"/>
            <a:ext cx="51299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909545" y="2438400"/>
            <a:ext cx="2757580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4975" y="3383280"/>
            <a:ext cx="8391525" cy="1452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(3)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1133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f1 = 0.12345678F;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f2 = 0.87654321F;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::fixed)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05476" y="1323974"/>
            <a:ext cx="51299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909545" y="2438400"/>
            <a:ext cx="1884481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775" y="3429000"/>
            <a:ext cx="510540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1323973"/>
            <a:ext cx="1024733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</a:t>
            </a:r>
            <a:r>
              <a:rPr kumimoji="1" lang="en-US" altLang="zh-CN" sz="1600" b="1" dirty="0" err="1">
                <a:latin typeface="+mn-ea"/>
              </a:rPr>
              <a:t>setprecision+ios</a:t>
            </a:r>
            <a:r>
              <a:rPr kumimoji="1" lang="en-US" altLang="zh-CN" sz="1600" b="1" dirty="0">
                <a:latin typeface="+mn-ea"/>
              </a:rPr>
              <a:t>::fixed</a:t>
            </a:r>
            <a:r>
              <a:rPr kumimoji="1" lang="zh-CN" altLang="en-US" sz="1600" b="1" dirty="0">
                <a:latin typeface="+mn-ea"/>
              </a:rPr>
              <a:t>使用时的显示规律总结（如果数据不够，可以再自己构造测试数据）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ios::fixed会使输出的浮点数采用固定小数点表示法，而setprecision指定的是小数点后的位数。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如果数据本身的小数位数不足setprecision指定的位数，会在后面补 0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1.G-(1)~(3)</a:t>
            </a:r>
            <a:r>
              <a:rPr kumimoji="1" lang="zh-CN" altLang="en-US" sz="1600" b="1" dirty="0">
                <a:latin typeface="+mn-ea"/>
              </a:rPr>
              <a:t>中的数据类型换为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型（有效位数为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位），自行构造测试数据，验证总结出的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数据的显示规律是否同样适用于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型（如果适用，不用贴图，如果不适用，贴对应代码及运行截图）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适用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399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f1 = 1234.5678F;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f2 = 8765.4321F;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&lt;&lt; "1234567" &lt;&lt; </a:t>
            </a:r>
            <a:r>
              <a:rPr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;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改学号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::scientific)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91226" y="1323974"/>
            <a:ext cx="48441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909545" y="2438400"/>
            <a:ext cx="1884481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1225" y="3345180"/>
            <a:ext cx="5748655" cy="16624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399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f1 = 1234567890123456789.0F;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f2 = 9876543210987654321.0F;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::scientific)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91226" y="1323974"/>
            <a:ext cx="48441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909545" y="2438400"/>
            <a:ext cx="2757580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1225" y="3351530"/>
            <a:ext cx="5862955" cy="1529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(3)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399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f1 = 0.12345678F;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f2 = 0.87654321F;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::scientific)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91226" y="1323974"/>
            <a:ext cx="48441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909545" y="2438400"/>
            <a:ext cx="1884481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1225" y="3043555"/>
            <a:ext cx="5734050" cy="14243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88076" y="1333599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</a:t>
            </a:r>
            <a:r>
              <a:rPr kumimoji="1" lang="en-US" altLang="zh-CN" sz="1600" b="1" dirty="0" err="1">
                <a:latin typeface="+mn-ea"/>
              </a:rPr>
              <a:t>setprecision+ios</a:t>
            </a:r>
            <a:r>
              <a:rPr kumimoji="1" lang="en-US" altLang="zh-CN" sz="1600" b="1" dirty="0">
                <a:latin typeface="+mn-ea"/>
              </a:rPr>
              <a:t>::scientific</a:t>
            </a:r>
            <a:r>
              <a:rPr kumimoji="1" lang="zh-CN" altLang="en-US" sz="1600" b="1" dirty="0">
                <a:latin typeface="+mn-ea"/>
              </a:rPr>
              <a:t>使用时的显示规律总结（如果数据不够，可以再自己构造测试数据）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ios::scientific会使浮点数以科学计数法的形式输出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如果数据本身转换为科学计数法形式后，a部分的小数位数不足setprecision指定的位数，会在后面补 0；如果超过指定的位数，则按照四舍五入规则保留相应位数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1.H-(1)~(3)</a:t>
            </a:r>
            <a:r>
              <a:rPr kumimoji="1" lang="zh-CN" altLang="en-US" sz="1600" b="1" dirty="0">
                <a:latin typeface="+mn-ea"/>
              </a:rPr>
              <a:t>中的数据类型换为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型（有效位数为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位），自行构造测试数据，验证总结出的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数据的显示规律是否同样适用于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型（如果适用，不用贴图，如果不适用，贴对应代码及运行截图）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适用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I.ios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的混合使用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错误用法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77612" y="1323975"/>
            <a:ext cx="5257799" cy="320992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    </a:t>
            </a:r>
            <a:endParaRPr lang="fr-FR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  <a:endParaRPr lang="fr-FR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4985497" cy="320992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  <a:endParaRPr lang="fr-FR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</a:t>
            </a:r>
            <a:endParaRPr lang="fr-FR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96153" y="4533900"/>
            <a:ext cx="4981460" cy="20002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577612" y="4533900"/>
            <a:ext cx="5257799" cy="20002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265" y="5001895"/>
            <a:ext cx="4015105" cy="742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975" y="4953000"/>
            <a:ext cx="4053205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I.ios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的混合使用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在上一页的基础上将程序改正确，并给出截图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77611" y="1323974"/>
            <a:ext cx="525780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    </a:t>
            </a:r>
            <a:endParaRPr lang="fr-FR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  <a:endParaRPr lang="fr-FR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86629" y="1323973"/>
            <a:ext cx="499098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  <a:endParaRPr lang="fr-FR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</a:t>
            </a:r>
            <a:endParaRPr lang="fr-FR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6629" y="4533900"/>
            <a:ext cx="4990982" cy="1000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577610" y="4533900"/>
            <a:ext cx="5257801" cy="1000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86630" y="5534025"/>
            <a:ext cx="10248782" cy="10001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再强调一遍，先去读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P.5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，后续不再提示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如果想要在一个程序中同时显示</a:t>
            </a:r>
            <a:r>
              <a:rPr kumimoji="1" lang="en-US" altLang="zh-CN" sz="1600" b="1" dirty="0">
                <a:latin typeface="+mn-ea"/>
              </a:rPr>
              <a:t>fixed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scientific</a:t>
            </a:r>
            <a:r>
              <a:rPr kumimoji="1" lang="zh-CN" altLang="en-US" sz="1600" b="1" dirty="0">
                <a:latin typeface="+mn-ea"/>
              </a:rPr>
              <a:t>形式，需要在两者之间加入一句：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________	cout &lt;&lt; resetiosflags(ios::fixed | ios::scientific);________________________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2405"/>
            <a:ext cx="7396480" cy="38804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J.setw</a:t>
            </a:r>
            <a:r>
              <a:rPr lang="zh-CN" altLang="en-US" sz="1600" b="1" dirty="0">
                <a:latin typeface="+mn-ea"/>
              </a:rPr>
              <a:t>的基本使用 </a:t>
            </a:r>
            <a:r>
              <a:rPr lang="en-US" altLang="zh-CN" sz="1600" b="1" dirty="0">
                <a:latin typeface="+mn-ea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7628" y="1323974"/>
            <a:ext cx="5117783" cy="359486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12551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a = 12345;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&lt;&lt; "1234567" &lt;&lt; </a:t>
            </a:r>
            <a:r>
              <a:rPr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;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改学号</a:t>
            </a:r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"0         1         2         3" &lt;&lt; endl;</a:t>
            </a:r>
            <a:endParaRPr lang="fr-FR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(3)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(6)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(15)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2114" y="4918841"/>
            <a:ext cx="10243297" cy="161530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指定的宽度是总宽度，当总宽度大于数据宽度时，显示规律为</a:t>
            </a:r>
            <a:r>
              <a:rPr kumimoji="1" lang="en-US" altLang="zh-CN" sz="1600" b="1" dirty="0">
                <a:latin typeface="+mn-ea"/>
              </a:rPr>
              <a:t>_在数据左侧填充setw指定的宽度</a:t>
            </a:r>
            <a:r>
              <a:rPr kumimoji="1" lang="zh-CN" altLang="en-US" sz="1600" b="1" dirty="0">
                <a:latin typeface="+mn-ea"/>
              </a:rPr>
              <a:t>个</a:t>
            </a:r>
            <a:r>
              <a:rPr kumimoji="1" lang="en-US" altLang="zh-CN" sz="1600" b="1" dirty="0">
                <a:latin typeface="+mn-ea"/>
              </a:rPr>
              <a:t>空格__</a:t>
            </a:r>
            <a:r>
              <a:rPr kumimoji="1" lang="zh-CN" altLang="en-US" sz="1600" b="1" dirty="0">
                <a:latin typeface="+mn-ea"/>
              </a:rPr>
              <a:t>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                        当总宽度小于数据宽度时，显示规律为 </a:t>
            </a:r>
            <a:r>
              <a:rPr kumimoji="1" lang="en-US" altLang="zh-CN" sz="1600" b="1" dirty="0">
                <a:latin typeface="+mn-ea"/>
              </a:rPr>
              <a:t>__按数据实际宽度输出，setw指定的宽度失效_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的设置后，对后面的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  <a:sym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、程序最前面两行的输出，目的是什么？提供参考刻度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、每行输出的最后一个</a:t>
            </a:r>
            <a:r>
              <a:rPr kumimoji="1" lang="en-US" altLang="zh-CN" sz="1600" b="1" dirty="0">
                <a:latin typeface="+mn-ea"/>
              </a:rPr>
              <a:t>*</a:t>
            </a:r>
            <a:r>
              <a:rPr kumimoji="1" lang="zh-CN" altLang="en-US" sz="1600" b="1" dirty="0">
                <a:latin typeface="+mn-ea"/>
              </a:rPr>
              <a:t>，目的是什么？方便直观判断数据输出是否完整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7755" y="2466340"/>
            <a:ext cx="3733800" cy="131000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J.setw</a:t>
            </a:r>
            <a:r>
              <a:rPr lang="zh-CN" altLang="en-US" sz="1600" b="1" dirty="0">
                <a:latin typeface="+mn-ea"/>
              </a:rPr>
              <a:t>的基本使用 </a:t>
            </a:r>
            <a:r>
              <a:rPr lang="en-US" altLang="zh-CN" sz="1600" b="1" dirty="0">
                <a:latin typeface="+mn-ea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7628" y="1323974"/>
            <a:ext cx="5117783" cy="359486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12551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double a = 0.123456789012345;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"0         1         2         3" &lt;&lt; endl;</a:t>
            </a:r>
            <a:endParaRPr lang="fr-FR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(6)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(9)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(15)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(30)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2114" y="4918841"/>
            <a:ext cx="10243297" cy="161530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指定的宽度是总宽度，对于实型数据，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  <a:sym typeface="+mn-ea"/>
              </a:rPr>
              <a:t>包含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包含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不包含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小数点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6645" y="2437130"/>
            <a:ext cx="3748405" cy="11195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K.setw+setfill</a:t>
            </a:r>
            <a:r>
              <a:rPr lang="zh-CN" altLang="en-US" sz="1600" b="1" dirty="0">
                <a:latin typeface="+mn-ea"/>
              </a:rPr>
              <a:t>的使用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66810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a = 12345;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"0         1         2         3" &lt;&lt; endl;</a:t>
            </a:r>
            <a:endParaRPr lang="fr-FR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('=')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(15)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('-')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273158" y="1323972"/>
            <a:ext cx="3562254" cy="33321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88076" y="4656083"/>
            <a:ext cx="10247336" cy="187806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setfill</a:t>
            </a:r>
            <a:r>
              <a:rPr kumimoji="1" lang="zh-CN" altLang="en-US" sz="1600" b="1" dirty="0">
                <a:latin typeface="+mn-ea"/>
              </a:rPr>
              <a:t>的作用是</a:t>
            </a:r>
            <a:r>
              <a:rPr kumimoji="1" lang="en-US" altLang="zh-CN" sz="1600" b="1" dirty="0">
                <a:latin typeface="+mn-ea"/>
              </a:rPr>
              <a:t>___设置填充字符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当使用setw指定的宽度大于数据实际宽度时，用setfill设置的字符填充空白位置____________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setfill</a:t>
            </a:r>
            <a:r>
              <a:rPr kumimoji="1" lang="zh-CN" altLang="en-US" sz="1600" b="1" dirty="0">
                <a:latin typeface="+mn-ea"/>
              </a:rPr>
              <a:t>的设置后，对后面的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  <a:sym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、解释为什么第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行的第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个数</a:t>
            </a:r>
            <a:r>
              <a:rPr kumimoji="1" lang="en-US" altLang="zh-CN" sz="1600" b="1" dirty="0">
                <a:latin typeface="+mn-ea"/>
              </a:rPr>
              <a:t>(12346)</a:t>
            </a:r>
            <a:r>
              <a:rPr kumimoji="1" lang="zh-CN" altLang="en-US" sz="1600" b="1" dirty="0">
                <a:latin typeface="+mn-ea"/>
              </a:rPr>
              <a:t>前面没有</a:t>
            </a:r>
            <a:r>
              <a:rPr kumimoji="1" lang="en-US" altLang="zh-CN" sz="1600" b="1" dirty="0">
                <a:latin typeface="+mn-ea"/>
              </a:rPr>
              <a:t>-  </a:t>
            </a:r>
            <a:r>
              <a:rPr kumimoji="1" lang="zh-CN" altLang="en-US" sz="1600" b="1" dirty="0">
                <a:latin typeface="+mn-ea"/>
                <a:sym typeface="+mn-ea"/>
              </a:rPr>
              <a:t>因为setw的设置只对紧接着的一个数据有效</a:t>
            </a:r>
            <a:endParaRPr kumimoji="1" lang="zh-CN" altLang="en-US" sz="1600" b="1" dirty="0">
              <a:latin typeface="+mn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215" y="2435225"/>
            <a:ext cx="3757930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L.setw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::left/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</a:t>
            </a:r>
            <a:r>
              <a:rPr lang="zh-CN" altLang="en-US" sz="1600" b="1" dirty="0">
                <a:latin typeface="+mn-ea"/>
              </a:rPr>
              <a:t>的混合使用 </a:t>
            </a:r>
            <a:r>
              <a:rPr lang="en-US" altLang="zh-CN" sz="1600" b="1" dirty="0">
                <a:latin typeface="+mn-ea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5" y="3832160"/>
            <a:ext cx="6901761" cy="27019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a = 12345;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         1         2         3"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('=')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::left);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('=')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6901761" cy="25081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int a = 12345;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         1         2         3"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493876" y="1323973"/>
            <a:ext cx="3341536" cy="250818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493876" y="3832158"/>
            <a:ext cx="3341536" cy="27019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854273" y="3832157"/>
            <a:ext cx="4643641" cy="9421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ios</a:t>
            </a:r>
            <a:r>
              <a:rPr kumimoji="1" lang="en-US" altLang="zh-CN" sz="1600" b="1" dirty="0">
                <a:latin typeface="+mn-ea"/>
              </a:rPr>
              <a:t>::left</a:t>
            </a:r>
            <a:r>
              <a:rPr kumimoji="1" lang="zh-CN" altLang="en-US" sz="1600" b="1" dirty="0">
                <a:latin typeface="+mn-ea"/>
              </a:rPr>
              <a:t>的作用是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调整为左对齐</a:t>
            </a:r>
            <a:r>
              <a:rPr kumimoji="1" lang="en-US" altLang="zh-CN" sz="1600" b="1" dirty="0">
                <a:latin typeface="+mn-ea"/>
              </a:rPr>
              <a:t>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、如果不设置，缺省是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  <a:sym typeface="+mn-ea"/>
              </a:rPr>
              <a:t>右对齐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左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右对齐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9465" y="2165985"/>
            <a:ext cx="3810000" cy="8242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635" y="4951095"/>
            <a:ext cx="3710305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L.setw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::left/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</a:t>
            </a:r>
            <a:r>
              <a:rPr lang="zh-CN" altLang="en-US" sz="1600" b="1" dirty="0">
                <a:latin typeface="+mn-ea"/>
              </a:rPr>
              <a:t>的混合使用 </a:t>
            </a:r>
            <a:r>
              <a:rPr lang="en-US" altLang="zh-CN" sz="1600" b="1" dirty="0">
                <a:latin typeface="+mn-ea"/>
              </a:rPr>
              <a:t>- (2) - </a:t>
            </a:r>
            <a:r>
              <a:rPr lang="zh-CN" altLang="en-US" sz="1600" b="1" dirty="0">
                <a:latin typeface="+mn-ea"/>
              </a:rPr>
              <a:t>同时使用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6897723" cy="27855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int a = 12345;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  <a:endParaRPr lang="fr-FR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489838" y="1323972"/>
            <a:ext cx="3345574" cy="278557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489838" y="4109545"/>
            <a:ext cx="3345574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92115" y="4109545"/>
            <a:ext cx="6897723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int a = 12345;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  <a:endParaRPr lang="fr-FR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9825" y="2406015"/>
            <a:ext cx="3724275" cy="9715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9825" y="4827270"/>
            <a:ext cx="3733800" cy="8147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L.setw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::left/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</a:t>
            </a:r>
            <a:r>
              <a:rPr lang="zh-CN" altLang="en-US" sz="1600" b="1" dirty="0">
                <a:latin typeface="+mn-ea"/>
              </a:rPr>
              <a:t>的混合使用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在上一页的基础上将程序改正确，并给出截图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6897723" cy="27855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int a = 12345;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  <a:endParaRPr lang="fr-FR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489838" y="1323972"/>
            <a:ext cx="3345574" cy="278557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489838" y="4109545"/>
            <a:ext cx="3345574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92115" y="4109545"/>
            <a:ext cx="6897723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int a = 12345;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  <a:endParaRPr lang="fr-FR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574532" y="4109543"/>
            <a:ext cx="4915306" cy="840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如果想要</a:t>
            </a:r>
            <a:r>
              <a:rPr kumimoji="1" lang="en-US" altLang="zh-CN" sz="1200" b="1" dirty="0">
                <a:latin typeface="+mn-ea"/>
              </a:rPr>
              <a:t>right</a:t>
            </a:r>
            <a:r>
              <a:rPr kumimoji="1" lang="zh-CN" altLang="en-US" sz="1200" b="1" dirty="0">
                <a:latin typeface="+mn-ea"/>
              </a:rPr>
              <a:t>对齐后再</a:t>
            </a:r>
            <a:r>
              <a:rPr kumimoji="1" lang="en-US" altLang="zh-CN" sz="1200" b="1" dirty="0">
                <a:latin typeface="+mn-ea"/>
              </a:rPr>
              <a:t>left</a:t>
            </a:r>
            <a:r>
              <a:rPr kumimoji="1" lang="zh-CN" altLang="en-US" sz="1200" b="1" dirty="0">
                <a:latin typeface="+mn-ea"/>
              </a:rPr>
              <a:t>对齐，需要在两者之间加入一句：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____________________________________________________________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820" y="2306320"/>
            <a:ext cx="1055497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基本要求：从键盘输入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进制数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short 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hex &gt;&gt; a;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:" &lt;&lt; 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"hex:" &lt;&lt; hex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"oct:" &lt;&lt; oct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953000" y="1323974"/>
            <a:ext cx="58824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1a2b↙ </a:t>
            </a:r>
            <a:r>
              <a:rPr kumimoji="1" lang="zh-CN" altLang="en-US" sz="1600" b="1" dirty="0">
                <a:latin typeface="+mn-ea"/>
              </a:rPr>
              <a:t>（合理正数）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a1b2↙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 err="1">
                <a:latin typeface="+mn-ea"/>
              </a:rPr>
              <a:t>fffff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-1a2b↙</a:t>
            </a:r>
            <a:r>
              <a:rPr kumimoji="1" lang="zh-CN" altLang="en-US" sz="1600" b="1" dirty="0">
                <a:latin typeface="+mn-ea"/>
              </a:rPr>
              <a:t>（合理负数）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</a:t>
            </a:r>
            <a:r>
              <a:rPr kumimoji="1" lang="en-US" altLang="zh-CN" sz="1600" b="1" dirty="0" err="1">
                <a:latin typeface="+mn-ea"/>
              </a:rPr>
              <a:t>fffff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、暂不考虑输入错误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7370" y="1236980"/>
            <a:ext cx="952500" cy="6051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035" y="1677035"/>
            <a:ext cx="971550" cy="600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35" y="2479675"/>
            <a:ext cx="971550" cy="600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575" y="2842895"/>
            <a:ext cx="1143000" cy="6623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300" y="3887470"/>
            <a:ext cx="1285875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基本要求：从键盘输入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进制数（自行构造测试数据）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&lt;&lt; "1234567" &lt;&lt; 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endl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改学号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en-US" altLang="zh-CN" sz="1600" b="1" dirty="0" err="1">
                <a:latin typeface="+mn-ea"/>
              </a:rPr>
              <a:t>setbase</a:t>
            </a:r>
            <a:r>
              <a:rPr lang="en-US" altLang="zh-CN" sz="1600" b="1" dirty="0">
                <a:latin typeface="+mn-ea"/>
              </a:rPr>
              <a:t>(8) &gt;&gt; a;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:" &lt;&lt; 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"hex:" &lt;&lt; hex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"oct:" &lt;&lt; oct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953000" y="1323974"/>
            <a:ext cx="58824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123</a:t>
            </a:r>
            <a:r>
              <a:rPr kumimoji="1" lang="en-US" altLang="zh-CN" sz="1600" b="1" dirty="0">
                <a:latin typeface="+mn-ea"/>
              </a:rPr>
              <a:t>_↙ </a:t>
            </a:r>
            <a:r>
              <a:rPr kumimoji="1" lang="zh-CN" altLang="en-US" sz="1600" b="1" dirty="0">
                <a:latin typeface="+mn-ea"/>
              </a:rPr>
              <a:t>（合理正数）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_37777777777_ 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_40000000000_ 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_-</a:t>
            </a:r>
            <a:r>
              <a:rPr kumimoji="1" lang="en-US" altLang="zh-CN" sz="1600" b="1" dirty="0">
                <a:latin typeface="+mn-ea"/>
                <a:sym typeface="+mn-ea"/>
              </a:rPr>
              <a:t>123</a:t>
            </a:r>
            <a:r>
              <a:rPr kumimoji="1" lang="en-US" altLang="zh-CN" sz="1600" b="1" dirty="0">
                <a:latin typeface="+mn-ea"/>
              </a:rPr>
              <a:t>_ ↙</a:t>
            </a:r>
            <a:r>
              <a:rPr kumimoji="1" lang="zh-CN" altLang="en-US" sz="1600" b="1" dirty="0">
                <a:latin typeface="+mn-ea"/>
              </a:rPr>
              <a:t>（合理负数）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_-</a:t>
            </a:r>
            <a:r>
              <a:rPr kumimoji="1" lang="en-US" altLang="zh-CN" sz="1600" b="1" dirty="0">
                <a:latin typeface="+mn-ea"/>
                <a:sym typeface="+mn-ea"/>
              </a:rPr>
              <a:t>40000000000</a:t>
            </a:r>
            <a:r>
              <a:rPr kumimoji="1" lang="en-US" altLang="zh-CN" sz="1600" b="1" dirty="0">
                <a:latin typeface="+mn-ea"/>
              </a:rPr>
              <a:t>_↙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、暂不考虑输入错误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255" y="1438910"/>
            <a:ext cx="862330" cy="9004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255" y="2606675"/>
            <a:ext cx="1543050" cy="89090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格式控制符</a:t>
            </a:r>
            <a:r>
              <a:rPr lang="en-US" altLang="zh-CN" sz="1600" b="1" dirty="0" err="1">
                <a:latin typeface="+mn-ea"/>
              </a:rPr>
              <a:t>setiosflags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</a:t>
            </a:r>
            <a:r>
              <a:rPr lang="en-US" altLang="zh-CN" sz="1600" b="1" dirty="0" err="1">
                <a:latin typeface="+mn-ea"/>
              </a:rPr>
              <a:t>skipws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的使用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92114" y="1323975"/>
            <a:ext cx="267496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267076" y="1323974"/>
            <a:ext cx="401659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setiosflags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skipws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 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283669" y="1323974"/>
            <a:ext cx="355578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cin.unsetf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skipws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 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2113" y="4645572"/>
            <a:ext cx="2674961" cy="188857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假设键盘输入为：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12 34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则输出为：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___12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2" indent="4572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34_____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3267075" y="4645572"/>
            <a:ext cx="4016592" cy="188857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假设键盘输入为：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12 34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则输出为：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7283667" y="4645571"/>
            <a:ext cx="3555782" cy="18887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假设键盘输入为：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12 34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则输出为：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92112" y="5423338"/>
            <a:ext cx="10247336" cy="11108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综合以上三个例子可以得到如下结论：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忽略前导空格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的意思，是空格不作为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_输入数据_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，而是做为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_数据间的分隔符_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（因此导致第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个例子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未取得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34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setiosflags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skipws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在缺省情况下是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有效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的，即不设置也生效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、如果想取消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忽略前导空格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的设置，应使用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_cin.unsetf(ios::skipws); 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5485" y="5026025"/>
            <a:ext cx="381000" cy="3289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420" y="4964430"/>
            <a:ext cx="25273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21967</Words>
  <Application>WPS 演示</Application>
  <PresentationFormat>宽屏</PresentationFormat>
  <Paragraphs>1121</Paragraphs>
  <Slides>36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wps</cp:lastModifiedBy>
  <cp:revision>241</cp:revision>
  <dcterms:created xsi:type="dcterms:W3CDTF">2020-08-13T13:39:00Z</dcterms:created>
  <dcterms:modified xsi:type="dcterms:W3CDTF">2025-03-15T10:47:51Z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D87B696A3D9D4C5CBE9DBCF77D6ACB52_12</vt:lpwstr>
  </property>
  <property fmtid="{D5CDD505-2E9C-101B-9397-08002B2CF9AE}" pid="3" name="KSOProductBuildVer">
    <vt:lpwstr>2052-12.8.2.15091</vt:lpwstr>
  </property>
</Properties>
</file>