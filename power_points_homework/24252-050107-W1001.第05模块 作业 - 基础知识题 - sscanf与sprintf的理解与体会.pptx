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552" r:id="rId3"/>
    <p:sldId id="1309" r:id="rId4"/>
    <p:sldId id="644" r:id="rId6"/>
    <p:sldId id="558" r:id="rId7"/>
    <p:sldId id="1241" r:id="rId8"/>
    <p:sldId id="1240" r:id="rId9"/>
    <p:sldId id="645" r:id="rId10"/>
    <p:sldId id="1242" r:id="rId11"/>
    <p:sldId id="1243" r:id="rId12"/>
    <p:sldId id="1244" r:id="rId13"/>
    <p:sldId id="1245" r:id="rId14"/>
    <p:sldId id="1246" r:id="rId15"/>
    <p:sldId id="1247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1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D9F12-298F-4BA9-885E-BCD438E8F58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C42DF3-6CE2-4BE7-9CDC-EAAC6AF6F41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33B832-CABD-439C-B200-DDE8714B0B3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DC15D7-5788-41E7-9CAD-BCD4FE0C0C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29E1C2-8757-4943-BB0D-44D6A40AC3C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2EE0AD-AA26-4B0C-B2A5-065307B692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4B751-1B33-4FAC-96B1-4F4734F155A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FADDAC-226E-4E74-A9C7-8EDB750CC12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0F1364-7677-4F0D-B113-A10E8B7764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AEEE96-D9F8-4AA5-9180-644B18AD31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7B05AA-070D-443F-9B69-C3D4A9E3AB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3E456CB-F1D9-4742-BD7D-0EF249B6CED9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en-US" altLang="zh-CN" sz="28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、完成本文档中所有的测试程序并填写运行结果，从而体会这些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的流成员函数的用法及区别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>
                <a:solidFill>
                  <a:srgbClr val="FF0000"/>
                </a:solidFill>
                <a:latin typeface="+mn-ea"/>
              </a:rPr>
              <a:t>1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zh-CN" altLang="en-US" sz="1600" b="1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编辑窗的右下角是否为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46" y="1623695"/>
            <a:ext cx="9229725" cy="5019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>
              <a:spcBef>
                <a:spcPts val="385"/>
              </a:spcBef>
            </a:pPr>
            <a:endParaRPr lang="en-US" altLang="zh-CN" sz="1600" b="1" dirty="0">
              <a:latin typeface="+mn-ea"/>
            </a:endParaRPr>
          </a:p>
          <a:p>
            <a:pPr algn="l">
              <a:spcBef>
                <a:spcPts val="385"/>
              </a:spcBef>
            </a:pPr>
            <a:r>
              <a:rPr lang="zh-CN" altLang="en-US" sz="1600" b="1" dirty="0">
                <a:latin typeface="+mn-ea"/>
              </a:rPr>
              <a:t>基本概念：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int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字符数组，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格式串</a:t>
            </a:r>
            <a:r>
              <a:rPr lang="en-US" altLang="zh-CN" sz="1600" b="1" dirty="0">
                <a:latin typeface="+mn-ea"/>
              </a:rPr>
              <a:t>", </a:t>
            </a:r>
            <a:r>
              <a:rPr lang="zh-CN" altLang="en-US" sz="1600" b="1" dirty="0">
                <a:latin typeface="+mn-ea"/>
              </a:rPr>
              <a:t>输出表列</a:t>
            </a:r>
            <a:r>
              <a:rPr lang="en-US" altLang="zh-CN" sz="1600" b="1" dirty="0">
                <a:latin typeface="+mn-ea"/>
              </a:rPr>
              <a:t>);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返回值是输出字符的个数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同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printf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字符数组要有足够空间容纳输出的数据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否则越界错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格式串同</a:t>
            </a:r>
            <a:r>
              <a:rPr lang="en-US" altLang="zh-CN" sz="1600" b="1" dirty="0" err="1">
                <a:latin typeface="+mn-ea"/>
              </a:rPr>
              <a:t>printf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VS</a:t>
            </a:r>
            <a:r>
              <a:rPr lang="zh-CN" altLang="en-US" sz="1600" b="1" dirty="0">
                <a:latin typeface="+mn-ea"/>
              </a:rPr>
              <a:t>下需加 </a:t>
            </a:r>
            <a:r>
              <a:rPr lang="en-US" altLang="zh-CN" sz="1600" b="1" dirty="0">
                <a:latin typeface="+mn-ea"/>
              </a:rPr>
              <a:t>#define _CRT_SECURE_NO_WARNINGS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int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字符数组，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格式串</a:t>
            </a:r>
            <a:r>
              <a:rPr lang="en-US" altLang="zh-CN" sz="1600" b="1" dirty="0">
                <a:latin typeface="+mn-ea"/>
              </a:rPr>
              <a:t>", </a:t>
            </a:r>
            <a:r>
              <a:rPr lang="zh-CN" altLang="en-US" sz="1600" b="1" dirty="0">
                <a:latin typeface="+mn-ea"/>
              </a:rPr>
              <a:t>输入地址表列</a:t>
            </a:r>
            <a:r>
              <a:rPr lang="en-US" altLang="zh-CN" sz="1600" b="1" dirty="0">
                <a:latin typeface="+mn-ea"/>
              </a:rPr>
              <a:t>);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返回值是正确读入的输入数据的个数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同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scanf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格式串同</a:t>
            </a:r>
            <a:r>
              <a:rPr lang="en-US" altLang="zh-CN" sz="1600" b="1" dirty="0" err="1">
                <a:latin typeface="+mn-ea"/>
              </a:rPr>
              <a:t>scanf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VS</a:t>
            </a:r>
            <a:r>
              <a:rPr lang="zh-CN" altLang="en-US" sz="1600" b="1" dirty="0">
                <a:latin typeface="+mn-ea"/>
              </a:rPr>
              <a:t>下需加 </a:t>
            </a:r>
            <a:r>
              <a:rPr lang="en-US" altLang="zh-CN" sz="1600" b="1" dirty="0">
                <a:latin typeface="+mn-ea"/>
              </a:rPr>
              <a:t>#define _CRT_SECURE_NO_WARNINGS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str[80];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k=123,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double pi=3.1415925;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(str, "k=%-4d*pi=%.2f#", k, pi);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("str : %s\n", str);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输出结果：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 : 15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 : k=123 *pi=3.14#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7451124" y="1244869"/>
            <a:ext cx="4385741" cy="125119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、本作业的所有程序，均在</a:t>
            </a:r>
            <a:r>
              <a:rPr kumimoji="1" lang="en-US" altLang="zh-CN" sz="2400" b="1" dirty="0">
                <a:solidFill>
                  <a:srgbClr val="FF0000"/>
                </a:solidFill>
                <a:latin typeface="+mn-ea"/>
              </a:rPr>
              <a:t>.c</a:t>
            </a:r>
            <a:endParaRPr kumimoji="1" lang="en-US" altLang="zh-CN" sz="24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  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方式下运行，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后续不再提示</a:t>
            </a:r>
            <a:endParaRPr kumimoji="1" lang="en-US" altLang="zh-CN" sz="24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2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、认真阅读第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5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章课件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!!!</a:t>
            </a: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str[80];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k=123,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double pi=3.1415925;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(str, "k=%6dpi=%10.2f", k, pi);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("str : %s\n", str);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 : 21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 : k=   123pi=      3.14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结合例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sprintf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的返回值是：字符串的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字符数量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str[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k=123,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double pi=3.1415925;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(str, "k=%-4d*pi=%.2f#", k, pi);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("str : %s\n", str);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 : 15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 : k=123 *pi=3.14#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结合例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1/2/3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sprintf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使用时对字符数组的要求是：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&gt;=ret+1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295014" y="1244870"/>
            <a:ext cx="1562985" cy="4776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VS+Dev</a:t>
            </a: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9130" y="1134745"/>
            <a:ext cx="4310380" cy="308165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str[80] = "Hello 123 11.2",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ret;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double 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(str, "%s %d 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s,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&amp;d);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("s=%s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=%d d=%f\n", s,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d);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输出结果：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 : 3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s=Hello i=123 d=11.200000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str[80] = "123Hello";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ret;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&amp;j);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ret : 1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i=123 j=-858993460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结合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例和例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5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sscanf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的返回值是：</a:t>
            </a:r>
            <a:r>
              <a:rPr lang="zh-CN" altLang="en-US" sz="1600" b="1" dirty="0">
                <a:latin typeface="+mn-ea"/>
                <a:sym typeface="+mn-ea"/>
              </a:rPr>
              <a:t>正确读入的输入数据的个数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str[80] = "123 456";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ret;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&amp;j);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&amp;j,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); 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顺序反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本例说明，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str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中的内容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可以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（可以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不可以）被重复读取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6045" y="4901565"/>
            <a:ext cx="1819275" cy="8096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str[80] = "123 456";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ret;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&amp;j);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("str=%s\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ni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str,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=%d j=%d",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j);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("str=\"%s\"\n", str);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本例说明，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str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中的内容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可以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（可以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不可以）被替换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5385" y="4735195"/>
            <a:ext cx="1833880" cy="9334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165" y="1244600"/>
            <a:ext cx="6312535" cy="451421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#define _CRT_SECURE_NO_WARNINGS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int x, w;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</a:t>
            </a:r>
            <a:r>
              <a:rPr lang="zh-CN" altLang="en-US" sz="1600" b="1" dirty="0">
                <a:latin typeface="+mn-ea"/>
              </a:rPr>
              <a:t>请输入</a:t>
            </a:r>
            <a:r>
              <a:rPr lang="en-US" altLang="zh-CN" sz="1600" b="1" dirty="0">
                <a:latin typeface="+mn-ea"/>
              </a:rPr>
              <a:t>[1..99999]</a:t>
            </a:r>
            <a:r>
              <a:rPr lang="zh-CN" altLang="en-US" sz="1600" b="1" dirty="0">
                <a:latin typeface="+mn-ea"/>
              </a:rPr>
              <a:t>间的整数及显示宽度</a:t>
            </a:r>
            <a:r>
              <a:rPr lang="en-US" altLang="zh-CN" sz="1600" b="1" dirty="0">
                <a:latin typeface="+mn-ea"/>
              </a:rPr>
              <a:t>[6..10]\n");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("%d %d", &amp;x, &amp;w);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不考虑输入错误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("01234567890123456789\n");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标尺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endParaRPr lang="zh-CN" altLang="en-US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>
                <a:latin typeface="+mn-ea"/>
              </a:rPr>
              <a:t>char </a:t>
            </a:r>
            <a:r>
              <a:rPr lang="en-US" altLang="zh-CN" sz="1600" b="1" dirty="0" err="1">
                <a:latin typeface="+mn-ea"/>
              </a:rPr>
              <a:t>fmt</a:t>
            </a:r>
            <a:r>
              <a:rPr lang="en-US" altLang="zh-CN" sz="1600" b="1" dirty="0">
                <a:latin typeface="+mn-ea"/>
              </a:rPr>
              <a:t>[16];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sprintf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fmt</a:t>
            </a:r>
            <a:r>
              <a:rPr lang="en-US" altLang="zh-CN" sz="1600" b="1" dirty="0">
                <a:latin typeface="+mn-ea"/>
              </a:rPr>
              <a:t>, "%%%dd*\n", w);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fmt</a:t>
            </a:r>
            <a:r>
              <a:rPr lang="en-US" altLang="zh-CN" sz="1600" b="1" dirty="0">
                <a:latin typeface="+mn-ea"/>
              </a:rPr>
              <a:t>, x);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870065" y="1244600"/>
            <a:ext cx="3470275" cy="451421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3 6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01234567890123456789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3*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123 6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01234567890123456789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123*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12345 6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01234567890123456789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12345*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3 9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  <a:sym typeface="+mn-ea"/>
              </a:rPr>
              <a:t>01234567890123456789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  <a:sym typeface="+mn-ea"/>
              </a:rPr>
              <a:t>                  3*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5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123 9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  <a:sym typeface="+mn-ea"/>
              </a:rPr>
              <a:t>01234567890123456789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  <a:sym typeface="+mn-ea"/>
              </a:rPr>
              <a:t>                123*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12345 9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  <a:sym typeface="+mn-ea"/>
              </a:rPr>
              <a:t>01234567890123456789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  <a:sym typeface="+mn-ea"/>
              </a:rPr>
              <a:t>              12345*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400080" y="5387975"/>
            <a:ext cx="3470278" cy="37070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别去网上瞎查，认真阅读第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5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章课件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：键盘输入一个长度</a:t>
            </a:r>
            <a:r>
              <a:rPr lang="en-US" altLang="zh-CN" sz="1600" b="1" dirty="0">
                <a:latin typeface="+mn-ea"/>
              </a:rPr>
              <a:t>[3..12]</a:t>
            </a:r>
            <a:r>
              <a:rPr lang="zh-CN" altLang="en-US" sz="1600" b="1" dirty="0">
                <a:latin typeface="+mn-ea"/>
              </a:rPr>
              <a:t>间字符串，再输入显示宽度</a:t>
            </a:r>
            <a:r>
              <a:rPr lang="en-US" altLang="zh-CN" sz="1600" b="1" dirty="0">
                <a:latin typeface="+mn-ea"/>
              </a:rPr>
              <a:t>[</a:t>
            </a:r>
            <a:r>
              <a:rPr lang="zh-CN" altLang="en-US" sz="1600" b="1" dirty="0">
                <a:latin typeface="+mn-ea"/>
              </a:rPr>
              <a:t>长度</a:t>
            </a:r>
            <a:r>
              <a:rPr lang="en-US" altLang="zh-CN" sz="1600" b="1" dirty="0">
                <a:latin typeface="+mn-ea"/>
              </a:rPr>
              <a:t>+1..20]</a:t>
            </a:r>
            <a:r>
              <a:rPr lang="zh-CN" altLang="en-US" sz="1600" b="1" dirty="0">
                <a:latin typeface="+mn-ea"/>
              </a:rPr>
              <a:t>，左对齐输出这个字符串（最后加</a:t>
            </a:r>
            <a:r>
              <a:rPr lang="en-US" altLang="zh-CN" sz="1600" b="1" dirty="0">
                <a:latin typeface="+mn-ea"/>
              </a:rPr>
              <a:t>*</a:t>
            </a:r>
            <a:r>
              <a:rPr lang="zh-CN" altLang="en-US" sz="1600" b="1" dirty="0">
                <a:latin typeface="+mn-ea"/>
              </a:rPr>
              <a:t>分辨空格）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</a:t>
            </a:r>
            <a:r>
              <a:rPr lang="zh-CN" altLang="en-US" sz="1600" b="1" dirty="0">
                <a:latin typeface="+mn-ea"/>
              </a:rPr>
              <a:t>注：输入宽度小于等于串长则置为串长</a:t>
            </a:r>
            <a:r>
              <a:rPr lang="en-US" altLang="zh-CN" sz="1600" b="1" dirty="0">
                <a:latin typeface="+mn-ea"/>
              </a:rPr>
              <a:t>+1</a:t>
            </a:r>
            <a:r>
              <a:rPr lang="zh-CN" altLang="en-US" sz="1600" b="1" dirty="0">
                <a:latin typeface="+mn-ea"/>
              </a:rPr>
              <a:t>，不考虑其它输入错误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5" y="1578504"/>
            <a:ext cx="6312332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给出相应的代码，字体为宋体，字号根据代码量调整，不小于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号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#include &lt;stdio.h&gt;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    char s[12];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    int x, w;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    printf("请输入[3..12]间的字符串及显示宽度[len+1..20]\n");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    scanf("%s %d", s, &amp;w); //不考虑输入错误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    w = w &gt; (strlen(s) + 1) ? w : (strlen(s) + 1);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    printf("01234567890123456789\n"); //标尺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    char fmt[40];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    sprintf(fmt, "%%-%ds*\n", w);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    printf(fmt, s);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870357" y="1578503"/>
            <a:ext cx="4090086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12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、自己构造的测试样本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abc 1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、自己构造的测试样本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abc 3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0911" y="1951251"/>
            <a:ext cx="3714286" cy="65714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612" y="3160745"/>
            <a:ext cx="3685714" cy="64761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：键盘输入一个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型数据，再输入总显示宽度及小数点后的位数，右对齐输出这个字符串（最后加</a:t>
            </a:r>
            <a:r>
              <a:rPr lang="en-US" altLang="zh-CN" sz="1600" b="1" dirty="0">
                <a:latin typeface="+mn-ea"/>
              </a:rPr>
              <a:t>*</a:t>
            </a:r>
            <a:r>
              <a:rPr lang="zh-CN" altLang="en-US" sz="1600" b="1" dirty="0">
                <a:latin typeface="+mn-ea"/>
              </a:rPr>
              <a:t>分辨空格）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</a:t>
            </a:r>
            <a:r>
              <a:rPr lang="zh-CN" altLang="en-US" sz="1600" b="1" dirty="0">
                <a:latin typeface="+mn-ea"/>
              </a:rPr>
              <a:t>注：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5" y="1578504"/>
            <a:ext cx="6312332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给出相应的代码，字体为宋体，字号根据代码量调整，不小于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号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#include &lt;stdio.h&gt;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    double x;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    int l1, l2;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    printf("请输入double型数据及总宽度、小数点后位数\n");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    scanf("%lf %d %d", &amp;x, &amp;l1, &amp;l2); //不考虑输入错误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    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    printf("01234567890123456789\n"); //标尺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    char fmt[40];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    sprintf(fmt, "%%%d.%dlf*\n", l1, l2);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    printf(fmt, x);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870357" y="1578503"/>
            <a:ext cx="4090086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12.34 9 5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123.456789 12 2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12345678.9 5 2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12345678.9 5 0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(3/4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的答案没问题，想不通去看第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章作业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9683" y="2050577"/>
            <a:ext cx="3361905" cy="6380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111" y="3160746"/>
            <a:ext cx="3419048" cy="6666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683" y="4426380"/>
            <a:ext cx="3438095" cy="65714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683" y="5534875"/>
            <a:ext cx="3485714" cy="657143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 bwMode="auto">
          <a:xfrm>
            <a:off x="9707658" y="164421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5335</Words>
  <Application>WPS 演示</Application>
  <PresentationFormat>宽屏</PresentationFormat>
  <Paragraphs>360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wps</cp:lastModifiedBy>
  <cp:revision>56</cp:revision>
  <dcterms:created xsi:type="dcterms:W3CDTF">2020-08-13T13:39:00Z</dcterms:created>
  <dcterms:modified xsi:type="dcterms:W3CDTF">2025-05-01T08:29:20Z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09F42DF47EC44F3DB8B1A000B04DA739_12</vt:lpwstr>
  </property>
  <property fmtid="{D5CDD505-2E9C-101B-9397-08002B2CF9AE}" pid="3" name="KSOProductBuildVer">
    <vt:lpwstr>2052-12.8.2.15091</vt:lpwstr>
  </property>
</Properties>
</file>