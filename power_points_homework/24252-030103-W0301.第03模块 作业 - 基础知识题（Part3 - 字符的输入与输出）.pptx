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68" r:id="rId5"/>
    <p:sldId id="1269" r:id="rId6"/>
    <p:sldId id="1230" r:id="rId7"/>
    <p:sldId id="449" r:id="rId8"/>
    <p:sldId id="1182" r:id="rId9"/>
    <p:sldId id="1226" r:id="rId10"/>
    <p:sldId id="1227" r:id="rId11"/>
    <p:sldId id="1198" r:id="rId12"/>
    <p:sldId id="1183" r:id="rId13"/>
    <p:sldId id="1228" r:id="rId14"/>
    <p:sldId id="1229" r:id="rId15"/>
    <p:sldId id="1231" r:id="rId16"/>
    <p:sldId id="1232" r:id="rId17"/>
    <p:sldId id="1233" r:id="rId18"/>
    <p:sldId id="1199" r:id="rId19"/>
    <p:sldId id="1234" r:id="rId20"/>
    <p:sldId id="1235" r:id="rId21"/>
    <p:sldId id="120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97" d="100"/>
          <a:sy n="97" d="100"/>
        </p:scale>
        <p:origin x="48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的区别：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是按格式读入，到空格、回车、非法为止；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是只读一个字符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、两者的共同点：都有输入缓冲区，输入必须以回车结束，从输入缓冲区去取得需要的内容后，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多余的内容还放在输入缓冲区中，等到下次读入（如果程序结束，则操作系统会清空输入缓冲区）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en-US" altLang="zh-CN" sz="1600" b="1" dirty="0">
                <a:latin typeface="+mn-ea"/>
              </a:rPr>
              <a:t>()/_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是没有输入缓冲区的，输入后不需要按回车键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返回是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</a:t>
            </a:r>
            <a:r>
              <a:rPr lang="zh-CN" altLang="en-US" sz="1600" b="1" dirty="0">
                <a:latin typeface="+mn-ea"/>
              </a:rPr>
              <a:t>，因为除了正常的</a:t>
            </a:r>
            <a:r>
              <a:rPr lang="en-US" altLang="zh-CN" sz="1600" b="1" dirty="0">
                <a:latin typeface="+mn-ea"/>
              </a:rPr>
              <a:t>256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字符（含基本和扩展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码、中文、其它语言文字等），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还需要额外考虑一个输入出错情况下的返回，因此无法用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字节返回值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5517" y="998484"/>
            <a:ext cx="10247586" cy="3678620"/>
            <a:chOff x="515007" y="1198180"/>
            <a:chExt cx="10247586" cy="3678620"/>
          </a:xfrm>
        </p:grpSpPr>
        <p:sp>
          <p:nvSpPr>
            <p:cNvPr id="5" name="矩形 4"/>
            <p:cNvSpPr/>
            <p:nvPr/>
          </p:nvSpPr>
          <p:spPr bwMode="auto">
            <a:xfrm>
              <a:off x="515007" y="1198180"/>
              <a:ext cx="10247586" cy="36786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字符输出函数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zh-CN" altLang="en-US" sz="1600" b="1" dirty="0">
                  <a:latin typeface="+mn-ea"/>
                </a:rPr>
                <a:t>的基本知识：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形式：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字符变量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常量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功能：输出一个字符</a:t>
              </a:r>
              <a:endParaRPr lang="zh-CN" altLang="en-US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      </a:t>
              </a:r>
              <a:r>
                <a:rPr lang="en-US" altLang="zh-CN" sz="1600" b="1" dirty="0">
                  <a:latin typeface="+mn-ea"/>
                </a:rPr>
                <a:t>char a='A';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(a);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('A') 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('\x41');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('\101');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某些编译器需要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cstdio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zh-CN" altLang="en-US" sz="1600" b="1" dirty="0">
                  <a:latin typeface="+mn-ea"/>
                </a:rPr>
                <a:t>或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stdio.h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目前所用的双编译器均不需要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)</a:t>
              </a:r>
              <a:endParaRPr lang="en-US" altLang="zh-CN" sz="1600" b="1" dirty="0">
                <a:solidFill>
                  <a:srgbClr val="FF0000"/>
                </a:solidFill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返回值是</a:t>
              </a:r>
              <a:r>
                <a:rPr lang="en-US" altLang="zh-CN" sz="1600" b="1" dirty="0">
                  <a:latin typeface="+mn-ea"/>
                </a:rPr>
                <a:t>int</a:t>
              </a:r>
              <a:r>
                <a:rPr lang="zh-CN" altLang="en-US" sz="1600" b="1" dirty="0">
                  <a:latin typeface="+mn-ea"/>
                </a:rPr>
                <a:t>型，是输出字符的</a:t>
              </a:r>
              <a:r>
                <a:rPr lang="en-US" altLang="zh-CN" sz="1600" b="1" dirty="0">
                  <a:latin typeface="+mn-ea"/>
                </a:rPr>
                <a:t>ASCII</a:t>
              </a:r>
              <a:r>
                <a:rPr lang="zh-CN" altLang="en-US" sz="1600" b="1" dirty="0">
                  <a:latin typeface="+mn-ea"/>
                </a:rPr>
                <a:t>码，可赋值给字符型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整型变量</a:t>
              </a:r>
              <a:endParaRPr lang="en-US" altLang="zh-CN" sz="1600" b="1" dirty="0">
                <a:latin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942894" y="2716923"/>
              <a:ext cx="2007476" cy="1082566"/>
              <a:chOff x="2575034" y="2469931"/>
              <a:chExt cx="2007476" cy="1082566"/>
            </a:xfrm>
          </p:grpSpPr>
          <p:sp>
            <p:nvSpPr>
              <p:cNvPr id="2" name="右大括号 1"/>
              <p:cNvSpPr/>
              <p:nvPr/>
            </p:nvSpPr>
            <p:spPr bwMode="auto">
              <a:xfrm>
                <a:off x="2575034" y="2469931"/>
                <a:ext cx="210207" cy="1082566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 bwMode="auto">
              <a:xfrm>
                <a:off x="2858813" y="2853559"/>
                <a:ext cx="1723697" cy="31531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+mn-ea"/>
                  </a:rPr>
                  <a:t>均表示输出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+mn-ea"/>
                  </a:rPr>
                  <a:t>'A'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</a:endParaRPr>
              </a:p>
            </p:txBody>
          </p:sp>
        </p:grpSp>
      </p:grpSp>
      <p:sp>
        <p:nvSpPr>
          <p:cNvPr id="8" name="椭圆 7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464203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char ret1;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</a:rPr>
              <a:t>ret1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</a:rPr>
              <a:t>('A')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ret2;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ret2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('B')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34152" y="1323974"/>
            <a:ext cx="560125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、观察运行结果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、分析运行结果中各输出是哪个语句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函数造成的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可选：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cout : ‘A’ putchar:’A’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cout : 66    putchar:’B’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、这个例子能确认上个</a:t>
            </a:r>
            <a:r>
              <a:rPr kumimoji="1" lang="en-US" altLang="zh-CN" sz="1600" b="1" dirty="0">
                <a:latin typeface="+mn-ea"/>
              </a:rPr>
              <a:t>Page</a:t>
            </a:r>
            <a:r>
              <a:rPr kumimoji="1" lang="zh-CN" altLang="en-US" sz="1600" b="1" dirty="0">
                <a:latin typeface="+mn-ea"/>
              </a:rPr>
              <a:t>的基本知识中的说法：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返回值是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型，是输出字符的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ASCII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码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 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完全正确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部分正确吗？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完全正确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4246245"/>
            <a:ext cx="662305" cy="405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方法一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&lt;iomanip&gt;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indent="457200"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cout &lt;&lt; putchar('A') &lt;&lt; endl;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indent="457200"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&lt;iomanip&gt;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 {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cout &lt;&lt; typeid(putchar('A')).name() &lt;&lt; endl;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return 0;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25517" y="998484"/>
            <a:ext cx="10247586" cy="36786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字符输入函数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的基本知识：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形式：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功能：输入一个字符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给指定的变量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某些编译器需要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cstdio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目前所用的双编译器均不需要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型，是输入字符的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码，可赋值给字符型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整型变量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输入有回显，而且不是键盘输入一个字符后立即执行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，必须要等按回车后才执行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弄清楚上课课件中的输入缓冲区的概念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可以输入空格，回车等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无法处理的非图形字符，但仍不能处理转义符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等每次仅从输入缓冲区中取需要的字节，多余的字节仍保留在输入缓冲区中供下次读取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400444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ch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&lt;&lt; (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ch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()) &lt;&lt;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8050924" y="1323974"/>
            <a:ext cx="278448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5152127"/>
            <a:ext cx="345032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__a____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___ch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____ 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038399" y="5152127"/>
            <a:ext cx="4008483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a____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 err="1">
                <a:latin typeface="+mn-ea"/>
                <a:sym typeface="+mn-ea"/>
              </a:rPr>
              <a:t>ch</a:t>
            </a:r>
            <a:r>
              <a:rPr kumimoji="1" lang="zh-CN" altLang="en-US" sz="1600" b="1" dirty="0">
                <a:latin typeface="+mn-ea"/>
                <a:sym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__ 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050923" y="5152127"/>
            <a:ext cx="278448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__97__</a:t>
            </a: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方法一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#include &lt;iostream&gt;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#include &lt;iomanip&gt;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int main()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indent="457200"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cout &lt;&lt; getchar() &lt;&lt; endl;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indent="457200"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#include &lt;iostream&gt;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#include &lt;iomanip&gt;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using namespace std;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int main() {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cout &lt;&lt; typeid(getchar()).name() &lt;&lt; endl;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return 0;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、键盘输入：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Hello</a:t>
            </a:r>
            <a:r>
              <a:rPr kumimoji="1" lang="en-US" altLang="zh-CN" sz="1600" b="1" dirty="0">
                <a:latin typeface="+mn-ea"/>
              </a:rPr>
              <a:t>↙ (5</a:t>
            </a:r>
            <a:r>
              <a:rPr kumimoji="1" lang="zh-CN" altLang="en-US" sz="1600" b="1" dirty="0">
                <a:latin typeface="+mn-ea"/>
              </a:rPr>
              <a:t>个字母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 72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↙      (</a:t>
            </a:r>
            <a:r>
              <a:rPr kumimoji="1" lang="zh-CN" altLang="en-US" sz="1600" b="1" dirty="0">
                <a:latin typeface="+mn-ea"/>
              </a:rPr>
              <a:t>空回车</a:t>
            </a:r>
            <a:r>
              <a:rPr kumimoji="1" lang="en-US" altLang="zh-CN" sz="1600" b="1" dirty="0">
                <a:latin typeface="+mn-ea"/>
              </a:rPr>
              <a:t>) 	10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︺</a:t>
            </a:r>
            <a:r>
              <a:rPr kumimoji="1" lang="en-US" altLang="zh-CN" sz="1600" b="1" dirty="0">
                <a:latin typeface="+mn-ea"/>
              </a:rPr>
              <a:t>↙    (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	32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\n↙    (2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 92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\101↙  (4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 92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latin typeface="+mn-ea"/>
              </a:rPr>
              <a:t>结论：可以输入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等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无法处理的非图形字符，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但仍不能处理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b__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a) </a:t>
            </a:r>
            <a:r>
              <a:rPr kumimoji="1" lang="zh-CN" altLang="en-US" sz="1600" b="1" dirty="0">
                <a:latin typeface="+mn-ea"/>
              </a:rPr>
              <a:t>空格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转义符 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回车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Step1~4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、每次输入一个回车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__4_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Step____1__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Step____2__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Step____3__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Step____4__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_4____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Step__1____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Step__2____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Step__3____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Step__4____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Step__1____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getchar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思考：结合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的基本使用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的例子，考虑一下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中非法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m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对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的影响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错在第几个数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与输入缓冲区的关系，为什么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?</a:t>
            </a:r>
            <a:endParaRPr kumimoji="1" lang="zh-CN" altLang="en-US" sz="12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2.D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换为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方式的差异比较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"--Step1--"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"--Step2--"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"--Step3--"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"--Step4--"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 x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因为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不能读取空格、回车（有特殊方法可读，先忽略），因此测试有所不同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、第一次输入两个字母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Step__1____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Step__3____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Step__1__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简单描述一下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getchar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在读入字符时的差异：</a:t>
            </a:r>
            <a:endParaRPr kumimoji="1" lang="zh-CN" altLang="en-US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getchar只能读取单个字符，返回值为读取字符的 ASCII 码（int类型）；cin可以读取多种数据类型，读取字符时，需用char类型变量接收。</a:t>
            </a:r>
            <a:endParaRPr kumimoji="1"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2112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_____97________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  <a:sym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__10____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____97_______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  <a:sym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___13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_______a97______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  <a:sym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  <a:sym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__13</a:t>
            </a:r>
            <a:r>
              <a:rPr kumimoji="1" lang="en-US" altLang="zh-CN" sz="1600" b="1" dirty="0">
                <a:latin typeface="+mn-ea"/>
              </a:rPr>
              <a:t>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2" y="6239531"/>
            <a:ext cx="10247336" cy="294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注：直接按回车时的差异，了解即可，具体原因有兴趣自己课外查阅，不提供技术支持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0839448" y="1683973"/>
            <a:ext cx="1221488" cy="7596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哪个编译器报错？</a:t>
            </a: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哪个编译器下结果同</a:t>
            </a:r>
            <a:r>
              <a:rPr kumimoji="1"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正常</a:t>
            </a: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_____97_____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211971" y="2135918"/>
            <a:ext cx="2340525" cy="4391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4017010"/>
            <a:ext cx="7758430" cy="3194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7795</Words>
  <Application>WPS 演示</Application>
  <PresentationFormat>宽屏</PresentationFormat>
  <Paragraphs>519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wps</cp:lastModifiedBy>
  <cp:revision>189</cp:revision>
  <dcterms:created xsi:type="dcterms:W3CDTF">2020-08-13T13:39:00Z</dcterms:created>
  <dcterms:modified xsi:type="dcterms:W3CDTF">2025-03-15T11:26:57Z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D5FC2EC82FA2452EACEA33517BAD562D_12</vt:lpwstr>
  </property>
  <property fmtid="{D5CDD505-2E9C-101B-9397-08002B2CF9AE}" pid="3" name="KSOProductBuildVer">
    <vt:lpwstr>2052-12.8.2.15091</vt:lpwstr>
  </property>
</Properties>
</file>