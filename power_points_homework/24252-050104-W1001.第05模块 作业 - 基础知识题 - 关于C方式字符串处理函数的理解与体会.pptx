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838" r:id="rId3"/>
    <p:sldId id="1309" r:id="rId4"/>
    <p:sldId id="990" r:id="rId6"/>
    <p:sldId id="992" r:id="rId7"/>
    <p:sldId id="993" r:id="rId8"/>
    <p:sldId id="1238" r:id="rId9"/>
    <p:sldId id="1244" r:id="rId10"/>
    <p:sldId id="1245" r:id="rId11"/>
    <p:sldId id="1239" r:id="rId12"/>
    <p:sldId id="1246" r:id="rId13"/>
    <p:sldId id="1247" r:id="rId14"/>
    <p:sldId id="1240" r:id="rId15"/>
    <p:sldId id="1248" r:id="rId16"/>
    <p:sldId id="1249" r:id="rId17"/>
    <p:sldId id="1250" r:id="rId18"/>
    <p:sldId id="1241" r:id="rId19"/>
    <p:sldId id="1251" r:id="rId20"/>
    <p:sldId id="1252" r:id="rId21"/>
    <p:sldId id="1253" r:id="rId22"/>
    <p:sldId id="1254" r:id="rId23"/>
    <p:sldId id="1242" r:id="rId24"/>
    <p:sldId id="1255" r:id="rId25"/>
    <p:sldId id="1256" r:id="rId26"/>
    <p:sldId id="1257" r:id="rId27"/>
    <p:sldId id="1243" r:id="rId28"/>
    <p:sldId id="1258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、完成本文档中所有的题目并写出分析、运行结果，体会字符数组输入输出时不同用法的差异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10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</a:t>
            </a:r>
            <a:r>
              <a:rPr lang="zh-CN" altLang="en-US" sz="2800" b="1">
                <a:latin typeface="+mn-ea"/>
              </a:rPr>
              <a:t>知识题 </a:t>
            </a:r>
            <a:r>
              <a:rPr lang="en-US" altLang="zh-CN" sz="2800" b="1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总体知识：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常用字符串处理函数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①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 (const char s[]);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② </a:t>
            </a:r>
            <a:r>
              <a:rPr lang="en-US" altLang="zh-CN" sz="1600" b="1" dirty="0" err="1">
                <a:latin typeface="+mn-ea"/>
              </a:rPr>
              <a:t>strcat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③ </a:t>
            </a:r>
            <a:r>
              <a:rPr lang="en-US" altLang="zh-CN" sz="1600" b="1" dirty="0" err="1">
                <a:latin typeface="+mn-ea"/>
              </a:rPr>
              <a:t>strncat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④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⑤ 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⑥ </a:t>
            </a:r>
            <a:r>
              <a:rPr lang="en-US" altLang="zh-CN" sz="1600" b="1" dirty="0" err="1">
                <a:latin typeface="+mn-ea"/>
              </a:rPr>
              <a:t>strcmp</a:t>
            </a:r>
            <a:r>
              <a:rPr lang="en-US" altLang="zh-CN" sz="1600" b="1" dirty="0">
                <a:latin typeface="+mn-ea"/>
              </a:rPr>
              <a:t> (const char s1[], const char s2[]);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⑦ </a:t>
            </a:r>
            <a:r>
              <a:rPr lang="en-US" altLang="zh-CN" sz="1600" b="1" dirty="0" err="1">
                <a:latin typeface="+mn-ea"/>
              </a:rPr>
              <a:t>strncmp</a:t>
            </a:r>
            <a:r>
              <a:rPr lang="en-US" altLang="zh-CN" sz="1600" b="1" dirty="0">
                <a:latin typeface="+mn-ea"/>
              </a:rPr>
              <a:t>(const char s1[], const char s2[],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更多的字符串处理函数通过作业完成并理解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教材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参考资料中，很多形式是 </a:t>
            </a:r>
            <a:r>
              <a:rPr lang="en-US" altLang="zh-CN" sz="1600" b="1" dirty="0">
                <a:latin typeface="+mn-ea"/>
              </a:rPr>
              <a:t>const char *s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暂时忽略</a:t>
            </a:r>
            <a:r>
              <a:rPr lang="zh-CN" altLang="en-US" sz="1600" b="1" dirty="0">
                <a:latin typeface="+mn-ea"/>
              </a:rPr>
              <a:t>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先不要考虑这些函数的返回值，待学习指针后再进一步理解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能：求字符串的长度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输入参数：存放字符串的字符数组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返 回 值：整型值表示的长度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注意事项：返回第一个</a:t>
            </a:r>
            <a:r>
              <a:rPr lang="en-US" altLang="zh-CN" sz="1600" b="1" dirty="0">
                <a:latin typeface="+mn-ea"/>
              </a:rPr>
              <a:t>'\0'</a:t>
            </a:r>
            <a:r>
              <a:rPr lang="zh-CN" altLang="en-US" sz="1600" b="1" dirty="0">
                <a:latin typeface="+mn-ea"/>
              </a:rPr>
              <a:t>前的字符数量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不含</a:t>
            </a:r>
            <a:r>
              <a:rPr lang="en-US" altLang="zh-CN" sz="1600" b="1" dirty="0">
                <a:latin typeface="+mn-ea"/>
              </a:rPr>
              <a:t>'\0'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：字符数组与字符串长度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490718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str1[]="Hello";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str2[]="china\0Hello\0\0";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读操作，不需要加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_CRT_SECURE_NO_WARNINGS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、求数组长度时，无论是否有显式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，最后一定有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、当含有多个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时，字符串长度计算到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第一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为止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642811" y="1263316"/>
            <a:ext cx="368887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连接到字符串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的尾部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含尾零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两串总长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：字符串连接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str1[30]="Tongji ";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不能缺省，至少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18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!!!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数组的默认长度是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__11___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、结合前面字符数组输入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输出的作业，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复制时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不包含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（包含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不包含）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src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942221" y="1263316"/>
            <a:ext cx="238946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Tongji University#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：字符串连接（错误）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str1[]="Tongji 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__18___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两个字符串长度和</a:t>
            </a:r>
            <a:r>
              <a:rPr lang="en-US" altLang="zh-CN" sz="1600" b="1" dirty="0">
                <a:latin typeface="+mn-ea"/>
              </a:rPr>
              <a:t>+1______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942221" y="1263316"/>
            <a:ext cx="238946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2153653" y="2680138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5190" y="1948815"/>
            <a:ext cx="3472180" cy="1852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个字符</a:t>
            </a:r>
            <a:r>
              <a:rPr lang="zh-CN" altLang="en-US" sz="1600" b="1" dirty="0">
                <a:latin typeface="+mn-ea"/>
              </a:rPr>
              <a:t>连接到字符串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的尾部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长度，则只连接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原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dst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+n+1)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str1[30]="Tongji 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str2[30]="Tongji 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str3[]="University";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(str2, str3, 300)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但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表示的字符串的长度时，连接规则是</a:t>
            </a:r>
            <a:r>
              <a:rPr lang="en-US" altLang="zh-CN" sz="1600" b="1" dirty="0">
                <a:latin typeface="+mn-ea"/>
              </a:rPr>
              <a:t>___________</a:t>
            </a:r>
            <a:r>
              <a:rPr lang="zh-CN" altLang="en-US" sz="1600" b="1" dirty="0">
                <a:latin typeface="+mn-ea"/>
              </a:rPr>
              <a:t>不连接</a:t>
            </a:r>
            <a:r>
              <a:rPr lang="en-US" altLang="zh-CN" sz="1600" b="1" dirty="0">
                <a:latin typeface="+mn-ea"/>
              </a:rPr>
              <a:t>____________________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Tongji Uni*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Tongji University*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个字符（错误）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str1[]="Tongji 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str3[]="University";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缺省长度为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___11__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sym typeface="+mn-ea"/>
              </a:rPr>
              <a:t>原</a:t>
            </a:r>
            <a:r>
              <a:rPr lang="en-US" altLang="zh-CN" sz="1600" b="1" dirty="0" err="1">
                <a:solidFill>
                  <a:schemeClr val="tx1"/>
                </a:solidFill>
                <a:latin typeface="+mn-ea"/>
                <a:sym typeface="+mn-ea"/>
              </a:rPr>
              <a:t>dst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sym typeface="+mn-ea"/>
              </a:rPr>
              <a:t>长度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sym typeface="+mn-ea"/>
              </a:rPr>
              <a:t>+n+1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2165685" y="2764359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1655" y="2186940"/>
            <a:ext cx="3472180" cy="18529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：字符串拷贝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、字符串复制时，复制到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__\0__</a:t>
            </a:r>
            <a:r>
              <a:rPr lang="zh-CN" altLang="en-US" sz="1600" b="1" dirty="0">
                <a:latin typeface="+mn-ea"/>
              </a:rPr>
              <a:t>为止，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（包含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不包含）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，之后的字符不再复制。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、在运行截图中用箭头指出证明结论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的位置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104 101 108 108 111 0 116 0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 flipV="1">
            <a:off x="8546465" y="2279015"/>
            <a:ext cx="22225" cy="44323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：字符串拷贝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b[]="hello\0china";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数组的默认大小时</a:t>
            </a:r>
            <a:r>
              <a:rPr lang="en-US" altLang="zh-CN" sz="1600" b="1" dirty="0">
                <a:latin typeface="+mn-ea"/>
              </a:rPr>
              <a:t>_____8______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数组的默认大小是</a:t>
            </a:r>
            <a:r>
              <a:rPr lang="en-US" altLang="zh-CN" sz="1600" b="1" dirty="0">
                <a:latin typeface="+mn-ea"/>
              </a:rPr>
              <a:t>______12______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数组的大小超过了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数组的大小，为什么运行不出错？只读到第一个</a:t>
            </a:r>
            <a:r>
              <a:rPr lang="en-US" altLang="zh-CN" sz="1600" b="1" dirty="0">
                <a:latin typeface="+mn-ea"/>
              </a:rPr>
              <a:t>\0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、本例中，复制到</a:t>
            </a:r>
            <a:r>
              <a:rPr lang="en-US" altLang="zh-CN" sz="1600" b="1" dirty="0">
                <a:latin typeface="+mn-ea"/>
              </a:rPr>
              <a:t>b[__5_]</a:t>
            </a:r>
            <a:r>
              <a:rPr lang="zh-CN" altLang="en-US" sz="1600" b="1" dirty="0">
                <a:latin typeface="+mn-ea"/>
              </a:rPr>
              <a:t>就停止复制了？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hello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104 101 108 108 111 0 116 0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：字符串拷贝（有错）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13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]="student", b[]="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hellochina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、本程序为什么会错？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的长度</a:t>
            </a:r>
            <a:r>
              <a:rPr lang="en-US" altLang="zh-CN" sz="1600" b="1" dirty="0">
                <a:latin typeface="+mn-ea"/>
              </a:rPr>
              <a:t>&gt;a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、仅改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的定义使正确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如何做？（直接在上面的源程序中用红色写出修改内容即可）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sym typeface="+mn-ea"/>
              </a:rPr>
              <a:t>串</a:t>
            </a:r>
            <a:r>
              <a:rPr lang="en-US" altLang="zh-CN" sz="1600" b="1" dirty="0" err="1">
                <a:solidFill>
                  <a:schemeClr val="tx1"/>
                </a:solidFill>
                <a:latin typeface="+mn-ea"/>
                <a:sym typeface="+mn-ea"/>
              </a:rPr>
              <a:t>src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sym typeface="+mn-ea"/>
              </a:rPr>
              <a:t>长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sym typeface="+mn-ea"/>
              </a:rPr>
              <a:t>+1</a:t>
            </a:r>
            <a:r>
              <a:rPr lang="en-US" altLang="zh-CN" sz="1600" b="1" dirty="0">
                <a:latin typeface="+mn-ea"/>
              </a:rPr>
              <a:t>_________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1655" y="2186940"/>
            <a:ext cx="3472180" cy="18529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只复制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(min(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,n)+1)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(a, b, 2);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本程序证明了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zh-CN" altLang="en-US" sz="1600" b="1" dirty="0">
                <a:latin typeface="+mn-ea"/>
              </a:rPr>
              <a:t>复制时，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  <a:sym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（包含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不包含）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heudent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104 101 117 100 101 110 116 0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(a, ___&amp;b[2]_____, 2);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如果想从</a:t>
            </a:r>
            <a:r>
              <a:rPr lang="en-US" altLang="zh-CN" sz="1600" b="1" dirty="0">
                <a:latin typeface="+mn-ea"/>
              </a:rPr>
              <a:t>b[2]</a:t>
            </a:r>
            <a:r>
              <a:rPr lang="zh-CN" altLang="en-US" sz="1600" b="1" dirty="0">
                <a:latin typeface="+mn-ea"/>
              </a:rPr>
              <a:t>开始复制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个字符到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中，如何做？（即期望输出：</a:t>
            </a:r>
            <a:r>
              <a:rPr lang="en-US" altLang="zh-CN" sz="1600" b="1" dirty="0" err="1">
                <a:latin typeface="+mn-ea"/>
              </a:rPr>
              <a:t>lludent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（直接在源程序中修改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位置即可）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lludent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108 108 117 100 101 110 116 0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  <a:endParaRPr lang="en-US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12;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12;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观察两个</a:t>
            </a:r>
            <a:r>
              <a:rPr lang="en-US" altLang="zh-CN" sz="1600" b="1" dirty="0">
                <a:latin typeface="+mn-ea"/>
              </a:rPr>
              <a:t>for</a:t>
            </a:r>
            <a:r>
              <a:rPr lang="zh-CN" altLang="en-US" sz="1600" b="1" dirty="0">
                <a:latin typeface="+mn-ea"/>
              </a:rPr>
              <a:t>循环的后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个数字的输出，能得到什么结论？（提示：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长度是到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为止吗</a:t>
            </a:r>
            <a:r>
              <a:rPr lang="en-US" altLang="zh-CN" sz="1600" b="1" dirty="0">
                <a:latin typeface="+mn-ea"/>
              </a:rPr>
              <a:t>?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strncpy</a:t>
            </a:r>
            <a:r>
              <a:rPr lang="zh-CN" altLang="en-US" sz="1600" b="1" dirty="0">
                <a:latin typeface="+mn-ea"/>
              </a:rPr>
              <a:t>会覆盖写入，直至达到最后一个</a:t>
            </a:r>
            <a:r>
              <a:rPr lang="zh-CN" altLang="en-US" sz="1600" b="1" dirty="0">
                <a:latin typeface="+mn-ea"/>
              </a:rPr>
              <a:t>字节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860758" y="1263316"/>
            <a:ext cx="447092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115 116 117 100 101 110 116 0 -52 -52 -52 -52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104 101 108 108 111 0 0 0 0 0 0 0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Dev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115 116 117 100 101 110 116 0 8 0 0 0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104 101 108 108 111 0 0 0 8 0 0 0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  <a:endParaRPr lang="en-US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20;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20;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超过了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的长度，则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复制所有内容，复制完后填充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知道</a:t>
            </a:r>
            <a:r>
              <a:rPr lang="en-US" altLang="zh-CN" sz="1600" b="1" dirty="0">
                <a:latin typeface="+mn-ea"/>
              </a:rPr>
              <a:t>n_______________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en-US" altLang="zh-CN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860758" y="1263316"/>
            <a:ext cx="447092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115 116 117 100 101 110 116 0 -52 -52 -52 -52 -52 -52 -52 -52 16 0 0 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104 101 108 108 111 0 0 0 0 0 0 0 0 0 0 0 16 0 0 0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Dev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115 116 117 100 101 110 116 0 8 0 0 0 0 0 0 0 0 0 0 0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104 101 108 108 111 0 0 0 8 0 0 0 0 0 0 0 0 0 0 0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2995863" y="1792705"/>
            <a:ext cx="1636295" cy="67376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同上例，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数组越界到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20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的大小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值：整型值</a:t>
            </a:r>
            <a:r>
              <a:rPr lang="en-US" altLang="zh-CN" sz="1600" b="1" dirty="0">
                <a:latin typeface="+mn-ea"/>
              </a:rPr>
              <a:t>(0:</a:t>
            </a:r>
            <a:r>
              <a:rPr lang="zh-CN" altLang="en-US" sz="1600" b="1" dirty="0">
                <a:latin typeface="+mn-ea"/>
              </a:rPr>
              <a:t>相等  </a:t>
            </a:r>
            <a:r>
              <a:rPr lang="en-US" altLang="zh-CN" sz="1600" b="1" dirty="0">
                <a:latin typeface="+mn-ea"/>
              </a:rPr>
              <a:t>&gt;0: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大  </a:t>
            </a:r>
            <a:r>
              <a:rPr lang="en-US" altLang="zh-CN" sz="1600" b="1" dirty="0">
                <a:latin typeface="+mn-ea"/>
              </a:rPr>
              <a:t>&lt;0: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：字符串比较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   char str1[] = "house", str2[]  = "horse";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str3[] = "abcd",  str4[]  = "abcde";</a:t>
            </a:r>
            <a:endParaRPr kumimoji="1" lang="de-DE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str5[]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str6[]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str7[]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str8[]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str9[]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str10[]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\0efgh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(str3, str4)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(str5, str6)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(str7, str8)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(str9, str10)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问题：两个字符串相等的条件是？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前每个字符严格相等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：字符串比较（另一种形式）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str1[]="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str2[]="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str2);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(k==0)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=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else if (k&lt;0)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&lt;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else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&gt;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问题：给出两个字符串比较的执行过程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从两个串的第一个字符开始比较，对应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码值大的就大，相等就继续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串1 &lt; 串2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：字符串比较（编译不错，但运行结果与期望不符合）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str1[]="house", str2[]="horse";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 = str1 &lt; str2;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这个程序的运行结果是表示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str2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地址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进行比较。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str1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的内容互换，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str1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都置为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"house",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个字符的大小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要比较的长度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值：整型值</a:t>
            </a:r>
            <a:r>
              <a:rPr lang="en-US" altLang="zh-CN" sz="1600" b="1" dirty="0">
                <a:latin typeface="+mn-ea"/>
              </a:rPr>
              <a:t>(0:</a:t>
            </a:r>
            <a:r>
              <a:rPr lang="zh-CN" altLang="en-US" sz="1600" b="1" dirty="0">
                <a:latin typeface="+mn-ea"/>
              </a:rPr>
              <a:t>相等  </a:t>
            </a:r>
            <a:r>
              <a:rPr lang="en-US" altLang="zh-CN" sz="1600" b="1" dirty="0">
                <a:latin typeface="+mn-ea"/>
              </a:rPr>
              <a:t>&gt;0: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大  </a:t>
            </a:r>
            <a:r>
              <a:rPr lang="en-US" altLang="zh-CN" sz="1600" b="1" dirty="0">
                <a:latin typeface="+mn-ea"/>
              </a:rPr>
              <a:t>&lt;0: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小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：字符串比较前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str1[] = "abcd",  str2[]  = "abcde";</a:t>
            </a:r>
            <a:endParaRPr kumimoji="1" lang="de-DE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3)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4)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5)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100)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小于短串长度时，则比较到</a:t>
            </a:r>
            <a:r>
              <a:rPr lang="en-US" altLang="zh-CN" sz="1600" b="1" dirty="0">
                <a:latin typeface="+mn-ea"/>
              </a:rPr>
              <a:t>___________</a:t>
            </a:r>
            <a:r>
              <a:rPr lang="en-US" altLang="zh-CN" sz="1600" b="1" dirty="0">
                <a:latin typeface="+mn-ea"/>
              </a:rPr>
              <a:t>n__________</a:t>
            </a:r>
            <a:r>
              <a:rPr lang="zh-CN" altLang="en-US" sz="1600" b="1" dirty="0">
                <a:latin typeface="+mn-ea"/>
              </a:rPr>
              <a:t>。</a:t>
            </a:r>
            <a:endParaRPr lang="zh-CN" altLang="en-US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大于等于短串长度时，则比较到</a:t>
            </a:r>
            <a:r>
              <a:rPr lang="en-US" altLang="zh-CN" sz="1600" b="1" dirty="0">
                <a:latin typeface="+mn-ea"/>
              </a:rPr>
              <a:t>________</a:t>
            </a:r>
            <a:r>
              <a:rPr lang="zh-CN" altLang="en-US" sz="1600" b="1" dirty="0">
                <a:latin typeface="+mn-ea"/>
              </a:rPr>
              <a:t>短串长度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为止。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超过长串的长度，则比较到</a:t>
            </a:r>
            <a:r>
              <a:rPr lang="en-US" altLang="zh-CN" sz="1600" b="1" dirty="0">
                <a:latin typeface="+mn-ea"/>
              </a:rPr>
              <a:t>_______</a:t>
            </a:r>
            <a:r>
              <a:rPr lang="zh-CN" altLang="en-US" sz="1600" b="1" dirty="0">
                <a:latin typeface="+mn-ea"/>
              </a:rPr>
              <a:t>长串长度</a:t>
            </a:r>
            <a:r>
              <a:rPr lang="en-US" altLang="zh-CN" sz="1600" b="1" dirty="0">
                <a:latin typeface="+mn-ea"/>
              </a:rPr>
              <a:t>________</a:t>
            </a:r>
            <a:r>
              <a:rPr lang="zh-CN" altLang="en-US" sz="1600" b="1" dirty="0">
                <a:latin typeface="+mn-ea"/>
              </a:rPr>
              <a:t>为止。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也置为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abcd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10821</Words>
  <Application>WPS 演示</Application>
  <PresentationFormat>宽屏</PresentationFormat>
  <Paragraphs>801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wps</cp:lastModifiedBy>
  <cp:revision>55</cp:revision>
  <dcterms:created xsi:type="dcterms:W3CDTF">2020-08-13T13:39:00Z</dcterms:created>
  <dcterms:modified xsi:type="dcterms:W3CDTF">2025-05-01T07:35:50Z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CD1EF64A244D4712B7D45A52A1E56651_12</vt:lpwstr>
  </property>
  <property fmtid="{D5CDD505-2E9C-101B-9397-08002B2CF9AE}" pid="3" name="KSOProductBuildVer">
    <vt:lpwstr>2052-12.8.2.15091</vt:lpwstr>
  </property>
</Properties>
</file>