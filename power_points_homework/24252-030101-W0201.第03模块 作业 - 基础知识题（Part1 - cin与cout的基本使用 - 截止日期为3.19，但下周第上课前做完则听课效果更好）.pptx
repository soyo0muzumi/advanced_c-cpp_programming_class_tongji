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1236" r:id="rId3"/>
    <p:sldId id="1268" r:id="rId5"/>
    <p:sldId id="1249" r:id="rId6"/>
    <p:sldId id="1230" r:id="rId7"/>
    <p:sldId id="449" r:id="rId8"/>
    <p:sldId id="492" r:id="rId9"/>
    <p:sldId id="1186" r:id="rId10"/>
    <p:sldId id="1188" r:id="rId11"/>
    <p:sldId id="1189" r:id="rId12"/>
    <p:sldId id="1190" r:id="rId13"/>
    <p:sldId id="1194" r:id="rId14"/>
    <p:sldId id="1193" r:id="rId15"/>
    <p:sldId id="1202" r:id="rId16"/>
    <p:sldId id="1213" r:id="rId17"/>
    <p:sldId id="1203" r:id="rId18"/>
    <p:sldId id="1214" r:id="rId19"/>
    <p:sldId id="1204" r:id="rId20"/>
    <p:sldId id="1269" r:id="rId21"/>
    <p:sldId id="1205" r:id="rId22"/>
    <p:sldId id="1216" r:id="rId23"/>
    <p:sldId id="1206" r:id="rId24"/>
    <p:sldId id="1210" r:id="rId25"/>
    <p:sldId id="1270" r:id="rId26"/>
    <p:sldId id="1209" r:id="rId27"/>
    <p:sldId id="1191" r:id="rId28"/>
    <p:sldId id="1192" r:id="rId29"/>
    <p:sldId id="1207" r:id="rId30"/>
    <p:sldId id="1208" r:id="rId31"/>
    <p:sldId id="1212" r:id="rId32"/>
    <p:sldId id="1217" r:id="rId33"/>
    <p:sldId id="1218" r:id="rId34"/>
    <p:sldId id="1221" r:id="rId35"/>
    <p:sldId id="1219" r:id="rId36"/>
    <p:sldId id="1220" r:id="rId37"/>
    <p:sldId id="1222" r:id="rId38"/>
    <p:sldId id="1224" r:id="rId39"/>
    <p:sldId id="1200" r:id="rId4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rry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844" autoAdjust="0"/>
    <p:restoredTop sz="86411" autoAdjust="0"/>
  </p:normalViewPr>
  <p:slideViewPr>
    <p:cSldViewPr snapToGrid="0">
      <p:cViewPr varScale="1">
        <p:scale>
          <a:sx n="90" d="100"/>
          <a:sy n="90" d="100"/>
        </p:scale>
        <p:origin x="8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4" Type="http://schemas.openxmlformats.org/officeDocument/2006/relationships/commentAuthors" Target="commentAuthors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115B22-8194-4FC8-9614-86C592EEABA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5F2CA6-A39B-48F7-84D1-AF91BD07D67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C41597-7941-4461-A03D-7D307C3317F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7E5104-8735-46A8-9820-8BD5C44B645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BB04D0-EC69-4E34-9026-1132273F6FE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34D7FE-E00D-4DCA-A0A7-A306174DC0C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E46EFE-F103-4F45-8883-0DE6C66B1B8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75AF18-52E2-4048-A908-642605843CB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2A61F9-4BE0-4887-A67C-4D288CA5699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7B2B09-852B-4EAA-A08A-0953A9F6334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CDC42-DFEF-458F-BD1B-2EFAEEF6801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>
              <a:defRPr/>
            </a:pPr>
            <a:fld id="{FF534AEE-0681-4001-91D8-DF8F111160F4}" type="slidenum">
              <a:rPr lang="en-US" altLang="zh-CN"/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9.png"/><Relationship Id="rId2" Type="http://schemas.openxmlformats.org/officeDocument/2006/relationships/image" Target="../media/image23.png"/><Relationship Id="rId1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、无特殊说明，均使用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编译即可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zh-CN" altLang="en-US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月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19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日前（两周）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zh-CN" altLang="en-US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特别说明：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、本次作业是预习作业，在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第三周第一次上课前完成效果更好</a:t>
            </a:r>
            <a:endParaRPr lang="en-US" altLang="zh-CN" sz="16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、对于作业过程中不清楚的问题或不会的内容，先不要问（不清楚的位置可以先做个标记，结合听课再去理解）</a:t>
            </a:r>
            <a:endParaRPr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贴图要求：只需要截取输出窗口中的有效部分即可，如果全部截取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截取过大，则视为无效贴图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例：无效贴图                                                                       例：有效贴图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853" y="1614221"/>
            <a:ext cx="8291512" cy="489989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148" y="1614221"/>
            <a:ext cx="2257143" cy="6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</a:t>
            </a:r>
            <a:r>
              <a:rPr lang="zh-CN" altLang="en-US" sz="1600" b="1" dirty="0">
                <a:latin typeface="+mn-ea"/>
              </a:rPr>
              <a:t>编辑窗的右下角是否为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" name="箭头: 右 4"/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146" y="1623695"/>
            <a:ext cx="9229725" cy="50196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特别提示：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1</a:t>
            </a:r>
            <a:r>
              <a:rPr lang="zh-CN" altLang="en-US" sz="2800" b="1" dirty="0">
                <a:latin typeface="+mn-ea"/>
              </a:rPr>
              <a:t>、做题过程中，先按要求输入，如果想替换数据，也要先做完指定输入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2</a:t>
            </a:r>
            <a:r>
              <a:rPr lang="zh-CN" altLang="en-US" sz="2800" b="1" dirty="0">
                <a:latin typeface="+mn-ea"/>
              </a:rPr>
              <a:t>、如果替换数据后出现某些问题，先记录下来，不要问，等全部完成后，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   </a:t>
            </a:r>
            <a:r>
              <a:rPr lang="zh-CN" altLang="en-US" sz="2800" b="1" dirty="0">
                <a:latin typeface="+mn-ea"/>
              </a:rPr>
              <a:t>还想不通再问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也许你的问题在后面的题目中有答案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3</a:t>
            </a:r>
            <a:r>
              <a:rPr lang="zh-CN" altLang="en-US" sz="2800" b="1" dirty="0">
                <a:latin typeface="+mn-ea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要求一个程序多次运行的，不要自以为是的修改程序，放在一次去运行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4</a:t>
            </a:r>
            <a:r>
              <a:rPr lang="zh-CN" altLang="en-US" sz="2800" b="1" dirty="0">
                <a:latin typeface="+mn-ea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不要偷懒、不要自以为是的脑补结论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!!!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5</a:t>
            </a:r>
            <a:r>
              <a:rPr lang="zh-CN" altLang="en-US" sz="2800" b="1" dirty="0">
                <a:latin typeface="+mn-ea"/>
              </a:rPr>
              <a:t>、先得到题目要求的小结论，再综合考虑上下题目间关系，得到综合结论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6</a:t>
            </a:r>
            <a:r>
              <a:rPr lang="zh-CN" altLang="en-US" sz="2800" b="1" dirty="0">
                <a:latin typeface="+mn-ea"/>
              </a:rPr>
              <a:t>、这些结论，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是让你记住的，不是让你完成作业后就忘掉了</a:t>
            </a:r>
            <a:endParaRPr lang="zh-CN" altLang="en-US" sz="28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7</a:t>
            </a:r>
            <a:r>
              <a:rPr lang="zh-CN" altLang="en-US" sz="2800" b="1" dirty="0">
                <a:latin typeface="+mn-ea"/>
              </a:rPr>
              <a:t>、换位思考</a:t>
            </a:r>
            <a:r>
              <a:rPr lang="en-US" altLang="zh-CN" sz="2800" b="1" dirty="0">
                <a:latin typeface="+mn-ea"/>
              </a:rPr>
              <a:t>(</a:t>
            </a:r>
            <a:r>
              <a:rPr lang="zh-CN" altLang="en-US" sz="2800" b="1" dirty="0">
                <a:latin typeface="+mn-ea"/>
              </a:rPr>
              <a:t>从老师角度出发</a:t>
            </a:r>
            <a:r>
              <a:rPr lang="en-US" altLang="zh-CN" sz="2800" b="1" dirty="0">
                <a:latin typeface="+mn-ea"/>
              </a:rPr>
              <a:t>)</a:t>
            </a:r>
            <a:r>
              <a:rPr lang="zh-CN" altLang="en-US" sz="2800" b="1" dirty="0">
                <a:latin typeface="+mn-ea"/>
              </a:rPr>
              <a:t>，这些题的目的是希望掌握什么学习方法？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基本知识点：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是按格式读入，到空格、回车、非法为止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的输入必须以回车结束，输入的内容放在输入缓冲区中，从输入缓冲区去取得所需要的内容后，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多余的内容还放在输入缓冲区中，等待下次读入（如果程序结束，则操作系统会清空输入缓冲区）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、系统会自动根据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后变量的类型按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最长原则</a:t>
            </a:r>
            <a:r>
              <a:rPr lang="zh-CN" altLang="en-US" sz="1600" b="1" dirty="0">
                <a:latin typeface="+mn-ea"/>
              </a:rPr>
              <a:t>来读取合理数据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、变量读取后，系统会判断输入数据是否超过变量的范围，若超过则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置内部的错误标记</a:t>
            </a:r>
            <a:r>
              <a:rPr lang="zh-CN" altLang="en-US" sz="1600" b="1" dirty="0">
                <a:latin typeface="+mn-ea"/>
              </a:rPr>
              <a:t>并返回一个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不可信</a:t>
            </a:r>
            <a:r>
              <a:rPr lang="zh-CN" altLang="en-US" sz="1600" b="1" dirty="0">
                <a:latin typeface="+mn-ea"/>
              </a:rPr>
              <a:t>的值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（不同编译器处理不同）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4.1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输入完成后，通过</a:t>
            </a:r>
            <a:r>
              <a:rPr lang="en-US" altLang="zh-CN" sz="1600" b="1" dirty="0" err="1">
                <a:latin typeface="+mn-ea"/>
              </a:rPr>
              <a:t>cin.good</a:t>
            </a:r>
            <a:r>
              <a:rPr lang="en-US" altLang="zh-CN" sz="1600" b="1" dirty="0">
                <a:latin typeface="+mn-ea"/>
              </a:rPr>
              <a:t>()/</a:t>
            </a:r>
            <a:r>
              <a:rPr lang="en-US" altLang="zh-CN" sz="1600" b="1" dirty="0" err="1">
                <a:latin typeface="+mn-ea"/>
              </a:rPr>
              <a:t>cin.fail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可判断本次输入是否正确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4.2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碰到非法字符后会置错误标记位，后面会一直错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（如何恢复还未学到，先放着）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4.3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连续输入多个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时，碰到非法字符，下一个是</a:t>
            </a:r>
            <a:r>
              <a:rPr lang="en-US" altLang="zh-CN" sz="1600" b="1" dirty="0">
                <a:latin typeface="+mn-ea"/>
              </a:rPr>
              <a:t>0</a:t>
            </a:r>
            <a:r>
              <a:rPr lang="zh-CN" altLang="en-US" sz="1600" b="1" dirty="0">
                <a:latin typeface="+mn-ea"/>
              </a:rPr>
              <a:t>，再下面才是随机值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4.4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超范围后，不同类型的数据处理不同，如果细节记不清，问题不大，但一定要知道有这回事，别奇怪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4.5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超范围和赋值超范围是不同的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根据数据类型决定输出形式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3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4800" b="1" dirty="0">
                <a:solidFill>
                  <a:srgbClr val="FF0000"/>
                </a:solidFill>
                <a:latin typeface="+mn-ea"/>
              </a:rPr>
              <a:t>6</a:t>
            </a:r>
            <a:r>
              <a:rPr lang="zh-CN" altLang="en-US" sz="4800" b="1" dirty="0">
                <a:solidFill>
                  <a:srgbClr val="FF0000"/>
                </a:solidFill>
                <a:latin typeface="+mn-ea"/>
              </a:rPr>
              <a:t>、先认真看课件 </a:t>
            </a:r>
            <a:r>
              <a:rPr lang="en-US" altLang="zh-CN" sz="4800" b="1" dirty="0">
                <a:solidFill>
                  <a:srgbClr val="FF0000"/>
                </a:solidFill>
                <a:latin typeface="+mn-ea"/>
              </a:rPr>
              <a:t>P.13-23 !!!</a:t>
            </a:r>
            <a:endParaRPr lang="en-US" altLang="zh-CN" sz="4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45387" y="4234030"/>
            <a:ext cx="6202120" cy="11360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组 *</a:t>
            </a:r>
            <a:r>
              <a:rPr lang="en-US" altLang="zh-CN" sz="1200" b="1" dirty="0">
                <a:latin typeface="+mn-ea"/>
              </a:rPr>
              <a:t>/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"This is a C++ program."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2</a:t>
            </a:r>
            <a:r>
              <a:rPr lang="zh-CN" altLang="en-US" sz="1200" b="1" dirty="0">
                <a:latin typeface="+mn-ea"/>
              </a:rPr>
              <a:t>组 *</a:t>
            </a:r>
            <a:r>
              <a:rPr lang="en-US" altLang="zh-CN" sz="1200" b="1" dirty="0">
                <a:latin typeface="+mn-ea"/>
              </a:rPr>
              <a:t>/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"This is " &lt;&lt; "a C++ " &lt;&lt; "program."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3</a:t>
            </a:r>
            <a:r>
              <a:rPr lang="zh-CN" altLang="en-US" sz="1200" b="1" dirty="0">
                <a:latin typeface="+mn-ea"/>
              </a:rPr>
              <a:t>组 *</a:t>
            </a:r>
            <a:r>
              <a:rPr lang="en-US" altLang="zh-CN" sz="1200" b="1" dirty="0">
                <a:latin typeface="+mn-ea"/>
              </a:rPr>
              <a:t>/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"This is "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 &lt;&lt; "a C++ "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 &lt;&lt; "program."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4</a:t>
            </a:r>
            <a:r>
              <a:rPr lang="zh-CN" altLang="en-US" sz="1200" b="1" dirty="0">
                <a:latin typeface="+mn-ea"/>
              </a:rPr>
              <a:t>组 *</a:t>
            </a:r>
            <a:r>
              <a:rPr lang="en-US" altLang="zh-CN" sz="1200" b="1" dirty="0">
                <a:latin typeface="+mn-ea"/>
              </a:rPr>
              <a:t>/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"This is ";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"a C++ ";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"program.";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lang="zh-CN" altLang="zh-CN" sz="12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190875" y="5665076"/>
            <a:ext cx="7648575" cy="86907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第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3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组和第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4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组在语句上的区别是：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第三组为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cout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连续输出，只调用了一次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cout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输出流，反复调用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operator&lt;&lt;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运算符重载函数，第四组反复调用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cout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输出流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进行输出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19805" y="3573780"/>
            <a:ext cx="2790825" cy="9290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个程序的运行结果，回答问题并将各程序的运行结果截图贴上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4" y="1323975"/>
            <a:ext cx="25855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a=10, b=15, c=20;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b &lt;&lt; c;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3177656" y="1323975"/>
            <a:ext cx="238231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a=10, b=15, c=20;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a, b, c;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559972" y="1323974"/>
            <a:ext cx="271166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a=10, b=15, c=20;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(a, b, c)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8271641" y="1323974"/>
            <a:ext cx="256377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a=10, b=15, c=20;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a, b, c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591820" y="4796155"/>
            <a:ext cx="7683500" cy="106807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解释这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3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个程序输出不同</a:t>
            </a:r>
            <a:r>
              <a:rPr kumimoji="1" lang="zh-CN" altLang="en-US" sz="1600" b="1" dirty="0">
                <a:latin typeface="+mn-ea"/>
              </a:rPr>
              <a:t>的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原因：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第一个程序输出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a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，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b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，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三个数据；第二个程序，我们转到反汇编发现，首先把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a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存到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edx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寄存器里面，然后再调用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operator&lt;&lt;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函数；第三个程序，先运算括号里的，得到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的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值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8271510" y="4796155"/>
            <a:ext cx="2567940" cy="109029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解释错误原因：当输入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a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的时候，调用的输出流已经结束了，所以无法再调用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endl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88010" y="5886450"/>
            <a:ext cx="10247630" cy="6477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b="1" dirty="0">
                <a:latin typeface="+mn-ea"/>
              </a:rPr>
              <a:t>结论：一个流插入运算符 </a:t>
            </a:r>
            <a:r>
              <a:rPr kumimoji="1" lang="en-US" altLang="zh-CN" sz="2400" b="1" dirty="0">
                <a:latin typeface="+mn-ea"/>
              </a:rPr>
              <a:t>&lt;&lt; </a:t>
            </a:r>
            <a:r>
              <a:rPr kumimoji="1" lang="zh-CN" altLang="en-US" sz="2400" b="1" dirty="0">
                <a:latin typeface="+mn-ea"/>
              </a:rPr>
              <a:t>只能输出</a:t>
            </a:r>
            <a:r>
              <a:rPr kumimoji="1" lang="en-US" altLang="zh-CN" sz="2400" b="1" dirty="0">
                <a:latin typeface="+mn-ea"/>
              </a:rPr>
              <a:t>____1___</a:t>
            </a:r>
            <a:r>
              <a:rPr kumimoji="1" lang="zh-CN" altLang="en-US" sz="2400" b="1" dirty="0">
                <a:latin typeface="+mn-ea"/>
              </a:rPr>
              <a:t>个数据</a:t>
            </a:r>
            <a:r>
              <a:rPr kumimoji="1" lang="en-US" altLang="zh-CN" sz="2400" b="1" dirty="0">
                <a:latin typeface="+mn-ea"/>
              </a:rPr>
              <a:t>.</a:t>
            </a:r>
            <a:endParaRPr kumimoji="1" lang="zh-CN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180" y="3429000"/>
            <a:ext cx="1043305" cy="1905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3290" y="3429000"/>
            <a:ext cx="457200" cy="2190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9775" y="3442970"/>
            <a:ext cx="728980" cy="20510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0875" y="3429000"/>
            <a:ext cx="3629025" cy="44767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0920" y="3771900"/>
            <a:ext cx="3815080" cy="9582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个程序的运行结果，回答问题并将各程序的运行结果截图贴上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3" y="1323975"/>
            <a:ext cx="515704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65;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749158" y="1323975"/>
            <a:ext cx="5090289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65;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88074" y="5665075"/>
            <a:ext cx="10247335" cy="8690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解释这两个程序输出不同的原因：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类型不同，编译器在处理的时候的操作也不同，左边程序为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char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类型，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’A’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对应的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ASCII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码值为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65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，输出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’A’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右边为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int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类型，所以输出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65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250" y="3595370"/>
            <a:ext cx="628650" cy="3333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035" y="3595370"/>
            <a:ext cx="36703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程序同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，将修改后符合要求的程序及运行结果贴上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3" y="1323975"/>
            <a:ext cx="515704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65;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749159" y="1323975"/>
            <a:ext cx="5090292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65;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88074" y="5665075"/>
            <a:ext cx="5157045" cy="8690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在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char</a:t>
            </a:r>
            <a:r>
              <a:rPr kumimoji="1" lang="zh-CN" altLang="en-US" sz="1600" b="1" dirty="0">
                <a:latin typeface="+mn-ea"/>
              </a:rPr>
              <a:t>类型不变的情况下，要求输出为</a:t>
            </a:r>
            <a:r>
              <a:rPr kumimoji="1" lang="en-US" altLang="zh-CN" sz="1600" b="1" dirty="0">
                <a:latin typeface="+mn-ea"/>
              </a:rPr>
              <a:t>65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（不允许添加其它变量）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745119" y="5665075"/>
            <a:ext cx="5094331" cy="8690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类型不变的情况下，要求输出为</a:t>
            </a:r>
            <a:r>
              <a:rPr kumimoji="1" lang="en-US" altLang="zh-CN" sz="1600" b="1" dirty="0">
                <a:latin typeface="+mn-ea"/>
              </a:rPr>
              <a:t>A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（不允许添加其它变量）</a:t>
            </a:r>
            <a:endParaRPr kumimoji="1" lang="zh-CN" altLang="en-US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440" y="3429000"/>
            <a:ext cx="2729230" cy="17862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9290" y="3482340"/>
            <a:ext cx="3638550" cy="17767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程序同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，将修改后符合要求的程序及运行结果贴上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3" y="1323975"/>
            <a:ext cx="515704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65;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92113" y="5665075"/>
            <a:ext cx="5157045" cy="8690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在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char</a:t>
            </a:r>
            <a:r>
              <a:rPr kumimoji="1" lang="zh-CN" altLang="en-US" sz="1600" b="1" dirty="0">
                <a:latin typeface="+mn-ea"/>
              </a:rPr>
              <a:t>类型不变的情况下，要求输出为</a:t>
            </a:r>
            <a:r>
              <a:rPr kumimoji="1" lang="en-US" altLang="zh-CN" sz="1600" b="1" dirty="0">
                <a:latin typeface="+mn-ea"/>
              </a:rPr>
              <a:t>65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（不允许添加其它变量，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</a:t>
            </a:r>
            <a:r>
              <a:rPr kumimoji="1" lang="zh-CN" altLang="en-US" sz="1600" b="1" dirty="0">
                <a:latin typeface="+mn-ea"/>
              </a:rPr>
              <a:t>不允许使用任何方式的强制类型转换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）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28035" y="2813050"/>
            <a:ext cx="5148580" cy="23387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</a:t>
            </a:r>
            <a:r>
              <a:rPr lang="en-US" altLang="zh-CN" sz="1600" b="1" dirty="0">
                <a:latin typeface="+mn-ea"/>
              </a:rPr>
              <a:t> 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运行下面的程序，观察不同输入下的运行结果（贴图在清晰可辨的情况下尽可能小）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4" y="1323975"/>
            <a:ext cx="33566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short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k;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k;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cin.good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 k=" &lt;&lt; k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948758" y="1323974"/>
            <a:ext cx="688665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456↙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 (↙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代表回车键，下同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456 123↙(</a:t>
            </a:r>
            <a:r>
              <a:rPr kumimoji="1" lang="zh-CN" altLang="en-US" sz="1200" b="1" dirty="0">
                <a:latin typeface="+mn-ea"/>
              </a:rPr>
              <a:t>一个空格</a:t>
            </a:r>
            <a:r>
              <a:rPr kumimoji="1" lang="en-US" altLang="zh-CN" sz="1200" b="1" dirty="0"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456    123↙(</a:t>
            </a:r>
            <a:r>
              <a:rPr kumimoji="1" lang="zh-CN" altLang="en-US" sz="1200" b="1" dirty="0">
                <a:latin typeface="+mn-ea"/>
              </a:rPr>
              <a:t>多个空格</a:t>
            </a:r>
            <a:r>
              <a:rPr kumimoji="1" lang="en-US" altLang="zh-CN" sz="1200" b="1" dirty="0"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456m↙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5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x↙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6</a:t>
            </a:r>
            <a:r>
              <a:rPr kumimoji="1" lang="zh-CN" altLang="en-US" sz="1200" b="1" dirty="0">
                <a:latin typeface="+mn-ea"/>
              </a:rPr>
              <a:t>、输入：     </a:t>
            </a:r>
            <a:r>
              <a:rPr kumimoji="1" lang="en-US" altLang="zh-CN" sz="1200" b="1" dirty="0">
                <a:latin typeface="+mn-ea"/>
              </a:rPr>
              <a:t>456↙ (</a:t>
            </a:r>
            <a:r>
              <a:rPr kumimoji="1" lang="zh-CN" altLang="en-US" sz="1200" b="1" dirty="0">
                <a:latin typeface="+mn-ea"/>
              </a:rPr>
              <a:t>持续多个空格后，再输入</a:t>
            </a:r>
            <a:r>
              <a:rPr kumimoji="1" lang="en-US" altLang="zh-CN" sz="1200" b="1" dirty="0">
                <a:latin typeface="+mn-ea"/>
              </a:rPr>
              <a:t>456</a:t>
            </a:r>
            <a:r>
              <a:rPr kumimoji="1" lang="zh-CN" altLang="en-US" sz="1200" b="1" dirty="0">
                <a:latin typeface="+mn-ea"/>
              </a:rPr>
              <a:t>，按回车</a:t>
            </a:r>
            <a:r>
              <a:rPr kumimoji="1" lang="en-US" altLang="zh-CN" sz="1200" b="1" dirty="0"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7</a:t>
            </a:r>
            <a:r>
              <a:rPr kumimoji="1" lang="zh-CN" altLang="en-US" sz="1200" b="1" dirty="0">
                <a:latin typeface="+mn-ea"/>
              </a:rPr>
              <a:t>、输入：     </a:t>
            </a:r>
            <a:r>
              <a:rPr kumimoji="1" lang="en-US" altLang="zh-CN" sz="1200" b="1" dirty="0">
                <a:latin typeface="+mn-ea"/>
              </a:rPr>
              <a:t>↙ (</a:t>
            </a:r>
            <a:r>
              <a:rPr kumimoji="1" lang="zh-CN" altLang="en-US" sz="1200" b="1" dirty="0">
                <a:latin typeface="+mn-ea"/>
              </a:rPr>
              <a:t>持续多个空格后，按回车</a:t>
            </a:r>
            <a:r>
              <a:rPr kumimoji="1" lang="en-US" altLang="zh-CN" sz="1200" b="1" dirty="0"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456↙   (</a:t>
            </a:r>
            <a:r>
              <a:rPr kumimoji="1" lang="zh-CN" altLang="en-US" sz="1200" b="1" dirty="0">
                <a:latin typeface="+mn-ea"/>
              </a:rPr>
              <a:t>再输入</a:t>
            </a:r>
            <a:r>
              <a:rPr kumimoji="1" lang="en-US" altLang="zh-CN" sz="1200" b="1" dirty="0">
                <a:latin typeface="+mn-ea"/>
              </a:rPr>
              <a:t>456</a:t>
            </a:r>
            <a:r>
              <a:rPr kumimoji="1" lang="zh-CN" altLang="en-US" sz="1200" b="1" dirty="0">
                <a:latin typeface="+mn-ea"/>
              </a:rPr>
              <a:t>，按回车</a:t>
            </a:r>
            <a:r>
              <a:rPr kumimoji="1" lang="en-US" altLang="zh-CN" sz="1200" b="1" dirty="0"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8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...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↙  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456↙ (</a:t>
            </a:r>
            <a:r>
              <a:rPr kumimoji="1" lang="zh-CN" altLang="en-US" sz="1200" b="1" dirty="0">
                <a:latin typeface="+mn-ea"/>
              </a:rPr>
              <a:t>持续多个空回车后，输入</a:t>
            </a:r>
            <a:r>
              <a:rPr kumimoji="1" lang="en-US" altLang="zh-CN" sz="1200" b="1" dirty="0">
                <a:latin typeface="+mn-ea"/>
              </a:rPr>
              <a:t>456)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分析结果：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、在前面有正确输入的情况下，回车、空格、</a:t>
            </a:r>
            <a:r>
              <a:rPr kumimoji="1" lang="en-US" altLang="zh-CN" sz="1200" b="1" dirty="0">
                <a:latin typeface="+mn-ea"/>
              </a:rPr>
              <a:t>(</a:t>
            </a:r>
            <a:r>
              <a:rPr kumimoji="1" lang="zh-CN" altLang="en-US" sz="1200" b="1" dirty="0">
                <a:latin typeface="+mn-ea"/>
              </a:rPr>
              <a:t>对</a:t>
            </a:r>
            <a:r>
              <a:rPr kumimoji="1" lang="en-US" altLang="zh-CN" sz="1200" b="1" dirty="0">
                <a:latin typeface="+mn-ea"/>
              </a:rPr>
              <a:t>int</a:t>
            </a:r>
            <a:r>
              <a:rPr kumimoji="1" lang="zh-CN" altLang="en-US" sz="1200" b="1" dirty="0">
                <a:latin typeface="+mn-ea"/>
              </a:rPr>
              <a:t>型而言是非法的字符</a:t>
            </a:r>
            <a:r>
              <a:rPr kumimoji="1" lang="en-US" altLang="zh-CN" sz="1200" b="1" dirty="0">
                <a:latin typeface="+mn-ea"/>
              </a:rPr>
              <a:t>)m</a:t>
            </a:r>
            <a:r>
              <a:rPr kumimoji="1" lang="zh-CN" altLang="en-US" sz="1200" b="1" dirty="0">
                <a:latin typeface="+mn-ea"/>
              </a:rPr>
              <a:t>的作用是？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停止输入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、直接输入若干空格和回车后，再输入正确，变量是否能得到正确的值？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不能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、直接输入</a:t>
            </a:r>
            <a:r>
              <a:rPr kumimoji="1" lang="en-US" altLang="zh-CN" sz="1200" b="1" dirty="0">
                <a:latin typeface="+mn-ea"/>
              </a:rPr>
              <a:t>(</a:t>
            </a:r>
            <a:r>
              <a:rPr kumimoji="1" lang="zh-CN" altLang="en-US" sz="1200" b="1" dirty="0">
                <a:latin typeface="+mn-ea"/>
              </a:rPr>
              <a:t>对</a:t>
            </a:r>
            <a:r>
              <a:rPr kumimoji="1" lang="en-US" altLang="zh-CN" sz="1200" b="1" dirty="0">
                <a:latin typeface="+mn-ea"/>
              </a:rPr>
              <a:t>int</a:t>
            </a:r>
            <a:r>
              <a:rPr kumimoji="1" lang="zh-CN" altLang="en-US" sz="1200" b="1" dirty="0">
                <a:latin typeface="+mn-ea"/>
              </a:rPr>
              <a:t>型而言是</a:t>
            </a:r>
            <a:r>
              <a:rPr kumimoji="1" lang="en-US" altLang="zh-CN" sz="1200" b="1" dirty="0">
                <a:latin typeface="+mn-ea"/>
              </a:rPr>
              <a:t>)</a:t>
            </a:r>
            <a:r>
              <a:rPr kumimoji="1" lang="zh-CN" altLang="en-US" sz="1200" b="1" dirty="0">
                <a:latin typeface="+mn-ea"/>
              </a:rPr>
              <a:t>非法的数据</a:t>
            </a:r>
            <a:r>
              <a:rPr kumimoji="1" lang="en-US" altLang="zh-CN" sz="1200" b="1" dirty="0">
                <a:latin typeface="+mn-ea"/>
              </a:rPr>
              <a:t>m</a:t>
            </a:r>
            <a:r>
              <a:rPr kumimoji="1" lang="zh-CN" altLang="en-US" sz="1200" b="1" dirty="0">
                <a:latin typeface="+mn-ea"/>
              </a:rPr>
              <a:t>，输出是？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0</a:t>
            </a:r>
            <a:r>
              <a:rPr kumimoji="1" lang="zh-CN" altLang="en-US" sz="1200" b="1" dirty="0">
                <a:latin typeface="+mn-ea"/>
              </a:rPr>
              <a:t>，</a:t>
            </a:r>
            <a:r>
              <a:rPr kumimoji="1" lang="en-US" altLang="zh-CN" sz="1200" b="1" dirty="0">
                <a:latin typeface="+mn-ea"/>
              </a:rPr>
              <a:t> </a:t>
            </a:r>
            <a:r>
              <a:rPr kumimoji="1" lang="en-US" altLang="zh-CN" sz="1200" b="1" dirty="0">
                <a:latin typeface="+mn-ea"/>
              </a:rPr>
              <a:t>k = 0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92114" y="4391025"/>
            <a:ext cx="3356644" cy="214312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基础知识：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short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的最小值是：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__-32768__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short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的最大值是：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__32767__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2114" y="5948516"/>
            <a:ext cx="3356644" cy="585634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全部做一遍，任选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题截图即可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多截不限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5040" y="1323975"/>
            <a:ext cx="1038225" cy="44323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5040" y="1852295"/>
            <a:ext cx="895350" cy="3714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5040" y="2352040"/>
            <a:ext cx="942975" cy="4476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运行下面的程序，观察不同输入下的运行结果（贴图在清晰可辨的情况下尽可能小）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4" y="1323975"/>
            <a:ext cx="5204572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short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k;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&gt;&gt; k;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"k=" &lt;&lt;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k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cin.good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()="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cin.good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cin.fail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()="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cin.fail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796685" y="1323974"/>
            <a:ext cx="503872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贴图即可，不需要写分析结果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3333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456↙     (</a:t>
            </a:r>
            <a:r>
              <a:rPr kumimoji="1" lang="zh-CN" altLang="en-US" sz="1600" b="1" dirty="0">
                <a:latin typeface="+mn-ea"/>
              </a:rPr>
              <a:t>正确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回车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456︺123↙(</a:t>
            </a:r>
            <a:r>
              <a:rPr kumimoji="1" lang="zh-CN" altLang="en-US" sz="1600" b="1" dirty="0">
                <a:latin typeface="+mn-ea"/>
              </a:rPr>
              <a:t>正确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空格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-456m↙   (</a:t>
            </a:r>
            <a:r>
              <a:rPr kumimoji="1" lang="zh-CN" altLang="en-US" sz="1600" b="1" dirty="0">
                <a:latin typeface="+mn-ea"/>
              </a:rPr>
              <a:t>正确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非法字符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m↙       (</a:t>
            </a:r>
            <a:r>
              <a:rPr kumimoji="1" lang="zh-CN" altLang="en-US" sz="1600" b="1" dirty="0">
                <a:latin typeface="+mn-ea"/>
              </a:rPr>
              <a:t>直接非法字符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54321↙   (</a:t>
            </a:r>
            <a:r>
              <a:rPr kumimoji="1" lang="zh-CN" altLang="en-US" sz="1600" b="1" dirty="0">
                <a:latin typeface="+mn-ea"/>
              </a:rPr>
              <a:t>超上限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6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-40000↙  (</a:t>
            </a:r>
            <a:r>
              <a:rPr kumimoji="1" lang="zh-CN" altLang="en-US" sz="1600" b="1" dirty="0">
                <a:latin typeface="+mn-ea"/>
              </a:rPr>
              <a:t>超下限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8539886" y="6043295"/>
            <a:ext cx="2295525" cy="49085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本题要求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+mn-ea"/>
              </a:rPr>
              <a:t>VS+Dev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92113" y="4857749"/>
            <a:ext cx="5204572" cy="16763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结论：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多个输入中，编号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__456_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值是不可信的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2114" y="6184490"/>
            <a:ext cx="5204570" cy="34966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全部做一遍，任选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题截图即可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多截不限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0020" y="1569085"/>
            <a:ext cx="1276350" cy="762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5615" y="3788410"/>
            <a:ext cx="1281430" cy="7194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B-Compare.</a:t>
            </a:r>
            <a:r>
              <a:rPr lang="zh-CN" altLang="en-US" sz="1600" b="1" dirty="0">
                <a:latin typeface="+mn-ea"/>
              </a:rPr>
              <a:t>运行下面的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对比</a:t>
            </a:r>
            <a:r>
              <a:rPr lang="zh-CN" altLang="en-US" sz="1600" b="1" dirty="0">
                <a:latin typeface="+mn-ea"/>
              </a:rPr>
              <a:t>程序（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输入与赋值），观察运行结果并与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的输出结果进行对比分析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4" y="1323975"/>
            <a:ext cx="33566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short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k1, k2, k3, k4, k5;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k1 = 12345;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k2 = 54321;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k3 = 70000;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k4 = -12345;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k5 = -54321;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k1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k2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k3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k4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k5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948758" y="1323974"/>
            <a:ext cx="688665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B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的输入：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、输入：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12345</a:t>
            </a:r>
            <a:r>
              <a:rPr kumimoji="1" lang="en-US" altLang="zh-CN" sz="1600" b="1" dirty="0">
                <a:latin typeface="+mn-ea"/>
              </a:rPr>
              <a:t>↙ </a:t>
            </a:r>
            <a:r>
              <a:rPr kumimoji="1" lang="zh-CN" altLang="en-US" sz="1600" b="1" dirty="0">
                <a:latin typeface="+mn-ea"/>
              </a:rPr>
              <a:t>（合理范围）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k1=12345</a:t>
            </a:r>
            <a:endParaRPr kumimoji="1" lang="en-US" altLang="zh-CN" sz="1600" b="1" dirty="0">
              <a:latin typeface="+mn-ea"/>
            </a:endParaRPr>
          </a:p>
          <a:p>
            <a:pPr indent="4572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一致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54321↙</a:t>
            </a:r>
            <a:r>
              <a:rPr kumimoji="1" lang="zh-CN" altLang="en-US" sz="1600" b="1" dirty="0">
                <a:latin typeface="+mn-ea"/>
              </a:rPr>
              <a:t> （超上限但未超同类型的</a:t>
            </a:r>
            <a:r>
              <a:rPr kumimoji="1" lang="en-US" altLang="zh-CN" sz="1600" b="1" dirty="0" err="1">
                <a:latin typeface="+mn-ea"/>
              </a:rPr>
              <a:t>u_short</a:t>
            </a:r>
            <a:r>
              <a:rPr kumimoji="1" lang="zh-CN" altLang="en-US" sz="1600" b="1" dirty="0">
                <a:latin typeface="+mn-ea"/>
              </a:rPr>
              <a:t>上限）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k2=32767</a:t>
            </a:r>
            <a:endParaRPr kumimoji="1" lang="en-US" altLang="zh-CN" sz="1600" b="1" dirty="0">
              <a:latin typeface="+mn-ea"/>
            </a:endParaRPr>
          </a:p>
          <a:p>
            <a:pPr indent="4572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不一致，</a:t>
            </a:r>
            <a:r>
              <a:rPr kumimoji="1" lang="en-US" altLang="zh-CN" sz="1600" b="1" dirty="0">
                <a:latin typeface="+mn-ea"/>
              </a:rPr>
              <a:t>short</a:t>
            </a:r>
            <a:r>
              <a:rPr kumimoji="1" lang="zh-CN" altLang="en-US" sz="1600" b="1" dirty="0">
                <a:latin typeface="+mn-ea"/>
              </a:rPr>
              <a:t>最大值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70000↙</a:t>
            </a:r>
            <a:r>
              <a:rPr kumimoji="1" lang="zh-CN" altLang="en-US" sz="1600" b="1" dirty="0">
                <a:latin typeface="+mn-ea"/>
              </a:rPr>
              <a:t> （超上限且超过同类型的</a:t>
            </a:r>
            <a:r>
              <a:rPr kumimoji="1" lang="en-US" altLang="zh-CN" sz="1600" b="1" dirty="0" err="1">
                <a:latin typeface="+mn-ea"/>
              </a:rPr>
              <a:t>u_short</a:t>
            </a:r>
            <a:r>
              <a:rPr kumimoji="1" lang="zh-CN" altLang="en-US" sz="1600" b="1" dirty="0">
                <a:latin typeface="+mn-ea"/>
              </a:rPr>
              <a:t>上限）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k3=32767</a:t>
            </a:r>
            <a:endParaRPr kumimoji="1" lang="en-US" altLang="zh-CN" sz="1600" b="1" dirty="0">
              <a:latin typeface="+mn-ea"/>
            </a:endParaRPr>
          </a:p>
          <a:p>
            <a:pPr indent="4572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不一致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-12345↙</a:t>
            </a:r>
            <a:r>
              <a:rPr kumimoji="1" lang="zh-CN" altLang="en-US" sz="1600" b="1" dirty="0">
                <a:latin typeface="+mn-ea"/>
              </a:rPr>
              <a:t>（合理范围）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k4=-12345</a:t>
            </a:r>
            <a:endParaRPr kumimoji="1" lang="en-US" altLang="zh-CN" sz="1600" b="1" dirty="0">
              <a:latin typeface="+mn-ea"/>
            </a:endParaRPr>
          </a:p>
          <a:p>
            <a:pPr indent="4572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一致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-54321↙</a:t>
            </a:r>
            <a:r>
              <a:rPr kumimoji="1" lang="zh-CN" altLang="en-US" sz="1600" b="1" dirty="0">
                <a:latin typeface="+mn-ea"/>
              </a:rPr>
              <a:t>（超下限）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k5=-32768	</a:t>
            </a:r>
            <a:endParaRPr kumimoji="1" lang="en-US" altLang="zh-CN" sz="1600" b="1" dirty="0">
              <a:latin typeface="+mn-ea"/>
            </a:endParaRPr>
          </a:p>
          <a:p>
            <a:pPr indent="4572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tx1"/>
                </a:solidFill>
                <a:latin typeface="+mn-ea"/>
              </a:rPr>
              <a:t>不一致，</a:t>
            </a:r>
            <a:r>
              <a:rPr kumimoji="1" lang="en-US" altLang="zh-CN" sz="1600" b="1" dirty="0">
                <a:solidFill>
                  <a:schemeClr val="tx1"/>
                </a:solidFill>
                <a:latin typeface="+mn-ea"/>
              </a:rPr>
              <a:t>short</a:t>
            </a:r>
            <a:r>
              <a:rPr kumimoji="1" lang="zh-CN" altLang="en-US" sz="1600" b="1" dirty="0">
                <a:solidFill>
                  <a:schemeClr val="tx1"/>
                </a:solidFill>
                <a:latin typeface="+mn-ea"/>
              </a:rPr>
              <a:t>类型最小值</a:t>
            </a:r>
            <a:endParaRPr kumimoji="1" lang="zh-CN" altLang="en-US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8103477" y="1323974"/>
            <a:ext cx="2731934" cy="39052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u_short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=unsigned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short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6740" y="4519930"/>
            <a:ext cx="709930" cy="8858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395" y="5796915"/>
            <a:ext cx="589153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仿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，自行构造不同测试数据，观察不同输入下的运行结果（贴图在清晰可辨的情况下尽可能小）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4" y="1323975"/>
            <a:ext cx="520457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int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k;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&gt;&gt; k;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"k=" &lt;&lt;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k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cin.good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()="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cin.good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cin.fail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()="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cin.fail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796685" y="1323974"/>
            <a:ext cx="569999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贴图即可，不需要写分析结果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__1__↙ </a:t>
            </a:r>
            <a:r>
              <a:rPr kumimoji="1" lang="zh-CN" altLang="en-US" sz="1600" b="1" dirty="0">
                <a:latin typeface="+mn-ea"/>
              </a:rPr>
              <a:t>（合理范围）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_40000000000_↙</a:t>
            </a:r>
            <a:r>
              <a:rPr kumimoji="1" lang="zh-CN" altLang="en-US" sz="1600" b="1" dirty="0">
                <a:latin typeface="+mn-ea"/>
              </a:rPr>
              <a:t> （超上限但未超同类型的</a:t>
            </a:r>
            <a:r>
              <a:rPr kumimoji="1" lang="en-US" altLang="zh-CN" sz="1600" b="1" dirty="0" err="1">
                <a:latin typeface="+mn-ea"/>
              </a:rPr>
              <a:t>u_int</a:t>
            </a:r>
            <a:r>
              <a:rPr kumimoji="1" lang="zh-CN" altLang="en-US" sz="1600" b="1" dirty="0">
                <a:latin typeface="+mn-ea"/>
              </a:rPr>
              <a:t>上限）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en-US" altLang="zh-CN" sz="1600" b="1" dirty="0">
                <a:latin typeface="+mn-ea"/>
                <a:sym typeface="+mn-ea"/>
              </a:rPr>
              <a:t>8</a:t>
            </a:r>
            <a:r>
              <a:rPr kumimoji="1" lang="en-US" altLang="zh-CN" sz="1600" b="1" dirty="0">
                <a:latin typeface="+mn-ea"/>
                <a:sym typeface="+mn-ea"/>
              </a:rPr>
              <a:t>0000000000</a:t>
            </a:r>
            <a:r>
              <a:rPr kumimoji="1" lang="en-US" altLang="zh-CN" sz="1600" b="1" dirty="0">
                <a:latin typeface="+mn-ea"/>
              </a:rPr>
              <a:t>↙</a:t>
            </a:r>
            <a:r>
              <a:rPr kumimoji="1" lang="zh-CN" altLang="en-US" sz="1600" b="1" dirty="0">
                <a:latin typeface="+mn-ea"/>
              </a:rPr>
              <a:t> （超上限且超过同类型的</a:t>
            </a:r>
            <a:r>
              <a:rPr kumimoji="1" lang="en-US" altLang="zh-CN" sz="1600" b="1" dirty="0" err="1">
                <a:latin typeface="+mn-ea"/>
              </a:rPr>
              <a:t>u_int</a:t>
            </a:r>
            <a:r>
              <a:rPr kumimoji="1" lang="zh-CN" altLang="en-US" sz="1600" b="1" dirty="0">
                <a:latin typeface="+mn-ea"/>
              </a:rPr>
              <a:t>上限）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_-1__↙ </a:t>
            </a:r>
            <a:r>
              <a:rPr kumimoji="1" lang="zh-CN" altLang="en-US" sz="1600" b="1" dirty="0">
                <a:latin typeface="+mn-ea"/>
              </a:rPr>
              <a:t>（合理范围）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_-</a:t>
            </a:r>
            <a:r>
              <a:rPr kumimoji="1" lang="en-US" altLang="zh-CN" sz="1600" b="1" dirty="0">
                <a:latin typeface="+mn-ea"/>
                <a:sym typeface="+mn-ea"/>
              </a:rPr>
              <a:t>40000000000</a:t>
            </a:r>
            <a:r>
              <a:rPr kumimoji="1" lang="en-US" altLang="zh-CN" sz="1600" b="1" dirty="0">
                <a:latin typeface="+mn-ea"/>
              </a:rPr>
              <a:t>_↙ </a:t>
            </a:r>
            <a:r>
              <a:rPr kumimoji="1" lang="zh-CN" altLang="en-US" sz="1600" b="1" dirty="0">
                <a:latin typeface="+mn-ea"/>
              </a:rPr>
              <a:t>（超下限）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9201149" y="6043294"/>
            <a:ext cx="2295525" cy="49085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本题要求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+mn-ea"/>
              </a:rPr>
              <a:t>VS+Dev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92113" y="4857749"/>
            <a:ext cx="5204571" cy="16763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结论：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多个输入中，编号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值是不可信的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9201149" y="1323974"/>
            <a:ext cx="2295525" cy="39052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u_int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=unsigned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int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92114" y="6174658"/>
            <a:ext cx="5204570" cy="359492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全部做一遍，任选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题截图即可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多截不限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1150" y="1782445"/>
            <a:ext cx="257175" cy="4667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7470" y="2964815"/>
            <a:ext cx="1114425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C-Compare.</a:t>
            </a:r>
            <a:r>
              <a:rPr lang="zh-CN" altLang="en-US" sz="1600" b="1" dirty="0">
                <a:latin typeface="+mn-ea"/>
              </a:rPr>
              <a:t>仿</a:t>
            </a:r>
            <a:r>
              <a:rPr lang="en-US" altLang="zh-CN" sz="1600" b="1" dirty="0">
                <a:latin typeface="+mn-ea"/>
              </a:rPr>
              <a:t>B-Compare</a:t>
            </a:r>
            <a:r>
              <a:rPr lang="zh-CN" altLang="en-US" sz="1600" b="1" dirty="0">
                <a:latin typeface="+mn-ea"/>
              </a:rPr>
              <a:t>，构造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对比</a:t>
            </a:r>
            <a:r>
              <a:rPr lang="zh-CN" altLang="en-US" sz="1600" b="1" dirty="0">
                <a:latin typeface="+mn-ea"/>
              </a:rPr>
              <a:t>程序（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输入与赋值，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型），观察运行结果并与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的输出结果进行对比分析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注：具体对比程序及输出结果等不要再贴图，自行完成即可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需要回答下列问题（回答问题不是完成作业，而是自己真的弄懂了概念后的总结） 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89541" y="2199872"/>
            <a:ext cx="10604640" cy="436455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赋值超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上限但未超同类型的</a:t>
            </a:r>
            <a:r>
              <a:rPr kumimoji="1" lang="en-US" altLang="zh-CN" sz="1600" b="1" dirty="0" err="1">
                <a:latin typeface="+mn-ea"/>
              </a:rPr>
              <a:t>u_int</a:t>
            </a:r>
            <a:r>
              <a:rPr kumimoji="1" lang="zh-CN" altLang="en-US" sz="1600" b="1" dirty="0">
                <a:latin typeface="+mn-ea"/>
              </a:rPr>
              <a:t>上限，两者是否一致？如果有区别，区别是？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不一致，赋值会删掉多的位，</a:t>
            </a:r>
            <a:r>
              <a:rPr kumimoji="1" lang="zh-CN" altLang="en-US" sz="1600" b="1" dirty="0">
                <a:latin typeface="+mn-ea"/>
                <a:sym typeface="+mn-ea"/>
              </a:rPr>
              <a:t>而输入会自动转成类型的最大值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赋值超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上限且超同类型的</a:t>
            </a:r>
            <a:r>
              <a:rPr kumimoji="1" lang="en-US" altLang="zh-CN" sz="1600" b="1" dirty="0" err="1">
                <a:latin typeface="+mn-ea"/>
              </a:rPr>
              <a:t>u_int</a:t>
            </a:r>
            <a:r>
              <a:rPr kumimoji="1" lang="zh-CN" altLang="en-US" sz="1600" b="1" dirty="0">
                <a:latin typeface="+mn-ea"/>
              </a:rPr>
              <a:t>上限，两者是否一致？如果有区别，区别是？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不一致，赋值会删掉多的位，而输入会自动转成类型的最大值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赋值超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下限，两者是否一致？如果有区别，区别是？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  <a:sym typeface="+mn-ea"/>
              </a:rPr>
              <a:t>不一致，赋值会删掉多的位，而输入会自动转成类型的最大值</a:t>
            </a:r>
            <a:endParaRPr kumimoji="1"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运行下面的程序，观察不同输入下的运行结果（贴图在清晰可辨的情况下尽可能小）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3" y="1323975"/>
            <a:ext cx="520457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unsigned short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k;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&gt;&gt; k;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"k=" &lt;&lt; k;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" good="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cin.good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" fail="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cin.fail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796683" y="1323974"/>
            <a:ext cx="610004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贴图即可，不需要写分析结果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、输入：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12345</a:t>
            </a:r>
            <a:r>
              <a:rPr kumimoji="1" lang="en-US" altLang="zh-CN" sz="1600" b="1" dirty="0">
                <a:latin typeface="+mn-ea"/>
              </a:rPr>
              <a:t>↙ </a:t>
            </a:r>
            <a:r>
              <a:rPr kumimoji="1" lang="zh-CN" altLang="en-US" sz="1600" b="1" dirty="0">
                <a:latin typeface="+mn-ea"/>
              </a:rPr>
              <a:t>（合理范围）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70000↙</a:t>
            </a:r>
            <a:r>
              <a:rPr kumimoji="1" lang="zh-CN" altLang="en-US" sz="1600" b="1" dirty="0">
                <a:latin typeface="+mn-ea"/>
              </a:rPr>
              <a:t> （超上限）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-12345↙</a:t>
            </a:r>
            <a:r>
              <a:rPr kumimoji="1" lang="zh-CN" altLang="en-US" sz="1600" b="1" dirty="0">
                <a:latin typeface="+mn-ea"/>
              </a:rPr>
              <a:t>（负数但未超过</a:t>
            </a:r>
            <a:r>
              <a:rPr kumimoji="1" lang="en-US" altLang="zh-CN" sz="1600" b="1" dirty="0">
                <a:latin typeface="+mn-ea"/>
              </a:rPr>
              <a:t>short</a:t>
            </a:r>
            <a:r>
              <a:rPr kumimoji="1" lang="zh-CN" altLang="en-US" sz="1600" b="1" dirty="0">
                <a:latin typeface="+mn-ea"/>
              </a:rPr>
              <a:t>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-1↙    </a:t>
            </a:r>
            <a:r>
              <a:rPr kumimoji="1" lang="zh-CN" altLang="en-US" sz="1600" b="1" dirty="0">
                <a:latin typeface="+mn-ea"/>
              </a:rPr>
              <a:t>（负数且未超过</a:t>
            </a:r>
            <a:r>
              <a:rPr kumimoji="1" lang="en-US" altLang="zh-CN" sz="1600" b="1" dirty="0">
                <a:latin typeface="+mn-ea"/>
              </a:rPr>
              <a:t>short</a:t>
            </a:r>
            <a:r>
              <a:rPr kumimoji="1" lang="zh-CN" altLang="en-US" sz="1600" b="1" dirty="0">
                <a:latin typeface="+mn-ea"/>
              </a:rPr>
              <a:t>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-65535↙</a:t>
            </a:r>
            <a:r>
              <a:rPr kumimoji="1" lang="zh-CN" altLang="en-US" sz="1600" b="1" dirty="0">
                <a:latin typeface="+mn-ea"/>
              </a:rPr>
              <a:t>（负数且未超过</a:t>
            </a:r>
            <a:r>
              <a:rPr kumimoji="1" lang="en-US" altLang="zh-CN" sz="1600" b="1" dirty="0" err="1">
                <a:latin typeface="+mn-ea"/>
              </a:rPr>
              <a:t>u_short</a:t>
            </a:r>
            <a:r>
              <a:rPr kumimoji="1" lang="zh-CN" altLang="en-US" sz="1600" b="1" dirty="0">
                <a:latin typeface="+mn-ea"/>
              </a:rPr>
              <a:t>上限加负号后的下限）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6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-65536↙</a:t>
            </a:r>
            <a:r>
              <a:rPr kumimoji="1" lang="zh-CN" altLang="en-US" sz="1600" b="1" dirty="0">
                <a:latin typeface="+mn-ea"/>
              </a:rPr>
              <a:t>（负数且超过</a:t>
            </a:r>
            <a:r>
              <a:rPr kumimoji="1" lang="en-US" altLang="zh-CN" sz="1600" b="1" dirty="0" err="1">
                <a:latin typeface="+mn-ea"/>
              </a:rPr>
              <a:t>u_short</a:t>
            </a:r>
            <a:r>
              <a:rPr kumimoji="1" lang="zh-CN" altLang="en-US" sz="1600" b="1" dirty="0">
                <a:latin typeface="+mn-ea"/>
              </a:rPr>
              <a:t>上限加负号后的下限）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9601199" y="6043294"/>
            <a:ext cx="2295525" cy="49085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本题要求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+mn-ea"/>
              </a:rPr>
              <a:t>VS+Dev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92113" y="4857749"/>
            <a:ext cx="5204571" cy="16763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结论：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多个输入中，编号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值是不可信的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9270124" y="1323973"/>
            <a:ext cx="2636125" cy="39052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u_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short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=unsigned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short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92112" y="6154993"/>
            <a:ext cx="5204569" cy="37915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全部做一遍，任选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题截图即可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多截不限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7170" y="1825625"/>
            <a:ext cx="2219325" cy="381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354580"/>
            <a:ext cx="2028825" cy="44323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D-Compare.</a:t>
            </a:r>
            <a:r>
              <a:rPr lang="zh-CN" altLang="en-US" sz="1600" b="1" dirty="0">
                <a:latin typeface="+mn-ea"/>
              </a:rPr>
              <a:t>仿</a:t>
            </a:r>
            <a:r>
              <a:rPr lang="en-US" altLang="zh-CN" sz="1600" b="1" dirty="0">
                <a:latin typeface="+mn-ea"/>
              </a:rPr>
              <a:t>B-Compare</a:t>
            </a:r>
            <a:r>
              <a:rPr lang="zh-CN" altLang="en-US" sz="1600" b="1" dirty="0">
                <a:latin typeface="+mn-ea"/>
              </a:rPr>
              <a:t>构造的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对比</a:t>
            </a:r>
            <a:r>
              <a:rPr lang="zh-CN" altLang="en-US" sz="1600" b="1" dirty="0">
                <a:latin typeface="+mn-ea"/>
              </a:rPr>
              <a:t>程序（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输入与赋值，</a:t>
            </a:r>
            <a:r>
              <a:rPr lang="en-US" altLang="zh-CN" sz="1600" b="1" dirty="0" err="1">
                <a:latin typeface="+mn-ea"/>
              </a:rPr>
              <a:t>u_short</a:t>
            </a:r>
            <a:r>
              <a:rPr lang="zh-CN" altLang="en-US" sz="1600" b="1" dirty="0">
                <a:latin typeface="+mn-ea"/>
              </a:rPr>
              <a:t>型），观察运行结果并与</a:t>
            </a:r>
            <a:r>
              <a:rPr lang="en-US" altLang="zh-CN" sz="1600" b="1" dirty="0">
                <a:latin typeface="+mn-ea"/>
              </a:rPr>
              <a:t>D</a:t>
            </a:r>
            <a:r>
              <a:rPr lang="zh-CN" altLang="en-US" sz="1600" b="1" dirty="0">
                <a:latin typeface="+mn-ea"/>
              </a:rPr>
              <a:t>的输出结果进行对比分析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3" y="1323975"/>
            <a:ext cx="520457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unsigned short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k1, k2, k3, k4, k5, k6;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k1 = 12345;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k2 = 70000;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k3 = -12345;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k4 = -1;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k5 = -65535;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k6 = -65536;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k1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k2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k3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k4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k5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k6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796683" y="1323974"/>
            <a:ext cx="610004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贴图即可（有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warning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还有贴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warning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），不需要写分析结果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、输入：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12345</a:t>
            </a:r>
            <a:r>
              <a:rPr kumimoji="1" lang="en-US" altLang="zh-CN" sz="1600" b="1" dirty="0">
                <a:latin typeface="+mn-ea"/>
              </a:rPr>
              <a:t>↙ </a:t>
            </a:r>
            <a:r>
              <a:rPr kumimoji="1" lang="zh-CN" altLang="en-US" sz="1600" b="1" dirty="0">
                <a:latin typeface="+mn-ea"/>
              </a:rPr>
              <a:t>（合理范围）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k1=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70000↙</a:t>
            </a:r>
            <a:r>
              <a:rPr kumimoji="1" lang="zh-CN" altLang="en-US" sz="1600" b="1" dirty="0">
                <a:latin typeface="+mn-ea"/>
              </a:rPr>
              <a:t> （超上限）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k2=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-12345↙</a:t>
            </a:r>
            <a:r>
              <a:rPr kumimoji="1" lang="zh-CN" altLang="en-US" sz="1600" b="1" dirty="0">
                <a:latin typeface="+mn-ea"/>
              </a:rPr>
              <a:t>（负数但未超过</a:t>
            </a:r>
            <a:r>
              <a:rPr kumimoji="1" lang="en-US" altLang="zh-CN" sz="1600" b="1" dirty="0">
                <a:latin typeface="+mn-ea"/>
              </a:rPr>
              <a:t>short</a:t>
            </a:r>
            <a:r>
              <a:rPr kumimoji="1" lang="zh-CN" altLang="en-US" sz="1600" b="1" dirty="0">
                <a:latin typeface="+mn-ea"/>
              </a:rPr>
              <a:t>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k3=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-1↙    </a:t>
            </a:r>
            <a:r>
              <a:rPr kumimoji="1" lang="zh-CN" altLang="en-US" sz="1600" b="1" dirty="0">
                <a:latin typeface="+mn-ea"/>
              </a:rPr>
              <a:t>（负数且未超过</a:t>
            </a:r>
            <a:r>
              <a:rPr kumimoji="1" lang="en-US" altLang="zh-CN" sz="1600" b="1" dirty="0">
                <a:latin typeface="+mn-ea"/>
              </a:rPr>
              <a:t>short</a:t>
            </a:r>
            <a:r>
              <a:rPr kumimoji="1" lang="zh-CN" altLang="en-US" sz="1600" b="1" dirty="0">
                <a:latin typeface="+mn-ea"/>
              </a:rPr>
              <a:t>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k4=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-65535↙</a:t>
            </a:r>
            <a:r>
              <a:rPr kumimoji="1" lang="zh-CN" altLang="en-US" sz="1600" b="1" dirty="0">
                <a:latin typeface="+mn-ea"/>
              </a:rPr>
              <a:t>（负数且未超过</a:t>
            </a:r>
            <a:r>
              <a:rPr kumimoji="1" lang="en-US" altLang="zh-CN" sz="1600" b="1" dirty="0" err="1">
                <a:latin typeface="+mn-ea"/>
              </a:rPr>
              <a:t>u_short</a:t>
            </a:r>
            <a:r>
              <a:rPr kumimoji="1" lang="zh-CN" altLang="en-US" sz="1600" b="1" dirty="0">
                <a:latin typeface="+mn-ea"/>
              </a:rPr>
              <a:t>上限加负号后的下限）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k5=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6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-65536↙</a:t>
            </a:r>
            <a:r>
              <a:rPr kumimoji="1" lang="zh-CN" altLang="en-US" sz="1600" b="1" dirty="0">
                <a:latin typeface="+mn-ea"/>
              </a:rPr>
              <a:t>（负数且超过</a:t>
            </a:r>
            <a:r>
              <a:rPr kumimoji="1" lang="en-US" altLang="zh-CN" sz="1600" b="1" dirty="0" err="1">
                <a:latin typeface="+mn-ea"/>
              </a:rPr>
              <a:t>u_short</a:t>
            </a:r>
            <a:r>
              <a:rPr kumimoji="1" lang="zh-CN" altLang="en-US" sz="1600" b="1" dirty="0">
                <a:latin typeface="+mn-ea"/>
              </a:rPr>
              <a:t>上限加负号后的下限）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k6=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9601199" y="6043294"/>
            <a:ext cx="2295525" cy="49085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本题要求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+mn-ea"/>
              </a:rPr>
              <a:t>VS+Dev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3160557" y="1323973"/>
            <a:ext cx="2636125" cy="39052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u_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short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=unsigned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short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98545" y="2783205"/>
            <a:ext cx="962025" cy="11480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3585" y="4356735"/>
            <a:ext cx="5891530" cy="5715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8545" y="5108575"/>
            <a:ext cx="1095375" cy="11049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仿</a:t>
            </a:r>
            <a:r>
              <a:rPr lang="en-US" altLang="zh-CN" sz="1600" b="1" dirty="0">
                <a:latin typeface="+mn-ea"/>
              </a:rPr>
              <a:t>D</a:t>
            </a:r>
            <a:r>
              <a:rPr lang="zh-CN" altLang="en-US" sz="1600" b="1" dirty="0">
                <a:latin typeface="+mn-ea"/>
              </a:rPr>
              <a:t>，自行构造不同测试数据，观察不同输入下的运行结果（贴图在清晰可辨的情况下尽可能小）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4" y="1323975"/>
            <a:ext cx="520457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unsigned int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k;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&gt;&gt; k;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"k=" &lt;&lt;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k;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" good()="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cin.good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" fail()="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cin.fail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796684" y="1323974"/>
            <a:ext cx="610956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贴图即可，不需要写分析结果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___↙ </a:t>
            </a:r>
            <a:r>
              <a:rPr kumimoji="1" lang="zh-CN" altLang="en-US" sz="1600" b="1" dirty="0">
                <a:latin typeface="+mn-ea"/>
              </a:rPr>
              <a:t>（合理范围）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__↙</a:t>
            </a:r>
            <a:r>
              <a:rPr kumimoji="1" lang="zh-CN" altLang="en-US" sz="1600" b="1" dirty="0">
                <a:latin typeface="+mn-ea"/>
              </a:rPr>
              <a:t> （超上限）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__↙</a:t>
            </a:r>
            <a:r>
              <a:rPr kumimoji="1" lang="zh-CN" altLang="en-US" sz="1600" b="1" dirty="0">
                <a:latin typeface="+mn-ea"/>
              </a:rPr>
              <a:t>（负数但未超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__↙</a:t>
            </a:r>
            <a:r>
              <a:rPr kumimoji="1" lang="zh-CN" altLang="en-US" sz="1600" b="1" dirty="0">
                <a:latin typeface="+mn-ea"/>
              </a:rPr>
              <a:t>（负数且未超过</a:t>
            </a:r>
            <a:r>
              <a:rPr kumimoji="1" lang="en-US" altLang="zh-CN" sz="1600" b="1" dirty="0" err="1">
                <a:latin typeface="+mn-ea"/>
              </a:rPr>
              <a:t>u_int</a:t>
            </a:r>
            <a:r>
              <a:rPr kumimoji="1" lang="zh-CN" altLang="en-US" sz="1600" b="1" dirty="0">
                <a:latin typeface="+mn-ea"/>
              </a:rPr>
              <a:t>上限加负号后的下限）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__↙</a:t>
            </a:r>
            <a:r>
              <a:rPr kumimoji="1" lang="zh-CN" altLang="en-US" sz="1600" b="1" dirty="0">
                <a:latin typeface="+mn-ea"/>
              </a:rPr>
              <a:t>（负数且超过</a:t>
            </a:r>
            <a:r>
              <a:rPr kumimoji="1" lang="en-US" altLang="zh-CN" sz="1600" b="1" dirty="0" err="1">
                <a:latin typeface="+mn-ea"/>
              </a:rPr>
              <a:t>u_int</a:t>
            </a:r>
            <a:r>
              <a:rPr kumimoji="1" lang="zh-CN" altLang="en-US" sz="1600" b="1" dirty="0">
                <a:latin typeface="+mn-ea"/>
              </a:rPr>
              <a:t>上限加负号后的下限）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9610725" y="5919018"/>
            <a:ext cx="2295525" cy="61513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本题要求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+mn-ea"/>
              </a:rPr>
              <a:t>VS+Dev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92113" y="4857749"/>
            <a:ext cx="5204571" cy="16763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结论：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多个输入中，编号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值是不可信的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9610724" y="1323973"/>
            <a:ext cx="2295525" cy="39052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u_int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=unsigned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int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1" y="5919019"/>
            <a:ext cx="5204569" cy="615129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unsigned int 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基本同 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unsigned short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，弄懂即可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本页可以不做，空着不扣分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E-Compare.</a:t>
            </a:r>
            <a:r>
              <a:rPr lang="zh-CN" altLang="en-US" sz="1600" b="1" dirty="0">
                <a:latin typeface="+mn-ea"/>
              </a:rPr>
              <a:t>仿</a:t>
            </a:r>
            <a:r>
              <a:rPr lang="en-US" altLang="zh-CN" sz="1600" b="1" dirty="0">
                <a:latin typeface="+mn-ea"/>
              </a:rPr>
              <a:t>B-Compare</a:t>
            </a:r>
            <a:r>
              <a:rPr lang="zh-CN" altLang="en-US" sz="1600" b="1" dirty="0">
                <a:latin typeface="+mn-ea"/>
              </a:rPr>
              <a:t>，构造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对比</a:t>
            </a:r>
            <a:r>
              <a:rPr lang="zh-CN" altLang="en-US" sz="1600" b="1" dirty="0">
                <a:latin typeface="+mn-ea"/>
              </a:rPr>
              <a:t>程序（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输入与赋值，</a:t>
            </a:r>
            <a:r>
              <a:rPr lang="en-US" altLang="zh-CN" sz="1600" b="1" dirty="0" err="1">
                <a:latin typeface="+mn-ea"/>
              </a:rPr>
              <a:t>u_int</a:t>
            </a:r>
            <a:r>
              <a:rPr lang="zh-CN" altLang="en-US" sz="1600" b="1" dirty="0">
                <a:latin typeface="+mn-ea"/>
              </a:rPr>
              <a:t>型），观察运行结果并与</a:t>
            </a:r>
            <a:r>
              <a:rPr lang="en-US" altLang="zh-CN" sz="1600" b="1" dirty="0">
                <a:latin typeface="+mn-ea"/>
              </a:rPr>
              <a:t>E</a:t>
            </a:r>
            <a:r>
              <a:rPr lang="zh-CN" altLang="en-US" sz="1600" b="1" dirty="0">
                <a:latin typeface="+mn-ea"/>
              </a:rPr>
              <a:t>的输出结果进行对比分析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注：具体对比程序及输出结果等不要再贴图，自行完成即可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需要回答下列问题（回答问题不是完成作业，而是自己真的弄懂了概念后的总结） 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89541" y="2199872"/>
            <a:ext cx="10604640" cy="436455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赋值超</a:t>
            </a:r>
            <a:r>
              <a:rPr kumimoji="1" lang="en-US" altLang="zh-CN" sz="1600" b="1" dirty="0" err="1">
                <a:latin typeface="+mn-ea"/>
              </a:rPr>
              <a:t>u_int</a:t>
            </a:r>
            <a:r>
              <a:rPr kumimoji="1" lang="zh-CN" altLang="en-US" sz="1600" b="1" dirty="0">
                <a:latin typeface="+mn-ea"/>
              </a:rPr>
              <a:t>上限，两者是否一致？如果有区别，区别是？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赋值为负数但未超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下限，两者是否一致？如果有区别，区别是？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赋值为负数且未超过</a:t>
            </a:r>
            <a:r>
              <a:rPr kumimoji="1" lang="en-US" altLang="zh-CN" sz="1600" b="1" dirty="0" err="1">
                <a:latin typeface="+mn-ea"/>
              </a:rPr>
              <a:t>u_int</a:t>
            </a:r>
            <a:r>
              <a:rPr kumimoji="1" lang="zh-CN" altLang="en-US" sz="1600" b="1" dirty="0">
                <a:latin typeface="+mn-ea"/>
              </a:rPr>
              <a:t>上限加负号后的下限，两者是否一致？如果有区别，区别是？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赋值为负数负数且超过</a:t>
            </a:r>
            <a:r>
              <a:rPr kumimoji="1" lang="en-US" altLang="zh-CN" sz="1600" b="1" dirty="0" err="1">
                <a:latin typeface="+mn-ea"/>
              </a:rPr>
              <a:t>u_int</a:t>
            </a:r>
            <a:r>
              <a:rPr kumimoji="1" lang="zh-CN" altLang="en-US" sz="1600" b="1" dirty="0">
                <a:latin typeface="+mn-ea"/>
              </a:rPr>
              <a:t>上限加负号后的下限？如果有区别，区别是？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1" y="5948515"/>
            <a:ext cx="5204569" cy="615129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unsigned int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基本同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unsigned short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，弄懂即可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本页可以不做，空着不扣分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B-E.</a:t>
            </a:r>
            <a:r>
              <a:rPr lang="zh-CN" altLang="en-US" sz="1600" b="1" dirty="0">
                <a:latin typeface="+mn-ea"/>
              </a:rPr>
              <a:t>总结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名词解释：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输入正确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-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指数学上合法的数，但不代表一定在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C/C++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的某类型数据的数据范围内（下同）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综合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2.B~2.E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，给出下列问题的分析及结论：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数据在输入正确且范围合理的情况下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存储输入的值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数据在输入正确但超上限（未超同类型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上限）的情况下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存储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数据的最大值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3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数据在输入正确且超上限（超过同类型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上限）的情况下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存储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数据的最大值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4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数据在输入正确但超下限范围的情况下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存储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数据的下限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5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数据在输入正确且范围合理的情况下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存储输入的值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6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数据在输入正确且超上限的情况下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存储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数据的上限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7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数据在输入正确但为负数（未超同类型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下限）的情况下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存储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数据的上限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+ 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该负数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+ 1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8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数据在输入正确且为负数（超过同类型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下限）的情况下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存储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数据的上限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+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该负数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+ 1 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对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unsigned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类型上限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+ 1 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取模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9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数据在输入正确且为负数（超过同类型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上限加负号后的下限）的情况下</a:t>
            </a:r>
            <a:endParaRPr kumimoji="1" lang="zh-CN" altLang="en-US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  <a:sym typeface="+mn-ea"/>
              </a:rPr>
              <a:t>存储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  <a:sym typeface="+mn-ea"/>
              </a:rPr>
              <a:t>unsigned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  <a:sym typeface="+mn-ea"/>
              </a:rPr>
              <a:t>数据的上限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  <a:sym typeface="+mn-ea"/>
              </a:rPr>
              <a:t> +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  <a:sym typeface="+mn-ea"/>
              </a:rPr>
              <a:t>该负数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  <a:sym typeface="+mn-ea"/>
              </a:rPr>
              <a:t> + 1 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  <a:sym typeface="+mn-ea"/>
              </a:rPr>
              <a:t>对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  <a:sym typeface="+mn-ea"/>
              </a:rPr>
              <a:t> unsigned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  <a:sym typeface="+mn-ea"/>
              </a:rPr>
              <a:t>类型上限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  <a:sym typeface="+mn-ea"/>
              </a:rPr>
              <a:t> + 1 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  <a:sym typeface="+mn-ea"/>
              </a:rPr>
              <a:t>取模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对比：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cin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输入与变量赋值，在输入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右值超范围的情况下，表现是否相同？总结规律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cin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输入与变量赋值，在输入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右值合理范围的情况下，表现是否相同？总结规律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F.</a:t>
            </a:r>
            <a:r>
              <a:rPr lang="zh-CN" altLang="en-US" sz="1600" b="1" dirty="0">
                <a:latin typeface="+mn-ea"/>
              </a:rPr>
              <a:t>运行下面的程序，观察不同输入下的运行结果（贴图在清晰可辨的情况下尽可能小）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3" y="1323975"/>
            <a:ext cx="4018388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=" &lt;&lt; int(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4610501" y="1323974"/>
            <a:ext cx="622491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A</a:t>
            </a:r>
            <a:r>
              <a:rPr lang="zh-CN" altLang="en-US" sz="1200" b="1" dirty="0">
                <a:latin typeface="+mn-ea"/>
              </a:rPr>
              <a:t>（单个图形字符）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2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\b</a:t>
            </a:r>
            <a:r>
              <a:rPr lang="zh-CN" altLang="en-US" sz="1200" b="1" dirty="0">
                <a:latin typeface="+mn-ea"/>
              </a:rPr>
              <a:t>（退格键的转义符）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3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\101</a:t>
            </a:r>
            <a:r>
              <a:rPr lang="zh-CN" altLang="en-US" sz="1200" b="1" dirty="0">
                <a:latin typeface="+mn-ea"/>
              </a:rPr>
              <a:t>（</a:t>
            </a:r>
            <a:r>
              <a:rPr lang="en-US" altLang="zh-CN" sz="1200" b="1" dirty="0">
                <a:latin typeface="+mn-ea"/>
              </a:rPr>
              <a:t>A</a:t>
            </a:r>
            <a:r>
              <a:rPr lang="zh-CN" altLang="en-US" sz="1200" b="1" dirty="0">
                <a:latin typeface="+mn-ea"/>
              </a:rPr>
              <a:t>的</a:t>
            </a:r>
            <a:r>
              <a:rPr lang="en-US" altLang="zh-CN" sz="1200" b="1" dirty="0">
                <a:latin typeface="+mn-ea"/>
              </a:rPr>
              <a:t>ASCII</a:t>
            </a:r>
            <a:r>
              <a:rPr lang="zh-CN" altLang="en-US" sz="1200" b="1" dirty="0">
                <a:latin typeface="+mn-ea"/>
              </a:rPr>
              <a:t>码的</a:t>
            </a:r>
            <a:r>
              <a:rPr lang="en-US" altLang="zh-CN" sz="1200" b="1" dirty="0">
                <a:latin typeface="+mn-ea"/>
              </a:rPr>
              <a:t>8</a:t>
            </a:r>
            <a:r>
              <a:rPr lang="zh-CN" altLang="en-US" sz="1200" b="1" dirty="0">
                <a:latin typeface="+mn-ea"/>
              </a:rPr>
              <a:t>进制转义表示）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4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\x41</a:t>
            </a:r>
            <a:r>
              <a:rPr lang="zh-CN" altLang="en-US" sz="1200" b="1" dirty="0">
                <a:latin typeface="+mn-ea"/>
              </a:rPr>
              <a:t>（</a:t>
            </a:r>
            <a:r>
              <a:rPr lang="en-US" altLang="zh-CN" sz="1200" b="1" dirty="0">
                <a:latin typeface="+mn-ea"/>
              </a:rPr>
              <a:t>A</a:t>
            </a:r>
            <a:r>
              <a:rPr lang="zh-CN" altLang="en-US" sz="1200" b="1" dirty="0">
                <a:latin typeface="+mn-ea"/>
              </a:rPr>
              <a:t>的</a:t>
            </a:r>
            <a:r>
              <a:rPr lang="en-US" altLang="zh-CN" sz="1200" b="1" dirty="0">
                <a:latin typeface="+mn-ea"/>
              </a:rPr>
              <a:t>ASCII</a:t>
            </a:r>
            <a:r>
              <a:rPr lang="zh-CN" altLang="en-US" sz="1200" b="1" dirty="0">
                <a:latin typeface="+mn-ea"/>
              </a:rPr>
              <a:t>码的</a:t>
            </a:r>
            <a:r>
              <a:rPr lang="en-US" altLang="zh-CN" sz="1200" b="1" dirty="0">
                <a:latin typeface="+mn-ea"/>
              </a:rPr>
              <a:t>16</a:t>
            </a:r>
            <a:r>
              <a:rPr lang="zh-CN" altLang="en-US" sz="1200" b="1" dirty="0">
                <a:latin typeface="+mn-ea"/>
              </a:rPr>
              <a:t>进制转义表示）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5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65</a:t>
            </a:r>
            <a:r>
              <a:rPr lang="zh-CN" altLang="en-US" sz="1200" b="1" dirty="0">
                <a:latin typeface="+mn-ea"/>
              </a:rPr>
              <a:t>（</a:t>
            </a:r>
            <a:r>
              <a:rPr lang="en-US" altLang="zh-CN" sz="1200" b="1" dirty="0">
                <a:latin typeface="+mn-ea"/>
              </a:rPr>
              <a:t>A</a:t>
            </a:r>
            <a:r>
              <a:rPr lang="zh-CN" altLang="en-US" sz="1200" b="1" dirty="0">
                <a:latin typeface="+mn-ea"/>
              </a:rPr>
              <a:t>的</a:t>
            </a:r>
            <a:r>
              <a:rPr lang="en-US" altLang="zh-CN" sz="1200" b="1" dirty="0">
                <a:latin typeface="+mn-ea"/>
              </a:rPr>
              <a:t>ASCII</a:t>
            </a:r>
            <a:r>
              <a:rPr lang="zh-CN" altLang="en-US" sz="1200" b="1" dirty="0">
                <a:latin typeface="+mn-ea"/>
              </a:rPr>
              <a:t>码的十进制整数形式表示）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6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 err="1">
                <a:latin typeface="+mn-ea"/>
              </a:rPr>
              <a:t>CtrL+C</a:t>
            </a:r>
            <a:r>
              <a:rPr lang="zh-CN" altLang="en-US" sz="1200" b="1" dirty="0">
                <a:latin typeface="+mn-ea"/>
              </a:rPr>
              <a:t>（注意：是</a:t>
            </a:r>
            <a:r>
              <a:rPr lang="en-US" altLang="zh-CN" sz="1200" b="1" dirty="0" err="1">
                <a:latin typeface="+mn-ea"/>
              </a:rPr>
              <a:t>Ctrl+C</a:t>
            </a:r>
            <a:r>
              <a:rPr lang="zh-CN" altLang="en-US" sz="1200" b="1" dirty="0">
                <a:latin typeface="+mn-ea"/>
              </a:rPr>
              <a:t>组合键，注意不要有输入法栏）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7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 err="1">
                <a:latin typeface="+mn-ea"/>
              </a:rPr>
              <a:t>CtrL+z</a:t>
            </a:r>
            <a:r>
              <a:rPr lang="zh-CN" altLang="en-US" sz="1200" b="1" dirty="0">
                <a:latin typeface="+mn-ea"/>
              </a:rPr>
              <a:t>（注意：是</a:t>
            </a:r>
            <a:r>
              <a:rPr lang="en-US" altLang="zh-CN" sz="1200" b="1" dirty="0" err="1">
                <a:latin typeface="+mn-ea"/>
              </a:rPr>
              <a:t>Ctrl+z</a:t>
            </a:r>
            <a:r>
              <a:rPr lang="zh-CN" altLang="en-US" sz="1200" b="1" dirty="0">
                <a:latin typeface="+mn-ea"/>
              </a:rPr>
              <a:t>组合键，注意不要有输入法栏）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92114" y="6154994"/>
            <a:ext cx="4018387" cy="37915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全部做一遍，任选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题截图即可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多截不限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1250" y="1406525"/>
            <a:ext cx="767080" cy="6337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000" y="2228850"/>
            <a:ext cx="1233805" cy="7334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4825" y="3923030"/>
            <a:ext cx="1200150" cy="5524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G.</a:t>
            </a:r>
            <a:r>
              <a:rPr lang="zh-CN" altLang="en-US" sz="1600" b="1" dirty="0">
                <a:latin typeface="+mn-ea"/>
              </a:rPr>
              <a:t>运行下面的程序，观察不同输入下的运行结果（贴图在清晰可辨的情况下尽可能小）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3" y="1323975"/>
            <a:ext cx="455740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iomanip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float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f;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f;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cin.good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' ' &lt;&lt; f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dirty="0" err="1">
                <a:latin typeface="+mn-ea"/>
              </a:rPr>
              <a:t>setprecision</a:t>
            </a:r>
            <a:r>
              <a:rPr lang="en-US" altLang="zh-CN" sz="1600" b="1" dirty="0">
                <a:latin typeface="+mn-ea"/>
              </a:rPr>
              <a:t>(20) &lt;&lt; f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注：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setprecision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(20)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表示输出时保留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    20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位有效位数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   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（已超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float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double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的有效位数）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5149516" y="1323974"/>
            <a:ext cx="568589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123.456</a:t>
            </a:r>
            <a:r>
              <a:rPr lang="zh-CN" altLang="en-US" sz="1200" b="1" dirty="0">
                <a:latin typeface="+mn-ea"/>
              </a:rPr>
              <a:t> （合理范围正数，小数形式）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2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1.23456e2</a:t>
            </a:r>
            <a:r>
              <a:rPr lang="zh-CN" altLang="en-US" sz="1200" b="1" dirty="0">
                <a:latin typeface="+mn-ea"/>
              </a:rPr>
              <a:t> （合理范围正数，指数形式）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3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-123.456</a:t>
            </a:r>
            <a:r>
              <a:rPr lang="zh-CN" altLang="en-US" sz="1200" b="1" dirty="0">
                <a:latin typeface="+mn-ea"/>
              </a:rPr>
              <a:t>（合理范围负数，小数形式）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4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-1.23456e2</a:t>
            </a:r>
            <a:r>
              <a:rPr lang="zh-CN" altLang="en-US" sz="1200" b="1" dirty="0">
                <a:latin typeface="+mn-ea"/>
              </a:rPr>
              <a:t> （合理范围负数，指数形式）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5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123.456789</a:t>
            </a:r>
            <a:r>
              <a:rPr lang="zh-CN" altLang="en-US" sz="1200" b="1" dirty="0">
                <a:latin typeface="+mn-ea"/>
              </a:rPr>
              <a:t>（合理范围，但超有效位数）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6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6.7e38</a:t>
            </a:r>
            <a:r>
              <a:rPr lang="zh-CN" altLang="en-US" sz="1200" b="1" dirty="0">
                <a:latin typeface="+mn-ea"/>
              </a:rPr>
              <a:t>（尾数超上限但数量级未超，仍是</a:t>
            </a:r>
            <a:r>
              <a:rPr lang="en-US" altLang="zh-CN" sz="1200" b="1" dirty="0">
                <a:latin typeface="+mn-ea"/>
              </a:rPr>
              <a:t>10</a:t>
            </a:r>
            <a:r>
              <a:rPr lang="en-US" altLang="zh-CN" sz="1200" b="1" baseline="30000" dirty="0">
                <a:latin typeface="+mn-ea"/>
              </a:rPr>
              <a:t>38</a:t>
            </a:r>
            <a:r>
              <a:rPr lang="zh-CN" altLang="en-US" sz="1200" b="1" dirty="0">
                <a:latin typeface="+mn-ea"/>
              </a:rPr>
              <a:t>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7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1.7e39</a:t>
            </a:r>
            <a:r>
              <a:rPr lang="zh-CN" altLang="en-US" sz="1200" b="1" dirty="0">
                <a:latin typeface="+mn-ea"/>
              </a:rPr>
              <a:t>（超上限且数量级已超</a:t>
            </a:r>
            <a:r>
              <a:rPr lang="en-US" altLang="zh-CN" sz="1200" b="1" dirty="0">
                <a:latin typeface="+mn-ea"/>
              </a:rPr>
              <a:t>10</a:t>
            </a:r>
            <a:r>
              <a:rPr lang="en-US" altLang="zh-CN" sz="1200" b="1" baseline="30000" dirty="0">
                <a:latin typeface="+mn-ea"/>
              </a:rPr>
              <a:t>38</a:t>
            </a:r>
            <a:r>
              <a:rPr lang="zh-CN" altLang="en-US" sz="1200" b="1" dirty="0">
                <a:latin typeface="+mn-ea"/>
              </a:rPr>
              <a:t>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8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-2.3e39</a:t>
            </a:r>
            <a:r>
              <a:rPr lang="zh-CN" altLang="en-US" sz="1200" b="1" dirty="0">
                <a:latin typeface="+mn-ea"/>
              </a:rPr>
              <a:t>（超上限且数量级已超</a:t>
            </a:r>
            <a:r>
              <a:rPr lang="en-US" altLang="zh-CN" sz="1200" b="1" dirty="0">
                <a:latin typeface="+mn-ea"/>
              </a:rPr>
              <a:t>10</a:t>
            </a:r>
            <a:r>
              <a:rPr lang="en-US" altLang="zh-CN" sz="1200" b="1" baseline="30000" dirty="0">
                <a:latin typeface="+mn-ea"/>
              </a:rPr>
              <a:t>38</a:t>
            </a:r>
            <a:r>
              <a:rPr lang="zh-CN" altLang="en-US" sz="1200" b="1" dirty="0">
                <a:latin typeface="+mn-ea"/>
              </a:rPr>
              <a:t>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9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1.23e-30</a:t>
            </a:r>
            <a:r>
              <a:rPr lang="zh-CN" altLang="en-US" sz="1200" b="1" dirty="0">
                <a:latin typeface="+mn-ea"/>
              </a:rPr>
              <a:t>（合理范围整数但指数很小）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10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-1.23e-30</a:t>
            </a:r>
            <a:r>
              <a:rPr lang="zh-CN" altLang="en-US" sz="1200" b="1" dirty="0">
                <a:latin typeface="+mn-ea"/>
              </a:rPr>
              <a:t>（合理范围负数但指数很小）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4" y="6154994"/>
            <a:ext cx="4557402" cy="37915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全部做一遍，任选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4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题截图即可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多截不限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0" y="1746885"/>
            <a:ext cx="2343150" cy="5384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5320" y="2341245"/>
            <a:ext cx="1043305" cy="82423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5320" y="3273425"/>
            <a:ext cx="942975" cy="5429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3420" y="4119880"/>
            <a:ext cx="904875" cy="55753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多个同类型数据的情况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个程序的运行结果，回答问题并将各程序的运行结果截图贴上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4" y="1323975"/>
            <a:ext cx="33566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a, b, c, 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 &gt;&gt; b &gt;&gt; c &gt;&gt; 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3948760" y="1323975"/>
            <a:ext cx="314572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a, b, c, 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&gt;&gt; b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&gt;&gt; c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&gt;&gt; 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7094482" y="1323974"/>
            <a:ext cx="374496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a, b, c, 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b;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c;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88075" y="5665075"/>
            <a:ext cx="10247336" cy="8690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、程序运行后，输入：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1 2 3 4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↙</a:t>
            </a:r>
            <a:r>
              <a:rPr kumimoji="1" lang="zh-CN" altLang="en-US" sz="1600" b="1" dirty="0">
                <a:latin typeface="宋体" panose="02010600030101010101" pitchFamily="2" charset="-122"/>
              </a:rPr>
              <a:t>，观察输出结果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2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、解释第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2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个和第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3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个程序的</a:t>
            </a: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cin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语句的使用区别：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2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中的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cin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在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同一个输入流中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3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中的在多个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输入流中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5025" y="4763770"/>
            <a:ext cx="1257300" cy="8528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6740" y="4763770"/>
            <a:ext cx="1257300" cy="85280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8455" y="4812030"/>
            <a:ext cx="1257300" cy="85280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多个同类型数据的情况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程序同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zh-CN" altLang="en-US" sz="1600" b="1" dirty="0">
                <a:latin typeface="+mn-ea"/>
              </a:rPr>
              <a:t>，观察不同输入下的运行结果（贴图在清晰可辨的情况下尽可能小）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4" y="1323975"/>
            <a:ext cx="33566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a, b, c, 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 &gt;&gt; b &gt;&gt; c &gt;&gt; 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948758" y="1323974"/>
            <a:ext cx="688665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、输入：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1 2 3 4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↙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1   2   3   4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↙(</a:t>
            </a:r>
            <a:r>
              <a:rPr kumimoji="1" lang="zh-CN" altLang="en-US" sz="1600" b="1" dirty="0">
                <a:latin typeface="宋体" panose="02010600030101010101" pitchFamily="2" charset="-122"/>
              </a:rPr>
              <a:t>每个数字间多于一个空格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)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↙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2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↙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</a:rPr>
              <a:t>         3↙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4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↙ (</a:t>
            </a:r>
            <a:r>
              <a:rPr kumimoji="1" lang="zh-CN" altLang="en-US" sz="1600" b="1" dirty="0">
                <a:latin typeface="宋体" panose="02010600030101010101" pitchFamily="2" charset="-122"/>
              </a:rPr>
              <a:t>每个数字后立即加回车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)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↙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</a:rPr>
              <a:t>          ↙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</a:rPr>
              <a:t>          ↙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2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↙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</a:rPr>
              <a:t>          ↙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</a:rPr>
              <a:t>         3↙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</a:rPr>
              <a:t>          ↙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4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↙ (</a:t>
            </a:r>
            <a:r>
              <a:rPr kumimoji="1" lang="zh-CN" altLang="en-US" sz="1600" b="1" dirty="0">
                <a:latin typeface="宋体" panose="02010600030101010101" pitchFamily="2" charset="-122"/>
              </a:rPr>
              <a:t>每个数字后立即加回车 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+ </a:t>
            </a:r>
            <a:r>
              <a:rPr kumimoji="1" lang="zh-CN" altLang="en-US" sz="1600" b="1" dirty="0">
                <a:latin typeface="宋体" panose="02010600030101010101" pitchFamily="2" charset="-122"/>
              </a:rPr>
              <a:t>多个空回车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)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宋体" panose="02010600030101010101" pitchFamily="2" charset="-122"/>
              </a:rPr>
              <a:t>结论：在输入正确的情况下，回车和空格的作用？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宋体" panose="02010600030101010101" pitchFamily="2" charset="-122"/>
              </a:rPr>
              <a:t>停止输入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92114" y="5899355"/>
            <a:ext cx="3362437" cy="634795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全部做一遍，任选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题截图即可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多截不限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4825" y="1406525"/>
            <a:ext cx="1257300" cy="8528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7505" y="2683510"/>
            <a:ext cx="1462405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多个同类型数据的情况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程序同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zh-CN" altLang="en-US" sz="1600" b="1" dirty="0">
                <a:latin typeface="+mn-ea"/>
              </a:rPr>
              <a:t>，观察不同输入下的运行结果（贴图在清晰可辨的情况下尽可能小）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4" y="1323975"/>
            <a:ext cx="33566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a, b, c, 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 &gt;&gt; b &gt;&gt; c &gt;&gt; 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948758" y="1323974"/>
            <a:ext cx="688665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、输入：</a:t>
            </a:r>
            <a:r>
              <a:rPr kumimoji="1" lang="en-US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 2 3 4m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1 2 3m 4↙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1 2m 3 4↙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1m 2 3 4↙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5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1 2 3 m↙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6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1 2 m 4↙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7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1 m 3 4↙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8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m 2 3 4↙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总结：多个</a:t>
            </a:r>
            <a:r>
              <a:rPr kumimoji="1" lang="en-US" altLang="zh-CN" sz="1600" b="1" dirty="0" err="1">
                <a:latin typeface="+mn-ea"/>
              </a:rPr>
              <a:t>cin</a:t>
            </a:r>
            <a:r>
              <a:rPr kumimoji="1" lang="zh-CN" altLang="en-US" sz="1600" b="1" dirty="0">
                <a:latin typeface="+mn-ea"/>
              </a:rPr>
              <a:t>输入时，错误输入出现在不同位置对输入正确性的影响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CC"/>
                </a:solidFill>
                <a:latin typeface="+mn-ea"/>
              </a:rPr>
              <a:t>要求：综合观察运行结果，加上自己的思考，给出总结性的结论，这个</a:t>
            </a:r>
            <a:endParaRPr kumimoji="1" lang="en-US" altLang="zh-CN" sz="1600" b="1" dirty="0">
              <a:solidFill>
                <a:srgbClr val="0000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CC"/>
                </a:solidFill>
                <a:latin typeface="+mn-ea"/>
              </a:rPr>
              <a:t>      </a:t>
            </a:r>
            <a:r>
              <a:rPr kumimoji="1" lang="zh-CN" altLang="en-US" sz="1600" b="1" dirty="0">
                <a:solidFill>
                  <a:srgbClr val="0000CC"/>
                </a:solidFill>
                <a:latin typeface="+mn-ea"/>
              </a:rPr>
              <a:t>结论要能对多个输入情况下不同位置的错误情况有普遍适应性，</a:t>
            </a:r>
            <a:endParaRPr kumimoji="1" lang="en-US" altLang="zh-CN" sz="1600" b="1" dirty="0">
              <a:solidFill>
                <a:srgbClr val="0000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CC"/>
                </a:solidFill>
                <a:latin typeface="+mn-ea"/>
              </a:rPr>
              <a:t>      而不仅仅是简单的根据结论说错在</a:t>
            </a:r>
            <a:r>
              <a:rPr kumimoji="1" lang="en-US" altLang="zh-CN" sz="1600" b="1" dirty="0">
                <a:solidFill>
                  <a:srgbClr val="0000CC"/>
                </a:solidFill>
                <a:latin typeface="+mn-ea"/>
              </a:rPr>
              <a:t>1/2/3/4</a:t>
            </a:r>
            <a:r>
              <a:rPr kumimoji="1" lang="zh-CN" altLang="en-US" sz="1600" b="1" dirty="0">
                <a:solidFill>
                  <a:srgbClr val="0000CC"/>
                </a:solidFill>
                <a:latin typeface="+mn-ea"/>
              </a:rPr>
              <a:t>位置</a:t>
            </a:r>
            <a:endParaRPr kumimoji="1" lang="en-US" altLang="zh-CN" sz="1600" b="1" dirty="0">
              <a:solidFill>
                <a:srgbClr val="0000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CC"/>
                </a:solidFill>
                <a:latin typeface="+mn-ea"/>
              </a:rPr>
              <a:t>   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（提示：从什么位置开始值不可信？）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当出现错误位置的时候，</a:t>
            </a:r>
            <a:r>
              <a:rPr kumimoji="1" lang="en-US" altLang="zh-CN" sz="1600" b="1" dirty="0">
                <a:latin typeface="+mn-ea"/>
              </a:rPr>
              <a:t>cin</a:t>
            </a:r>
            <a:r>
              <a:rPr kumimoji="1" lang="zh-CN" altLang="en-US" sz="1600" b="1" dirty="0">
                <a:latin typeface="+mn-ea"/>
              </a:rPr>
              <a:t>就会返回</a:t>
            </a:r>
            <a:r>
              <a:rPr kumimoji="1" lang="en-US" altLang="zh-CN" sz="1600" b="1" dirty="0">
                <a:latin typeface="+mn-ea"/>
              </a:rPr>
              <a:t>EOF</a:t>
            </a:r>
            <a:r>
              <a:rPr kumimoji="1" lang="zh-CN" altLang="en-US" sz="1600" b="1" dirty="0">
                <a:latin typeface="+mn-ea"/>
              </a:rPr>
              <a:t>读取失败，这个时候就会停止输入，后续的</a:t>
            </a:r>
            <a:r>
              <a:rPr kumimoji="1" lang="en-US" altLang="zh-CN" sz="1600" b="1" dirty="0">
                <a:latin typeface="+mn-ea"/>
              </a:rPr>
              <a:t>cin</a:t>
            </a:r>
            <a:r>
              <a:rPr kumimoji="1" lang="zh-CN" altLang="en-US" sz="1600" b="1" dirty="0">
                <a:latin typeface="+mn-ea"/>
              </a:rPr>
              <a:t>操作也会被忽略，输出的就会是随机值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92114" y="5899355"/>
            <a:ext cx="3362437" cy="634795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全部做一遍，任选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题截图即可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多截不限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0550" y="1246505"/>
            <a:ext cx="1333500" cy="9290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0550" y="2175510"/>
            <a:ext cx="1109980" cy="8667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380" y="3042285"/>
            <a:ext cx="1167130" cy="8763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多个同类型数据的情况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592114" y="1323975"/>
            <a:ext cx="3854758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a, b, c;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 &gt;&gt; b &gt;&gt; c;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"a=" &lt;&lt; int(a)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"b=" &lt;&lt; int(b)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"c=" &lt;&lt; int(c)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4446872" y="1323974"/>
            <a:ext cx="6388539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XYZ↙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X YZ↙ 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Ctrl+C</a:t>
            </a:r>
            <a:r>
              <a:rPr kumimoji="1" lang="en-US" altLang="zh-CN" sz="1200" b="1" dirty="0">
                <a:latin typeface="+mn-ea"/>
              </a:rPr>
              <a:t>↙  (</a:t>
            </a:r>
            <a:r>
              <a:rPr kumimoji="1" lang="zh-CN" altLang="en-US" sz="1200" b="1" dirty="0">
                <a:latin typeface="+mn-ea"/>
              </a:rPr>
              <a:t>表示按</a:t>
            </a:r>
            <a:r>
              <a:rPr kumimoji="1" lang="en-US" altLang="zh-CN" sz="1200" b="1" dirty="0" err="1">
                <a:latin typeface="+mn-ea"/>
              </a:rPr>
              <a:t>Ctrl+C</a:t>
            </a:r>
            <a:r>
              <a:rPr kumimoji="1" lang="zh-CN" altLang="en-US" sz="1200" b="1" dirty="0">
                <a:latin typeface="+mn-ea"/>
              </a:rPr>
              <a:t>组合键，注意不要有输入法栏，下同</a:t>
            </a:r>
            <a:r>
              <a:rPr kumimoji="1" lang="en-US" altLang="zh-CN" sz="1200" b="1" dirty="0"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 err="1">
                <a:latin typeface="+mn-ea"/>
              </a:rPr>
              <a:t>X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Ctrl+C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5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 err="1">
                <a:latin typeface="+mn-ea"/>
              </a:rPr>
              <a:t>XY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Ctrl+C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6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 err="1">
                <a:latin typeface="+mn-ea"/>
              </a:rPr>
              <a:t>XYZ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Ctrl+C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7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Ctrl+z</a:t>
            </a:r>
            <a:r>
              <a:rPr kumimoji="1" lang="en-US" altLang="zh-CN" sz="1200" b="1" dirty="0">
                <a:latin typeface="+mn-ea"/>
              </a:rPr>
              <a:t>↙   </a:t>
            </a:r>
            <a:r>
              <a:rPr kumimoji="1" lang="zh-CN" altLang="en-US" sz="1200" b="1" dirty="0">
                <a:latin typeface="+mn-ea"/>
              </a:rPr>
              <a:t>（若未出结果则继续输入，可以按回车后多行输入，打印后观察结果）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8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Ctrl+z</a:t>
            </a:r>
            <a:r>
              <a:rPr kumimoji="1" lang="en-US" altLang="zh-CN" sz="1200" b="1" dirty="0" err="1">
                <a:latin typeface="+mn-ea"/>
              </a:rPr>
              <a:t>XYZ</a:t>
            </a:r>
            <a:r>
              <a:rPr kumimoji="1" lang="en-US" altLang="zh-CN" sz="1200" b="1" dirty="0">
                <a:latin typeface="+mn-ea"/>
              </a:rPr>
              <a:t>↙</a:t>
            </a:r>
            <a:r>
              <a:rPr kumimoji="1" lang="zh-CN" altLang="en-US" sz="1200" b="1" dirty="0">
                <a:latin typeface="+mn-ea"/>
              </a:rPr>
              <a:t>（若未出结果则继续输入，可以按回车后多行输入，打印后观察结果）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总结：多个</a:t>
            </a:r>
            <a:r>
              <a:rPr kumimoji="1" lang="en-US" altLang="zh-CN" sz="1200" b="1" dirty="0" err="1">
                <a:latin typeface="+mn-ea"/>
              </a:rPr>
              <a:t>cin</a:t>
            </a:r>
            <a:r>
              <a:rPr kumimoji="1" lang="zh-CN" altLang="en-US" sz="1200" b="1" dirty="0">
                <a:latin typeface="+mn-ea"/>
              </a:rPr>
              <a:t>输入时</a:t>
            </a:r>
            <a:r>
              <a:rPr kumimoji="1" lang="en-US" altLang="zh-CN" sz="1200" b="1" dirty="0">
                <a:latin typeface="+mn-ea"/>
              </a:rPr>
              <a:t>char</a:t>
            </a:r>
            <a:r>
              <a:rPr kumimoji="1" lang="zh-CN" altLang="en-US" sz="1200" b="1" dirty="0">
                <a:latin typeface="+mn-ea"/>
              </a:rPr>
              <a:t>型数据时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、能否输入空格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可以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</a:t>
            </a:r>
            <a:r>
              <a:rPr kumimoji="1" lang="en-US" altLang="zh-CN" sz="1200" b="1" dirty="0" err="1">
                <a:latin typeface="+mn-ea"/>
              </a:rPr>
              <a:t>Ctrl+C</a:t>
            </a:r>
            <a:r>
              <a:rPr kumimoji="1" lang="zh-CN" altLang="en-US" sz="1200" b="1" dirty="0">
                <a:latin typeface="+mn-ea"/>
              </a:rPr>
              <a:t>在输入中表示什么？（可自行查阅资料，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若资料与表现不符，信哪个？</a:t>
            </a:r>
            <a:r>
              <a:rPr kumimoji="1" lang="zh-CN" altLang="en-US" sz="1200" b="1" dirty="0">
                <a:latin typeface="+mn-ea"/>
              </a:rPr>
              <a:t>）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用于终止程序运行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、</a:t>
            </a:r>
            <a:r>
              <a:rPr kumimoji="1" lang="en-US" altLang="zh-CN" sz="1200" b="1" dirty="0" err="1">
                <a:latin typeface="+mn-ea"/>
              </a:rPr>
              <a:t>Ctrl+z</a:t>
            </a:r>
            <a:r>
              <a:rPr kumimoji="1" lang="zh-CN" altLang="en-US" sz="1200" b="1" dirty="0">
                <a:latin typeface="+mn-ea"/>
              </a:rPr>
              <a:t>在输入中表示什么？（可自行查阅资料，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若资料与表现不符，信哪个？</a:t>
            </a:r>
            <a:r>
              <a:rPr kumimoji="1" lang="zh-CN" altLang="en-US" sz="1200" b="1" dirty="0">
                <a:latin typeface="+mn-ea"/>
              </a:rPr>
              <a:t>）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用于表示文件结束符，</a:t>
            </a:r>
            <a:r>
              <a:rPr kumimoji="1" lang="en-US" altLang="zh-CN" sz="1200" b="1" dirty="0">
                <a:latin typeface="+mn-ea"/>
              </a:rPr>
              <a:t>cin</a:t>
            </a:r>
            <a:r>
              <a:rPr kumimoji="1" lang="zh-CN" altLang="en-US" sz="1200" b="1" dirty="0">
                <a:latin typeface="+mn-ea"/>
              </a:rPr>
              <a:t>检测到会自动结束输入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、</a:t>
            </a:r>
            <a:r>
              <a:rPr kumimoji="1" lang="en-US" altLang="zh-CN" sz="1200" b="1" dirty="0" err="1">
                <a:latin typeface="+mn-ea"/>
              </a:rPr>
              <a:t>Ctrl+z</a:t>
            </a:r>
            <a:r>
              <a:rPr kumimoji="1" lang="zh-CN" altLang="en-US" sz="1200" b="1" dirty="0">
                <a:latin typeface="+mn-ea"/>
              </a:rPr>
              <a:t>后不按回车而继续输入的其它字符，能否被读入？</a:t>
            </a:r>
            <a:endParaRPr kumimoji="1" lang="zh-CN" altLang="en-US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不能</a:t>
            </a:r>
            <a:endParaRPr kumimoji="1" lang="zh-CN" altLang="en-US" sz="1200" b="1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92113" y="5899355"/>
            <a:ext cx="3854759" cy="634795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全部做一遍，任选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题截图即可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多截不限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6425" y="1323975"/>
            <a:ext cx="1014730" cy="7766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7880" y="1724025"/>
            <a:ext cx="719455" cy="6286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9145" y="2468245"/>
            <a:ext cx="962025" cy="78105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多个同类型数据的情况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自行构造测试数据，观察不同输入下的运行结果（贴图在清晰可辨的情况下尽可能小）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3" y="1323975"/>
            <a:ext cx="45285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iomanip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float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a, b, c;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 &gt;&gt; b &gt;&gt; c;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"a="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dirty="0" err="1">
                <a:latin typeface="+mn-ea"/>
              </a:rPr>
              <a:t>setprecision</a:t>
            </a:r>
            <a:r>
              <a:rPr lang="en-US" altLang="zh-CN" sz="1600" b="1" dirty="0">
                <a:latin typeface="+mn-ea"/>
              </a:rPr>
              <a:t>(20) &lt;&lt; 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"b="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dirty="0" err="1">
                <a:latin typeface="+mn-ea"/>
              </a:rPr>
              <a:t>setprecision</a:t>
            </a:r>
            <a:r>
              <a:rPr lang="en-US" altLang="zh-CN" sz="1600" b="1" dirty="0">
                <a:latin typeface="+mn-ea"/>
              </a:rPr>
              <a:t>(20) &lt;&lt; b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"c="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dirty="0" err="1">
                <a:latin typeface="+mn-ea"/>
              </a:rPr>
              <a:t>setprecision</a:t>
            </a:r>
            <a:r>
              <a:rPr lang="en-US" altLang="zh-CN" sz="1600" b="1" dirty="0">
                <a:latin typeface="+mn-ea"/>
              </a:rPr>
              <a:t>(20) &lt;&lt; c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5120640" y="1323974"/>
            <a:ext cx="571477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_4.3</a:t>
            </a:r>
            <a:r>
              <a:rPr kumimoji="1" lang="en-US" altLang="zh-CN" sz="1200" b="1" dirty="0">
                <a:latin typeface="+mn-ea"/>
              </a:rPr>
              <a:t>e38, 1.1, 1.2______</a:t>
            </a:r>
            <a:r>
              <a:rPr kumimoji="1" lang="en-US" altLang="zh-CN" sz="1200" b="1" dirty="0">
                <a:latin typeface="宋体" panose="02010600030101010101" pitchFamily="2" charset="-122"/>
              </a:rPr>
              <a:t>↙ </a:t>
            </a:r>
            <a:r>
              <a:rPr kumimoji="1" lang="zh-CN" altLang="en-US" sz="1200" b="1" dirty="0">
                <a:latin typeface="宋体" panose="02010600030101010101" pitchFamily="2" charset="-122"/>
              </a:rPr>
              <a:t>（第</a:t>
            </a:r>
            <a:r>
              <a:rPr kumimoji="1" lang="en-US" altLang="zh-CN" sz="1200" b="1" dirty="0">
                <a:latin typeface="宋体" panose="02010600030101010101" pitchFamily="2" charset="-122"/>
              </a:rPr>
              <a:t>1</a:t>
            </a:r>
            <a:r>
              <a:rPr kumimoji="1" lang="zh-CN" altLang="en-US" sz="1200" b="1" dirty="0">
                <a:latin typeface="宋体" panose="02010600030101010101" pitchFamily="2" charset="-122"/>
              </a:rPr>
              <a:t>个超上限，</a:t>
            </a:r>
            <a:r>
              <a:rPr kumimoji="1" lang="en-US" altLang="zh-CN" sz="1200" b="1" dirty="0">
                <a:latin typeface="宋体" panose="02010600030101010101" pitchFamily="2" charset="-122"/>
              </a:rPr>
              <a:t>2/3</a:t>
            </a:r>
            <a:r>
              <a:rPr kumimoji="1" lang="zh-CN" altLang="en-US" sz="1200" b="1" dirty="0">
                <a:latin typeface="宋体" panose="02010600030101010101" pitchFamily="2" charset="-122"/>
              </a:rPr>
              <a:t>正常）</a:t>
            </a:r>
            <a:endParaRPr kumimoji="1" lang="en-US" altLang="zh-CN" sz="12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_</a:t>
            </a:r>
            <a:r>
              <a:rPr kumimoji="1" lang="en-US" altLang="zh-CN" sz="1200" b="1" dirty="0">
                <a:latin typeface="+mn-ea"/>
                <a:sym typeface="+mn-ea"/>
              </a:rPr>
              <a:t>-4.1e38, </a:t>
            </a:r>
            <a:r>
              <a:rPr kumimoji="1" lang="en-US" altLang="zh-CN" sz="1200" b="1" dirty="0">
                <a:latin typeface="+mn-ea"/>
              </a:rPr>
              <a:t>2.3, 1.2______</a:t>
            </a:r>
            <a:r>
              <a:rPr kumimoji="1" lang="en-US" altLang="zh-CN" sz="1200" b="1" dirty="0">
                <a:latin typeface="宋体" panose="02010600030101010101" pitchFamily="2" charset="-122"/>
              </a:rPr>
              <a:t>↙ </a:t>
            </a:r>
            <a:r>
              <a:rPr kumimoji="1" lang="zh-CN" altLang="en-US" sz="1200" b="1" dirty="0">
                <a:latin typeface="宋体" panose="02010600030101010101" pitchFamily="2" charset="-122"/>
              </a:rPr>
              <a:t>（第</a:t>
            </a:r>
            <a:r>
              <a:rPr kumimoji="1" lang="en-US" altLang="zh-CN" sz="1200" b="1" dirty="0">
                <a:latin typeface="宋体" panose="02010600030101010101" pitchFamily="2" charset="-122"/>
              </a:rPr>
              <a:t>1</a:t>
            </a:r>
            <a:r>
              <a:rPr kumimoji="1" lang="zh-CN" altLang="en-US" sz="1200" b="1" dirty="0">
                <a:latin typeface="宋体" panose="02010600030101010101" pitchFamily="2" charset="-122"/>
              </a:rPr>
              <a:t>个超下限，</a:t>
            </a:r>
            <a:r>
              <a:rPr kumimoji="1" lang="en-US" altLang="zh-CN" sz="1200" b="1" dirty="0">
                <a:latin typeface="宋体" panose="02010600030101010101" pitchFamily="2" charset="-122"/>
              </a:rPr>
              <a:t>2/3</a:t>
            </a:r>
            <a:r>
              <a:rPr kumimoji="1" lang="zh-CN" altLang="en-US" sz="1200" b="1" dirty="0">
                <a:latin typeface="宋体" panose="02010600030101010101" pitchFamily="2" charset="-122"/>
              </a:rPr>
              <a:t>正常）</a:t>
            </a:r>
            <a:endParaRPr kumimoji="1" lang="en-US" altLang="zh-CN" sz="12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____1.2, </a:t>
            </a:r>
            <a:r>
              <a:rPr kumimoji="1" lang="en-US" altLang="zh-CN" sz="1200" b="1" dirty="0">
                <a:latin typeface="+mn-ea"/>
                <a:sym typeface="+mn-ea"/>
              </a:rPr>
              <a:t>4.1e38, 1.3</a:t>
            </a:r>
            <a:r>
              <a:rPr kumimoji="1" lang="en-US" altLang="zh-CN" sz="1200" b="1" dirty="0">
                <a:latin typeface="+mn-ea"/>
              </a:rPr>
              <a:t>___</a:t>
            </a:r>
            <a:r>
              <a:rPr kumimoji="1" lang="en-US" altLang="zh-CN" sz="1200" b="1" dirty="0">
                <a:latin typeface="宋体" panose="02010600030101010101" pitchFamily="2" charset="-122"/>
              </a:rPr>
              <a:t>↙ </a:t>
            </a:r>
            <a:r>
              <a:rPr kumimoji="1" lang="zh-CN" altLang="en-US" sz="1200" b="1" dirty="0">
                <a:latin typeface="宋体" panose="02010600030101010101" pitchFamily="2" charset="-122"/>
              </a:rPr>
              <a:t>（</a:t>
            </a:r>
            <a:r>
              <a:rPr kumimoji="1" lang="en-US" altLang="zh-CN" sz="1200" b="1" dirty="0">
                <a:latin typeface="宋体" panose="02010600030101010101" pitchFamily="2" charset="-122"/>
              </a:rPr>
              <a:t>1/3</a:t>
            </a:r>
            <a:r>
              <a:rPr kumimoji="1" lang="zh-CN" altLang="en-US" sz="1200" b="1" dirty="0">
                <a:latin typeface="宋体" panose="02010600030101010101" pitchFamily="2" charset="-122"/>
              </a:rPr>
              <a:t>正常，第</a:t>
            </a:r>
            <a:r>
              <a:rPr kumimoji="1" lang="en-US" altLang="zh-CN" sz="1200" b="1" dirty="0">
                <a:latin typeface="宋体" panose="02010600030101010101" pitchFamily="2" charset="-122"/>
              </a:rPr>
              <a:t>2</a:t>
            </a:r>
            <a:r>
              <a:rPr kumimoji="1" lang="zh-CN" altLang="en-US" sz="1200" b="1" dirty="0">
                <a:latin typeface="宋体" panose="02010600030101010101" pitchFamily="2" charset="-122"/>
              </a:rPr>
              <a:t>个超上限）</a:t>
            </a:r>
            <a:endParaRPr kumimoji="1" lang="en-US" altLang="zh-CN" sz="12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__1.1,-4.1e38,1.2_____</a:t>
            </a:r>
            <a:r>
              <a:rPr kumimoji="1" lang="en-US" altLang="zh-CN" sz="1200" b="1" dirty="0">
                <a:latin typeface="宋体" panose="02010600030101010101" pitchFamily="2" charset="-122"/>
              </a:rPr>
              <a:t>↙ </a:t>
            </a:r>
            <a:r>
              <a:rPr kumimoji="1" lang="zh-CN" altLang="en-US" sz="1200" b="1" dirty="0">
                <a:latin typeface="宋体" panose="02010600030101010101" pitchFamily="2" charset="-122"/>
              </a:rPr>
              <a:t>（</a:t>
            </a:r>
            <a:r>
              <a:rPr kumimoji="1" lang="en-US" altLang="zh-CN" sz="1200" b="1" dirty="0">
                <a:latin typeface="宋体" panose="02010600030101010101" pitchFamily="2" charset="-122"/>
              </a:rPr>
              <a:t>1/3</a:t>
            </a:r>
            <a:r>
              <a:rPr kumimoji="1" lang="zh-CN" altLang="en-US" sz="1200" b="1" dirty="0">
                <a:latin typeface="宋体" panose="02010600030101010101" pitchFamily="2" charset="-122"/>
              </a:rPr>
              <a:t>正常，第</a:t>
            </a:r>
            <a:r>
              <a:rPr kumimoji="1" lang="en-US" altLang="zh-CN" sz="1200" b="1" dirty="0">
                <a:latin typeface="宋体" panose="02010600030101010101" pitchFamily="2" charset="-122"/>
              </a:rPr>
              <a:t>2</a:t>
            </a:r>
            <a:r>
              <a:rPr kumimoji="1" lang="zh-CN" altLang="en-US" sz="1200" b="1" dirty="0">
                <a:latin typeface="宋体" panose="02010600030101010101" pitchFamily="2" charset="-122"/>
              </a:rPr>
              <a:t>个超下限）</a:t>
            </a:r>
            <a:endParaRPr kumimoji="1" lang="en-US" altLang="zh-CN" sz="12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5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en-US" altLang="zh-CN" sz="1200" b="1" dirty="0">
                <a:latin typeface="+mn-ea"/>
                <a:sym typeface="+mn-ea"/>
              </a:rPr>
              <a:t> 1.1, 1.2, </a:t>
            </a:r>
            <a:r>
              <a:rPr kumimoji="1" lang="en-US" altLang="zh-CN" sz="1200" b="1" dirty="0">
                <a:latin typeface="+mn-ea"/>
                <a:sym typeface="+mn-ea"/>
              </a:rPr>
              <a:t>4.3e38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en-US" altLang="zh-CN" sz="1200" b="1" dirty="0">
                <a:latin typeface="宋体" panose="02010600030101010101" pitchFamily="2" charset="-122"/>
              </a:rPr>
              <a:t>↙ </a:t>
            </a:r>
            <a:r>
              <a:rPr kumimoji="1" lang="zh-CN" altLang="en-US" sz="1200" b="1" dirty="0">
                <a:latin typeface="宋体" panose="02010600030101010101" pitchFamily="2" charset="-122"/>
              </a:rPr>
              <a:t>（</a:t>
            </a:r>
            <a:r>
              <a:rPr kumimoji="1" lang="en-US" altLang="zh-CN" sz="1200" b="1" dirty="0">
                <a:latin typeface="宋体" panose="02010600030101010101" pitchFamily="2" charset="-122"/>
              </a:rPr>
              <a:t>1/2</a:t>
            </a:r>
            <a:r>
              <a:rPr kumimoji="1" lang="zh-CN" altLang="en-US" sz="1200" b="1" dirty="0">
                <a:latin typeface="宋体" panose="02010600030101010101" pitchFamily="2" charset="-122"/>
              </a:rPr>
              <a:t>正常，第</a:t>
            </a:r>
            <a:r>
              <a:rPr kumimoji="1" lang="en-US" altLang="zh-CN" sz="1200" b="1" dirty="0">
                <a:latin typeface="宋体" panose="02010600030101010101" pitchFamily="2" charset="-122"/>
              </a:rPr>
              <a:t>3</a:t>
            </a:r>
            <a:r>
              <a:rPr kumimoji="1" lang="zh-CN" altLang="en-US" sz="1200" b="1" dirty="0">
                <a:latin typeface="宋体" panose="02010600030101010101" pitchFamily="2" charset="-122"/>
              </a:rPr>
              <a:t>个超上限）</a:t>
            </a:r>
            <a:endParaRPr kumimoji="1" lang="en-US" altLang="zh-CN" sz="12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6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en-US" altLang="zh-CN" sz="1200" b="1" dirty="0">
                <a:latin typeface="+mn-ea"/>
                <a:sym typeface="+mn-ea"/>
              </a:rPr>
              <a:t>1.1, 1.2, -4.3e38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en-US" altLang="zh-CN" sz="1200" b="1" dirty="0">
                <a:latin typeface="宋体" panose="02010600030101010101" pitchFamily="2" charset="-122"/>
              </a:rPr>
              <a:t>↙ </a:t>
            </a:r>
            <a:r>
              <a:rPr kumimoji="1" lang="zh-CN" altLang="en-US" sz="1200" b="1" dirty="0">
                <a:latin typeface="宋体" panose="02010600030101010101" pitchFamily="2" charset="-122"/>
              </a:rPr>
              <a:t>（</a:t>
            </a:r>
            <a:r>
              <a:rPr kumimoji="1" lang="en-US" altLang="zh-CN" sz="1200" b="1" dirty="0">
                <a:latin typeface="宋体" panose="02010600030101010101" pitchFamily="2" charset="-122"/>
              </a:rPr>
              <a:t>1/2</a:t>
            </a:r>
            <a:r>
              <a:rPr kumimoji="1" lang="zh-CN" altLang="en-US" sz="1200" b="1" dirty="0">
                <a:latin typeface="宋体" panose="02010600030101010101" pitchFamily="2" charset="-122"/>
              </a:rPr>
              <a:t>正常，第</a:t>
            </a:r>
            <a:r>
              <a:rPr kumimoji="1" lang="en-US" altLang="zh-CN" sz="1200" b="1" dirty="0">
                <a:latin typeface="宋体" panose="02010600030101010101" pitchFamily="2" charset="-122"/>
              </a:rPr>
              <a:t>3</a:t>
            </a:r>
            <a:r>
              <a:rPr kumimoji="1" lang="zh-CN" altLang="en-US" sz="1200" b="1" dirty="0">
                <a:latin typeface="宋体" panose="02010600030101010101" pitchFamily="2" charset="-122"/>
              </a:rPr>
              <a:t>个超下限）</a:t>
            </a:r>
            <a:endParaRPr kumimoji="1" lang="en-US" altLang="zh-CN" sz="12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总结：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、多个</a:t>
            </a:r>
            <a:r>
              <a:rPr kumimoji="1" lang="en-US" altLang="zh-CN" sz="1200" b="1" dirty="0" err="1">
                <a:latin typeface="+mn-ea"/>
              </a:rPr>
              <a:t>cin</a:t>
            </a:r>
            <a:r>
              <a:rPr kumimoji="1" lang="zh-CN" altLang="en-US" sz="1200" b="1" dirty="0">
                <a:latin typeface="+mn-ea"/>
              </a:rPr>
              <a:t>输入时，错误输入出现在不同位置对输入正确性的影响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CC"/>
                </a:solidFill>
                <a:latin typeface="+mn-ea"/>
              </a:rPr>
              <a:t>   要求：综合观察运行结果，加上自己的思考，给出总结性的结论，这个</a:t>
            </a:r>
            <a:endParaRPr kumimoji="1" lang="en-US" altLang="zh-CN" sz="1200" b="1" dirty="0">
              <a:solidFill>
                <a:srgbClr val="0000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CC"/>
                </a:solidFill>
                <a:latin typeface="+mn-ea"/>
              </a:rPr>
              <a:t>         </a:t>
            </a:r>
            <a:r>
              <a:rPr kumimoji="1" lang="zh-CN" altLang="en-US" sz="1200" b="1" dirty="0">
                <a:solidFill>
                  <a:srgbClr val="0000CC"/>
                </a:solidFill>
                <a:latin typeface="+mn-ea"/>
              </a:rPr>
              <a:t>结论要能对多个输入情况下不同位置的错误情况有普遍适应性，</a:t>
            </a:r>
            <a:endParaRPr kumimoji="1" lang="en-US" altLang="zh-CN" sz="1200" b="1" dirty="0">
              <a:solidFill>
                <a:srgbClr val="0000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CC"/>
                </a:solidFill>
                <a:latin typeface="+mn-ea"/>
              </a:rPr>
              <a:t>         而不仅仅是简单的根据结论说错在</a:t>
            </a:r>
            <a:r>
              <a:rPr kumimoji="1" lang="en-US" altLang="zh-CN" sz="1200" b="1" dirty="0">
                <a:solidFill>
                  <a:srgbClr val="0000CC"/>
                </a:solidFill>
                <a:latin typeface="+mn-ea"/>
              </a:rPr>
              <a:t>1/2/3</a:t>
            </a:r>
            <a:r>
              <a:rPr kumimoji="1" lang="zh-CN" altLang="en-US" sz="1200" b="1" dirty="0">
                <a:solidFill>
                  <a:srgbClr val="0000CC"/>
                </a:solidFill>
                <a:latin typeface="+mn-ea"/>
              </a:rPr>
              <a:t>位置</a:t>
            </a:r>
            <a:endParaRPr kumimoji="1" lang="en-US" altLang="zh-CN" sz="1200" b="1" dirty="0">
              <a:solidFill>
                <a:srgbClr val="0000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CC"/>
                </a:solidFill>
                <a:latin typeface="+mn-ea"/>
              </a:rPr>
              <a:t>       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（提示：从什么位置开始值不可信？）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chemeClr val="tx1"/>
                </a:solidFill>
                <a:latin typeface="+mn-ea"/>
              </a:rPr>
              <a:t>错误输入在哪里出现，从哪里开始的输入就不可信</a:t>
            </a:r>
            <a:endParaRPr kumimoji="1" lang="en-US" altLang="zh-CN" sz="1200" b="1" dirty="0">
              <a:solidFill>
                <a:schemeClr val="tx1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、将</a:t>
            </a:r>
            <a:r>
              <a:rPr kumimoji="1" lang="en-US" altLang="zh-CN" sz="1200" b="1" dirty="0">
                <a:latin typeface="+mn-ea"/>
              </a:rPr>
              <a:t>float</a:t>
            </a:r>
            <a:r>
              <a:rPr kumimoji="1" lang="zh-CN" altLang="en-US" sz="1200" b="1" dirty="0">
                <a:latin typeface="+mn-ea"/>
              </a:rPr>
              <a:t>替换为</a:t>
            </a:r>
            <a:r>
              <a:rPr kumimoji="1" lang="en-US" altLang="zh-CN" sz="1200" b="1" dirty="0">
                <a:latin typeface="+mn-ea"/>
              </a:rPr>
              <a:t>double</a:t>
            </a:r>
            <a:r>
              <a:rPr kumimoji="1" lang="zh-CN" altLang="en-US" sz="1200" b="1" dirty="0">
                <a:latin typeface="+mn-ea"/>
              </a:rPr>
              <a:t>，上述结论是否仍然成立？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成立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92113" y="6223819"/>
            <a:ext cx="4528527" cy="310331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全部做一遍，任选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2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题截图即可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(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多截不限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)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5830" y="1323975"/>
            <a:ext cx="1700530" cy="12814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5830" y="2776855"/>
            <a:ext cx="1990725" cy="138112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其他情况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程序如下，观察编译及运行结果（贴图在清晰可辨的情况下尽可能小）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749" y="1323975"/>
            <a:ext cx="33566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a, b, c;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a,b,c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948758" y="1323974"/>
            <a:ext cx="688665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</a:rPr>
              <a:t>1</a:t>
            </a:r>
            <a:r>
              <a:rPr kumimoji="1" lang="zh-CN" altLang="en-US" sz="1600" b="1" dirty="0">
                <a:latin typeface="宋体" panose="02010600030101010101" pitchFamily="2" charset="-122"/>
              </a:rPr>
              <a:t>、如果编译有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error</a:t>
            </a:r>
            <a:r>
              <a:rPr kumimoji="1" lang="zh-CN" altLang="en-US" sz="1600" b="1" dirty="0">
                <a:latin typeface="宋体" panose="02010600030101010101" pitchFamily="2" charset="-122"/>
              </a:rPr>
              <a:t>或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warning</a:t>
            </a:r>
            <a:r>
              <a:rPr kumimoji="1" lang="zh-CN" altLang="en-US" sz="1600" b="1" dirty="0">
                <a:latin typeface="宋体" panose="02010600030101010101" pitchFamily="2" charset="-122"/>
              </a:rPr>
              <a:t>，则贴相应信息的截图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</a:rPr>
              <a:t>2</a:t>
            </a:r>
            <a:r>
              <a:rPr kumimoji="1" lang="zh-CN" altLang="en-US" sz="1600" b="1" dirty="0">
                <a:latin typeface="宋体" panose="02010600030101010101" pitchFamily="2" charset="-122"/>
              </a:rPr>
              <a:t>、如果能运行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(</a:t>
            </a:r>
            <a:r>
              <a:rPr kumimoji="1" lang="zh-CN" altLang="en-US" sz="1600" b="1" dirty="0">
                <a:latin typeface="宋体" panose="02010600030101010101" pitchFamily="2" charset="-122"/>
              </a:rPr>
              <a:t>包括有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warning)</a:t>
            </a:r>
            <a:r>
              <a:rPr kumimoji="1" lang="zh-CN" altLang="en-US" sz="1600" b="1" dirty="0">
                <a:latin typeface="宋体" panose="02010600030101010101" pitchFamily="2" charset="-122"/>
              </a:rPr>
              <a:t>，则输入三个正确的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int</a:t>
            </a:r>
            <a:r>
              <a:rPr kumimoji="1" lang="zh-CN" altLang="en-US" sz="1600" b="1" dirty="0">
                <a:latin typeface="宋体" panose="02010600030101010101" pitchFamily="2" charset="-122"/>
              </a:rPr>
              <a:t>型数据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</a:rPr>
              <a:t>  (</a:t>
            </a:r>
            <a:r>
              <a:rPr kumimoji="1" lang="zh-CN" altLang="en-US" sz="1600" b="1" dirty="0">
                <a:latin typeface="宋体" panose="02010600030101010101" pitchFamily="2" charset="-122"/>
              </a:rPr>
              <a:t>例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 :1 2 3↙)</a:t>
            </a:r>
            <a:r>
              <a:rPr kumimoji="1" lang="zh-CN" altLang="en-US" sz="1600" b="1" dirty="0">
                <a:latin typeface="宋体" panose="02010600030101010101" pitchFamily="2" charset="-122"/>
              </a:rPr>
              <a:t>，观察输出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</a:rPr>
              <a:t>3</a:t>
            </a:r>
            <a:r>
              <a:rPr kumimoji="1" lang="zh-CN" altLang="en-US" sz="1600" b="1" dirty="0">
                <a:latin typeface="宋体" panose="02010600030101010101" pitchFamily="2" charset="-122"/>
              </a:rPr>
              <a:t>、分析为什么只有某个变量的结果是正确的</a:t>
            </a:r>
            <a:endParaRPr kumimoji="1" lang="zh-CN" altLang="en-US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宋体" panose="02010600030101010101" pitchFamily="2" charset="-122"/>
              </a:rPr>
              <a:t>逗号表达式，实际只读取了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a</a:t>
            </a:r>
            <a:r>
              <a:rPr kumimoji="1" lang="zh-CN" altLang="en-US" sz="1600" b="1" dirty="0">
                <a:latin typeface="宋体" panose="02010600030101010101" pitchFamily="2" charset="-122"/>
              </a:rPr>
              <a:t>；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 b</a:t>
            </a:r>
            <a:r>
              <a:rPr kumimoji="1" lang="zh-CN" altLang="en-US" sz="1600" b="1" dirty="0">
                <a:latin typeface="宋体" panose="02010600030101010101" pitchFamily="2" charset="-122"/>
              </a:rPr>
              <a:t>，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c</a:t>
            </a:r>
            <a:r>
              <a:rPr kumimoji="1" lang="zh-CN" altLang="en-US" sz="1600" b="1" dirty="0">
                <a:latin typeface="宋体" panose="02010600030101010101" pitchFamily="2" charset="-122"/>
              </a:rPr>
              <a:t>没有正确</a:t>
            </a:r>
            <a:r>
              <a:rPr kumimoji="1" lang="zh-CN" altLang="en-US" sz="1600" b="1" dirty="0">
                <a:latin typeface="宋体" panose="02010600030101010101" pitchFamily="2" charset="-122"/>
              </a:rPr>
              <a:t>读取</a:t>
            </a:r>
            <a:endParaRPr kumimoji="1" lang="zh-CN" altLang="en-US" sz="1600" b="1" dirty="0">
              <a:latin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8539886" y="6043295"/>
            <a:ext cx="2295525" cy="49085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本题要求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+mn-ea"/>
              </a:rPr>
              <a:t>VS+Dev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8790" y="2892425"/>
            <a:ext cx="3381375" cy="4191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8390" y="2840355"/>
            <a:ext cx="1100455" cy="86677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其他情况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程序如下，观察编译及运行结果（贴图在清晰可辨的情况下尽可能小）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4" y="1323975"/>
            <a:ext cx="33566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a=66, b=67, c=68;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a,b,c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948758" y="1323974"/>
            <a:ext cx="688665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、运行后，输入三个正确的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型数据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例</a:t>
            </a:r>
            <a:r>
              <a:rPr kumimoji="1" lang="en-US" altLang="zh-CN" sz="1600" b="1" dirty="0">
                <a:latin typeface="+mn-ea"/>
              </a:rPr>
              <a:t> :1 2 3↙</a:t>
            </a:r>
            <a:r>
              <a:rPr kumimoji="1" lang="zh-CN" altLang="en-US" sz="1600" b="1" dirty="0">
                <a:latin typeface="+mn-ea"/>
              </a:rPr>
              <a:t>，注意不要是预置值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观察输出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、通过观察三个变量的输出，你得到了什么结论？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只有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的输入被接收到，</a:t>
            </a:r>
            <a:r>
              <a:rPr kumimoji="1" lang="en-US" altLang="zh-CN" sz="1600" b="1" dirty="0">
                <a:latin typeface="+mn-ea"/>
              </a:rPr>
              <a:t>b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c</a:t>
            </a:r>
            <a:r>
              <a:rPr kumimoji="1" lang="zh-CN" altLang="en-US" sz="1600" b="1" dirty="0">
                <a:latin typeface="+mn-ea"/>
              </a:rPr>
              <a:t>维持原值</a:t>
            </a:r>
            <a:endParaRPr kumimoji="1" lang="zh-CN" altLang="en-US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9140" y="3956685"/>
            <a:ext cx="93345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其他情况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程序如下，观察编译及运行结果（贴图在清晰可辨的情况下尽可能小）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4" y="1323975"/>
            <a:ext cx="33566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a;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5;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a+10;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948758" y="1323974"/>
            <a:ext cx="688665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、如果编译有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或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，则贴相应信息的截图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信息太多则前五行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、分析为什么编译有错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a + 10 </a:t>
            </a:r>
            <a:r>
              <a:rPr kumimoji="1" lang="zh-CN" altLang="en-US" sz="1600" b="1" dirty="0">
                <a:latin typeface="+mn-ea"/>
              </a:rPr>
              <a:t>是一个算式，不能</a:t>
            </a:r>
            <a:r>
              <a:rPr kumimoji="1" lang="zh-CN" altLang="en-US" sz="1600" b="1" dirty="0">
                <a:latin typeface="+mn-ea"/>
              </a:rPr>
              <a:t>接收输入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、结论：流提取运算符后面必须跟</a:t>
            </a:r>
            <a:r>
              <a:rPr kumimoji="1" lang="en-US" altLang="zh-CN" sz="1600" b="1" dirty="0">
                <a:latin typeface="+mn-ea"/>
              </a:rPr>
              <a:t>__b___</a:t>
            </a:r>
            <a:r>
              <a:rPr kumimoji="1" lang="zh-CN" altLang="en-US" sz="1600" b="1" dirty="0">
                <a:latin typeface="+mn-ea"/>
              </a:rPr>
              <a:t>，不能是</a:t>
            </a:r>
            <a:r>
              <a:rPr kumimoji="1" lang="en-US" altLang="zh-CN" sz="1600" b="1" dirty="0">
                <a:latin typeface="+mn-ea"/>
              </a:rPr>
              <a:t>___a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c______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a)</a:t>
            </a:r>
            <a:r>
              <a:rPr kumimoji="1" lang="zh-CN" altLang="en-US" sz="1600" b="1" dirty="0">
                <a:latin typeface="+mn-ea"/>
              </a:rPr>
              <a:t> 常量  </a:t>
            </a:r>
            <a:r>
              <a:rPr kumimoji="1" lang="en-US" altLang="zh-CN" sz="1600" b="1" dirty="0">
                <a:latin typeface="+mn-ea"/>
              </a:rPr>
              <a:t>b) </a:t>
            </a:r>
            <a:r>
              <a:rPr kumimoji="1" lang="zh-CN" altLang="en-US" sz="1600" b="1" dirty="0">
                <a:latin typeface="+mn-ea"/>
              </a:rPr>
              <a:t>变量  </a:t>
            </a:r>
            <a:r>
              <a:rPr kumimoji="1" lang="en-US" altLang="zh-CN" sz="1600" b="1" dirty="0">
                <a:latin typeface="+mn-ea"/>
              </a:rPr>
              <a:t>c) </a:t>
            </a:r>
            <a:r>
              <a:rPr kumimoji="1" lang="zh-CN" altLang="en-US" sz="1600" b="1" dirty="0">
                <a:latin typeface="+mn-ea"/>
              </a:rPr>
              <a:t>表达式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8539886" y="6043295"/>
            <a:ext cx="2295525" cy="49085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本题要求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+mn-ea"/>
              </a:rPr>
              <a:t>VS+Dev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325" y="1721485"/>
            <a:ext cx="3057525" cy="3905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205" y="4262755"/>
            <a:ext cx="9672955" cy="136715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其他情况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程序如下，观察编译及运行结果（贴图在清晰可辨的情况下尽可能小）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4" y="1323975"/>
            <a:ext cx="33566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a=66, b=67, c=68;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a,b,c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948758" y="1323974"/>
            <a:ext cx="688665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、运行后，输入三个正确的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型数据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例</a:t>
            </a:r>
            <a:r>
              <a:rPr kumimoji="1" lang="en-US" altLang="zh-CN" sz="1600" b="1" dirty="0">
                <a:latin typeface="+mn-ea"/>
              </a:rPr>
              <a:t> :1 2 3↙</a:t>
            </a:r>
            <a:r>
              <a:rPr kumimoji="1" lang="zh-CN" altLang="en-US" sz="1600" b="1" dirty="0">
                <a:latin typeface="+mn-ea"/>
              </a:rPr>
              <a:t>，注意不要是预置值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观察输出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、通过观察三个变量的输出，你得到了什么结论？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c</a:t>
            </a:r>
            <a:r>
              <a:rPr kumimoji="1" lang="zh-CN" altLang="en-US" sz="1600" b="1" dirty="0">
                <a:latin typeface="+mn-ea"/>
              </a:rPr>
              <a:t>被改变，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b</a:t>
            </a:r>
            <a:r>
              <a:rPr kumimoji="1" lang="zh-CN" altLang="en-US" sz="1600" b="1" dirty="0">
                <a:latin typeface="+mn-ea"/>
              </a:rPr>
              <a:t>不变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、和</a:t>
            </a:r>
            <a:r>
              <a:rPr kumimoji="1" lang="en-US" altLang="zh-CN" sz="1600" b="1" dirty="0">
                <a:latin typeface="+mn-ea"/>
              </a:rPr>
              <a:t>B</a:t>
            </a:r>
            <a:r>
              <a:rPr kumimoji="1" lang="zh-CN" altLang="en-US" sz="1600" b="1" dirty="0">
                <a:latin typeface="+mn-ea"/>
              </a:rPr>
              <a:t>进行比较，分析为什么结果有差异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因为先运算逗号表达式，再进行输入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、和</a:t>
            </a:r>
            <a:r>
              <a:rPr kumimoji="1" lang="en-US" altLang="zh-CN" sz="1600" b="1" dirty="0">
                <a:latin typeface="+mn-ea"/>
              </a:rPr>
              <a:t>C</a:t>
            </a:r>
            <a:r>
              <a:rPr kumimoji="1" lang="zh-CN" altLang="en-US" sz="1600" b="1" dirty="0">
                <a:latin typeface="+mn-ea"/>
              </a:rPr>
              <a:t>进行比较，与</a:t>
            </a:r>
            <a:r>
              <a:rPr kumimoji="1" lang="en-US" altLang="zh-CN" sz="1600" b="1" dirty="0">
                <a:latin typeface="+mn-ea"/>
              </a:rPr>
              <a:t>C</a:t>
            </a:r>
            <a:r>
              <a:rPr kumimoji="1" lang="zh-CN" altLang="en-US" sz="1600" b="1" dirty="0">
                <a:latin typeface="+mn-ea"/>
              </a:rPr>
              <a:t>得出的结论矛盾吗？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不矛盾，逗号表达式的返回值是</a:t>
            </a:r>
            <a:r>
              <a:rPr kumimoji="1" lang="en-US" altLang="zh-CN" sz="1600" b="1" dirty="0">
                <a:latin typeface="+mn-ea"/>
              </a:rPr>
              <a:t>c</a:t>
            </a:r>
            <a:r>
              <a:rPr kumimoji="1" lang="zh-CN" altLang="en-US" sz="1600" b="1" dirty="0">
                <a:latin typeface="+mn-ea"/>
              </a:rPr>
              <a:t>，还是一个</a:t>
            </a:r>
            <a:r>
              <a:rPr kumimoji="1" lang="zh-CN" altLang="en-US" sz="1600" b="1" dirty="0">
                <a:latin typeface="+mn-ea"/>
              </a:rPr>
              <a:t>变量</a:t>
            </a:r>
            <a:endParaRPr kumimoji="1" lang="zh-CN" altLang="en-US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2015" y="1773555"/>
            <a:ext cx="990600" cy="79565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其他情况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程序如下，观察编译及运行结果（贴图在清晰可辨的情况下尽可能小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3" y="1323975"/>
            <a:ext cx="611348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c1, c2;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a;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float b;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c1 &gt;&gt; c2 &gt;&gt; a &gt;&gt; b;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c1 &lt;&lt; ' '&lt;&lt; c2 &lt;&lt;' '&lt;&lt; a &lt;&lt;' '&lt;&lt;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6705600" y="1323974"/>
            <a:ext cx="412981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注：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︺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表示空格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1234︺56.78↙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1︺2︺34︺56.78↙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、分析在以上两种不同输入的情况下，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为什么输出相同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提示：空格的作用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tx1"/>
                </a:solidFill>
                <a:latin typeface="+mn-ea"/>
              </a:rPr>
              <a:t>char</a:t>
            </a:r>
            <a:r>
              <a:rPr kumimoji="1" lang="zh-CN" altLang="en-US" sz="1600" b="1" dirty="0">
                <a:solidFill>
                  <a:schemeClr val="tx1"/>
                </a:solidFill>
                <a:latin typeface="+mn-ea"/>
              </a:rPr>
              <a:t>类型读取一个有效字符，空格表示输入结束，所以两者输出相同</a:t>
            </a:r>
            <a:endParaRPr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1945" y="2190750"/>
            <a:ext cx="1581150" cy="40513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1945" y="3150870"/>
            <a:ext cx="1409700" cy="43370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其他情况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F.</a:t>
            </a:r>
            <a:r>
              <a:rPr lang="zh-CN" altLang="en-US" sz="1600" b="1" dirty="0">
                <a:latin typeface="+mn-ea"/>
              </a:rPr>
              <a:t>程序如下，观察编译及运行结果（贴图在清晰可辨的情况下尽可能小）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4" y="1323975"/>
            <a:ext cx="33566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a;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 &gt;&gt;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948758" y="1323974"/>
            <a:ext cx="688665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、如果编译有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或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，则贴相应信息的截图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信息太多则前五行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、结论：在</a:t>
            </a:r>
            <a:r>
              <a:rPr kumimoji="1" lang="en-US" altLang="zh-CN" sz="1600" b="1" dirty="0" err="1">
                <a:latin typeface="+mn-ea"/>
              </a:rPr>
              <a:t>cin</a:t>
            </a:r>
            <a:r>
              <a:rPr kumimoji="1" lang="zh-CN" altLang="en-US" sz="1600" b="1" dirty="0">
                <a:latin typeface="+mn-ea"/>
              </a:rPr>
              <a:t>中不能跟</a:t>
            </a:r>
            <a:r>
              <a:rPr kumimoji="1" lang="en-US" altLang="zh-CN" sz="1600" b="1" dirty="0">
                <a:latin typeface="+mn-ea"/>
              </a:rPr>
              <a:t>________</a:t>
            </a:r>
            <a:r>
              <a:rPr kumimoji="1" lang="en-US" altLang="zh-CN" sz="1600" b="1" dirty="0">
                <a:latin typeface="+mn-ea"/>
              </a:rPr>
              <a:t>endl_______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8539886" y="6043295"/>
            <a:ext cx="2295525" cy="49085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本题要求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+mn-ea"/>
              </a:rPr>
              <a:t>VS+Dev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1930" y="2491105"/>
            <a:ext cx="3514725" cy="2476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1930" y="3607435"/>
            <a:ext cx="6219825" cy="107188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16177</Words>
  <Application>WPS 演示</Application>
  <PresentationFormat>宽屏</PresentationFormat>
  <Paragraphs>1147</Paragraphs>
  <Slides>37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6" baseType="lpstr">
      <vt:lpstr>Arial</vt:lpstr>
      <vt:lpstr>宋体</vt:lpstr>
      <vt:lpstr>Wingdings</vt:lpstr>
      <vt:lpstr>Times New Roman</vt:lpstr>
      <vt:lpstr>微软雅黑</vt:lpstr>
      <vt:lpstr>Arial Unicode MS</vt:lpstr>
      <vt:lpstr>等线</vt:lpstr>
      <vt:lpstr>Calibri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wps</cp:lastModifiedBy>
  <cp:revision>220</cp:revision>
  <dcterms:created xsi:type="dcterms:W3CDTF">2020-08-13T13:39:00Z</dcterms:created>
  <dcterms:modified xsi:type="dcterms:W3CDTF">2025-03-15T04:43:19Z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5E01DCBE4266486AA6C8064664AC8ED4_12</vt:lpwstr>
  </property>
  <property fmtid="{D5CDD505-2E9C-101B-9397-08002B2CF9AE}" pid="3" name="KSOProductBuildVer">
    <vt:lpwstr>2052-12.8.2.15091</vt:lpwstr>
  </property>
</Properties>
</file>