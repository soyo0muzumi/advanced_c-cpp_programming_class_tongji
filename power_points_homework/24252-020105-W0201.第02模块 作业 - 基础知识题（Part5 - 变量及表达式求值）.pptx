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449" r:id="rId3"/>
    <p:sldId id="1237" r:id="rId4"/>
    <p:sldId id="1249" r:id="rId6"/>
    <p:sldId id="534" r:id="rId7"/>
    <p:sldId id="535" r:id="rId8"/>
    <p:sldId id="536" r:id="rId9"/>
    <p:sldId id="537" r:id="rId10"/>
    <p:sldId id="538" r:id="rId11"/>
    <p:sldId id="539" r:id="rId12"/>
    <p:sldId id="540" r:id="rId13"/>
    <p:sldId id="543" r:id="rId14"/>
    <p:sldId id="1248" r:id="rId15"/>
    <p:sldId id="1245" r:id="rId16"/>
    <p:sldId id="1239" r:id="rId17"/>
    <p:sldId id="1240" r:id="rId18"/>
    <p:sldId id="1283" r:id="rId19"/>
    <p:sldId id="1246" r:id="rId20"/>
    <p:sldId id="1284" r:id="rId21"/>
    <p:sldId id="944" r:id="rId22"/>
    <p:sldId id="1241" r:id="rId23"/>
    <p:sldId id="1285" r:id="rId24"/>
    <p:sldId id="1242" r:id="rId25"/>
    <p:sldId id="1286" r:id="rId26"/>
    <p:sldId id="545" r:id="rId27"/>
    <p:sldId id="1243" r:id="rId28"/>
    <p:sldId id="1247" r:id="rId29"/>
    <p:sldId id="1244" r:id="rId30"/>
    <p:sldId id="541" r:id="rId31"/>
    <p:sldId id="542" r:id="rId32"/>
    <p:sldId id="546" r:id="rId33"/>
    <p:sldId id="547" r:id="rId34"/>
    <p:sldId id="548" r:id="rId35"/>
    <p:sldId id="549" r:id="rId36"/>
    <p:sldId id="550" r:id="rId37"/>
    <p:sldId id="551" r:id="rId38"/>
    <p:sldId id="552" r:id="rId39"/>
    <p:sldId id="553" r:id="rId40"/>
    <p:sldId id="554" r:id="rId41"/>
    <p:sldId id="555" r:id="rId4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54" autoAdjust="0"/>
    <p:restoredTop sz="86411" autoAdjust="0"/>
  </p:normalViewPr>
  <p:slideViewPr>
    <p:cSldViewPr snapToGrid="0">
      <p:cViewPr varScale="1">
        <p:scale>
          <a:sx n="77" d="100"/>
          <a:sy n="77" d="100"/>
        </p:scale>
        <p:origin x="108" y="3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6" Type="http://schemas.openxmlformats.org/officeDocument/2006/relationships/commentAuthors" Target="commentAuthors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3.bin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wmf"/><Relationship Id="rId1" Type="http://schemas.openxmlformats.org/officeDocument/2006/relationships/oleObject" Target="../embeddings/oleObject4.bin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5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6.bin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7.bin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wmf"/><Relationship Id="rId1" Type="http://schemas.openxmlformats.org/officeDocument/2006/relationships/oleObject" Target="../embeddings/oleObject8.bin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wmf"/><Relationship Id="rId1" Type="http://schemas.openxmlformats.org/officeDocument/2006/relationships/oleObject" Target="../embeddings/oleObject9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wmf"/><Relationship Id="rId1" Type="http://schemas.openxmlformats.org/officeDocument/2006/relationships/oleObject" Target="../embeddings/oleObject10.bin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wmf"/><Relationship Id="rId1" Type="http://schemas.openxmlformats.org/officeDocument/2006/relationships/oleObject" Target="../embeddings/oleObject11.bin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wmf"/><Relationship Id="rId1" Type="http://schemas.openxmlformats.org/officeDocument/2006/relationships/oleObject" Target="../embeddings/oleObject12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>
                <a:solidFill>
                  <a:srgbClr val="FF0000"/>
                </a:solidFill>
                <a:latin typeface="+mn-ea"/>
              </a:rPr>
              <a:t>12</a:t>
            </a:r>
            <a:r>
              <a:rPr lang="zh-CN" altLang="en-US" sz="1600" b="1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zh-CN" altLang="en-US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编辑窗的右下角是否为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46" y="1623695"/>
            <a:ext cx="9229725" cy="50196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、给出下列程序段中变量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的值（要综合参考课件</a:t>
            </a:r>
            <a:r>
              <a:rPr lang="en-US" altLang="zh-CN" sz="1600" b="1" dirty="0">
                <a:latin typeface="+mn-ea"/>
              </a:rPr>
              <a:t>P.45-51 </a:t>
            </a:r>
            <a:r>
              <a:rPr lang="zh-CN" altLang="en-US" sz="1600" b="1" dirty="0">
                <a:latin typeface="+mn-ea"/>
              </a:rPr>
              <a:t>和 </a:t>
            </a:r>
            <a:r>
              <a:rPr lang="en-US" altLang="zh-CN" sz="1600" b="1" dirty="0">
                <a:latin typeface="+mn-ea"/>
              </a:rPr>
              <a:t>P.86-89</a:t>
            </a:r>
            <a:r>
              <a:rPr lang="zh-CN" altLang="en-US" sz="1600" b="1" dirty="0">
                <a:latin typeface="+mn-ea"/>
              </a:rPr>
              <a:t>，给出包含整型提升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丢弃的过程，具体见下）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short a=1;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short b=a-2;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Step1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b=a-2</a:t>
            </a:r>
            <a:r>
              <a:rPr lang="zh-CN" altLang="en-US" sz="1600" b="1" dirty="0">
                <a:latin typeface="+mn-ea"/>
              </a:rPr>
              <a:t>，得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二进制补码形式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a =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00000000 00000000</a:t>
            </a:r>
            <a:r>
              <a:rPr lang="en-US" altLang="zh-CN" sz="1600" b="1" dirty="0">
                <a:latin typeface="+mn-ea"/>
              </a:rPr>
              <a:t> 00000000 00000001  -&gt; a </a:t>
            </a:r>
            <a:r>
              <a:rPr lang="zh-CN" altLang="en-US" sz="1600" b="1" dirty="0">
                <a:latin typeface="+mn-ea"/>
              </a:rPr>
              <a:t>（红色表示整型提升的填充位）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-)  2 = 00000000 00000000 00000000 00000010  -&gt; 2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---------------------------------------------------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11111111 11111111 11111111 11111111  -&gt; a-2(int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b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= </a:t>
            </a:r>
            <a:r>
              <a:rPr lang="en-US" altLang="zh-CN" sz="1600" b="1" strike="sngStrike" dirty="0">
                <a:solidFill>
                  <a:srgbClr val="FF0000"/>
                </a:solidFill>
                <a:latin typeface="+mn-ea"/>
              </a:rPr>
              <a:t>11111111 11111111</a:t>
            </a:r>
            <a:r>
              <a:rPr lang="en-US" altLang="zh-CN" sz="1600" b="1" dirty="0">
                <a:latin typeface="+mn-ea"/>
              </a:rPr>
              <a:t> 11111111 11111111  -&gt; b=a-2(</a:t>
            </a:r>
            <a:r>
              <a:rPr lang="zh-CN" altLang="en-US" sz="1600" b="1" dirty="0">
                <a:latin typeface="+mn-ea"/>
              </a:rPr>
              <a:t>二进制补码形式，删除线表示丢弃的位数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Step2</a:t>
            </a:r>
            <a:r>
              <a:rPr lang="zh-CN" altLang="en-US" sz="1600" b="1" dirty="0">
                <a:latin typeface="+mn-ea"/>
              </a:rPr>
              <a:t>：求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的十进制表示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）减一    </a:t>
            </a:r>
            <a:r>
              <a:rPr lang="en-US" altLang="zh-CN" sz="1600" b="1" dirty="0">
                <a:latin typeface="+mn-ea"/>
              </a:rPr>
              <a:t>11111111 11111111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-) 00000000 00000001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-----------------------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   11111111 11111110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）取反    </a:t>
            </a:r>
            <a:r>
              <a:rPr lang="en-US" altLang="zh-CN" sz="1600" b="1" dirty="0">
                <a:latin typeface="+mn-ea"/>
              </a:rPr>
              <a:t>00000000 00000001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）绝对值  </a:t>
            </a:r>
            <a:r>
              <a:rPr lang="en-US" altLang="zh-CN" sz="1600" b="1" dirty="0">
                <a:latin typeface="+mn-ea"/>
              </a:rPr>
              <a:t>1  (</a:t>
            </a:r>
            <a:r>
              <a:rPr lang="zh-CN" altLang="en-US" sz="1600" b="1" dirty="0">
                <a:latin typeface="+mn-ea"/>
              </a:rPr>
              <a:t>十进制表示形式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）加负号  </a:t>
            </a:r>
            <a:r>
              <a:rPr lang="en-US" altLang="zh-CN" sz="1600" b="1" dirty="0">
                <a:latin typeface="+mn-ea"/>
              </a:rPr>
              <a:t>-1 (</a:t>
            </a:r>
            <a:r>
              <a:rPr lang="zh-CN" altLang="en-US" sz="1600" b="1" dirty="0">
                <a:latin typeface="+mn-ea"/>
              </a:rPr>
              <a:t>十进制表示形式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8755118" y="604344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、给出下列程序段中变量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的值（要综合参考课件</a:t>
            </a:r>
            <a:r>
              <a:rPr lang="en-US" altLang="zh-CN" sz="1600" b="1" dirty="0">
                <a:latin typeface="+mn-ea"/>
              </a:rPr>
              <a:t>P.45-51 </a:t>
            </a:r>
            <a:r>
              <a:rPr lang="zh-CN" altLang="en-US" sz="1600" b="1" dirty="0">
                <a:latin typeface="+mn-ea"/>
              </a:rPr>
              <a:t>和 </a:t>
            </a:r>
            <a:r>
              <a:rPr lang="en-US" altLang="zh-CN" sz="1600" b="1" dirty="0">
                <a:latin typeface="+mn-ea"/>
              </a:rPr>
              <a:t>P.86-89</a:t>
            </a:r>
            <a:r>
              <a:rPr lang="zh-CN" altLang="en-US" sz="1600" b="1" dirty="0">
                <a:latin typeface="+mn-ea"/>
              </a:rPr>
              <a:t>，给出包含整型提升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丢弃的过程）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 err="1">
                <a:latin typeface="+mn-ea"/>
              </a:rPr>
              <a:t>A.short</a:t>
            </a:r>
            <a:r>
              <a:rPr lang="en-US" altLang="zh-CN" sz="1600" b="1" dirty="0">
                <a:latin typeface="+mn-ea"/>
              </a:rPr>
              <a:t> a=32743;</a:t>
            </a:r>
            <a:endParaRPr lang="zh-CN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short b=a+31;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Step1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b=a+31</a:t>
            </a:r>
            <a:r>
              <a:rPr lang="zh-CN" altLang="en-US" sz="1600" b="1" dirty="0">
                <a:latin typeface="+mn-ea"/>
                <a:sym typeface="+mn-ea"/>
              </a:rPr>
              <a:t>，得</a:t>
            </a:r>
            <a:r>
              <a:rPr lang="en-US" altLang="zh-CN" sz="1600" b="1" dirty="0">
                <a:latin typeface="+mn-ea"/>
                <a:sym typeface="+mn-ea"/>
              </a:rPr>
              <a:t>b</a:t>
            </a:r>
            <a:r>
              <a:rPr lang="zh-CN" altLang="en-US" sz="1600" b="1" dirty="0">
                <a:latin typeface="+mn-ea"/>
                <a:sym typeface="+mn-ea"/>
              </a:rPr>
              <a:t>二进制补码形式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  a =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sym typeface="+mn-ea"/>
              </a:rPr>
              <a:t>00000000 00000000</a:t>
            </a:r>
            <a:r>
              <a:rPr lang="en-US" altLang="zh-CN" sz="1600" b="1" dirty="0">
                <a:latin typeface="+mn-ea"/>
                <a:sym typeface="+mn-ea"/>
              </a:rPr>
              <a:t> 01111111 11100111  -&gt; a </a:t>
            </a:r>
            <a:r>
              <a:rPr lang="zh-CN" altLang="en-US" sz="1600" b="1" dirty="0">
                <a:latin typeface="+mn-ea"/>
                <a:sym typeface="+mn-ea"/>
              </a:rPr>
              <a:t>（红色表示整型提升的填充位）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+)  2 = 00000000 00000000 00000000 00011111  -&gt; 31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---------------------------------------------------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      </a:t>
            </a:r>
            <a:r>
              <a:rPr lang="en-US" altLang="zh-CN" sz="1600" b="1" dirty="0">
                <a:latin typeface="+mn-ea"/>
                <a:sym typeface="+mn-ea"/>
              </a:rPr>
              <a:t>00000000 0000000</a:t>
            </a:r>
            <a:r>
              <a:rPr lang="en-US" altLang="zh-CN" sz="1600" b="1" dirty="0">
                <a:latin typeface="+mn-ea"/>
                <a:sym typeface="+mn-ea"/>
              </a:rPr>
              <a:t>0 10000000 00000110  -&gt; a-2(int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  b</a:t>
            </a:r>
            <a:r>
              <a:rPr lang="zh-CN" altLang="en-US" sz="1600" b="1" dirty="0">
                <a:latin typeface="+mn-ea"/>
                <a:sym typeface="+mn-ea"/>
              </a:rPr>
              <a:t> </a:t>
            </a:r>
            <a:r>
              <a:rPr lang="en-US" altLang="zh-CN" sz="1600" b="1" dirty="0">
                <a:latin typeface="+mn-ea"/>
                <a:sym typeface="+mn-ea"/>
              </a:rPr>
              <a:t>= </a:t>
            </a:r>
            <a:r>
              <a:rPr lang="en-US" altLang="zh-CN" sz="1600" b="1" strike="sngStrike" dirty="0">
                <a:solidFill>
                  <a:srgbClr val="FF0000"/>
                </a:solidFill>
                <a:latin typeface="+mn-ea"/>
                <a:sym typeface="+mn-ea"/>
              </a:rPr>
              <a:t>00000000 00000000</a:t>
            </a:r>
            <a:r>
              <a:rPr lang="en-US" altLang="zh-CN" sz="1600" b="1" dirty="0">
                <a:latin typeface="+mn-ea"/>
                <a:sym typeface="+mn-ea"/>
              </a:rPr>
              <a:t> </a:t>
            </a:r>
            <a:r>
              <a:rPr lang="en-US" altLang="zh-CN" sz="1600" b="1" dirty="0">
                <a:latin typeface="+mn-ea"/>
                <a:sym typeface="+mn-ea"/>
              </a:rPr>
              <a:t>10000000 00000110</a:t>
            </a:r>
            <a:r>
              <a:rPr lang="en-US" altLang="zh-CN" sz="1600" b="1" dirty="0">
                <a:latin typeface="+mn-ea"/>
                <a:sym typeface="+mn-ea"/>
              </a:rPr>
              <a:t>  -&gt; b=a-2(</a:t>
            </a:r>
            <a:r>
              <a:rPr lang="zh-CN" altLang="en-US" sz="1600" b="1" dirty="0">
                <a:latin typeface="+mn-ea"/>
                <a:sym typeface="+mn-ea"/>
              </a:rPr>
              <a:t>二进制补码形式，删除线表示丢弃的位数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Step2</a:t>
            </a:r>
            <a:r>
              <a:rPr lang="zh-CN" altLang="en-US" sz="1600" b="1" dirty="0">
                <a:latin typeface="+mn-ea"/>
                <a:sym typeface="+mn-ea"/>
              </a:rPr>
              <a:t>：求</a:t>
            </a:r>
            <a:r>
              <a:rPr lang="en-US" altLang="zh-CN" sz="1600" b="1" dirty="0">
                <a:latin typeface="+mn-ea"/>
                <a:sym typeface="+mn-ea"/>
              </a:rPr>
              <a:t>b</a:t>
            </a:r>
            <a:r>
              <a:rPr lang="zh-CN" altLang="en-US" sz="1600" b="1" dirty="0">
                <a:latin typeface="+mn-ea"/>
                <a:sym typeface="+mn-ea"/>
              </a:rPr>
              <a:t>的十进制表示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</a:t>
            </a:r>
            <a:r>
              <a:rPr lang="zh-CN" altLang="en-US" sz="1600" b="1" dirty="0">
                <a:latin typeface="+mn-ea"/>
                <a:sym typeface="+mn-ea"/>
              </a:rPr>
              <a:t>（</a:t>
            </a:r>
            <a:r>
              <a:rPr lang="en-US" altLang="zh-CN" sz="1600" b="1" dirty="0">
                <a:latin typeface="+mn-ea"/>
                <a:sym typeface="+mn-ea"/>
              </a:rPr>
              <a:t>1</a:t>
            </a:r>
            <a:r>
              <a:rPr lang="zh-CN" altLang="en-US" sz="1600" b="1" dirty="0">
                <a:latin typeface="+mn-ea"/>
                <a:sym typeface="+mn-ea"/>
              </a:rPr>
              <a:t>）减一    </a:t>
            </a:r>
            <a:r>
              <a:rPr lang="en-US" altLang="zh-CN" sz="1600" b="1" dirty="0">
                <a:latin typeface="+mn-ea"/>
                <a:sym typeface="+mn-ea"/>
              </a:rPr>
              <a:t>10000000 00000110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        -) 00000000 00000001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       -----------------------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           </a:t>
            </a:r>
            <a:r>
              <a:rPr lang="en-US" altLang="zh-CN" sz="1600" b="1" dirty="0">
                <a:latin typeface="+mn-ea"/>
                <a:sym typeface="+mn-ea"/>
              </a:rPr>
              <a:t>10000000 00000101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</a:t>
            </a:r>
            <a:r>
              <a:rPr lang="zh-CN" altLang="en-US" sz="1600" b="1" dirty="0">
                <a:latin typeface="+mn-ea"/>
                <a:sym typeface="+mn-ea"/>
              </a:rPr>
              <a:t>（</a:t>
            </a:r>
            <a:r>
              <a:rPr lang="en-US" altLang="zh-CN" sz="1600" b="1" dirty="0">
                <a:latin typeface="+mn-ea"/>
                <a:sym typeface="+mn-ea"/>
              </a:rPr>
              <a:t>2</a:t>
            </a:r>
            <a:r>
              <a:rPr lang="zh-CN" altLang="en-US" sz="1600" b="1" dirty="0">
                <a:latin typeface="+mn-ea"/>
                <a:sym typeface="+mn-ea"/>
              </a:rPr>
              <a:t>）取反    </a:t>
            </a:r>
            <a:r>
              <a:rPr lang="en-US" altLang="zh-CN" sz="1600" b="1" dirty="0">
                <a:latin typeface="+mn-ea"/>
                <a:sym typeface="+mn-ea"/>
              </a:rPr>
              <a:t>01111111 11111010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</a:t>
            </a:r>
            <a:r>
              <a:rPr lang="zh-CN" altLang="en-US" sz="1600" b="1" dirty="0">
                <a:latin typeface="+mn-ea"/>
                <a:sym typeface="+mn-ea"/>
              </a:rPr>
              <a:t>（</a:t>
            </a:r>
            <a:r>
              <a:rPr lang="en-US" altLang="zh-CN" sz="1600" b="1" dirty="0">
                <a:latin typeface="+mn-ea"/>
                <a:sym typeface="+mn-ea"/>
              </a:rPr>
              <a:t>3</a:t>
            </a:r>
            <a:r>
              <a:rPr lang="zh-CN" altLang="en-US" sz="1600" b="1" dirty="0">
                <a:latin typeface="+mn-ea"/>
                <a:sym typeface="+mn-ea"/>
              </a:rPr>
              <a:t>）绝对值  </a:t>
            </a:r>
            <a:r>
              <a:rPr lang="en-US" altLang="zh-CN" sz="1600" b="1" dirty="0">
                <a:latin typeface="+mn-ea"/>
                <a:sym typeface="+mn-ea"/>
              </a:rPr>
              <a:t>32,762</a:t>
            </a:r>
            <a:r>
              <a:rPr lang="en-US" altLang="zh-CN" sz="1600" b="1" dirty="0">
                <a:latin typeface="+mn-ea"/>
                <a:sym typeface="+mn-ea"/>
              </a:rPr>
              <a:t>  (</a:t>
            </a:r>
            <a:r>
              <a:rPr lang="zh-CN" altLang="en-US" sz="1600" b="1" dirty="0">
                <a:latin typeface="+mn-ea"/>
                <a:sym typeface="+mn-ea"/>
              </a:rPr>
              <a:t>十进制表示形式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</a:t>
            </a:r>
            <a:r>
              <a:rPr lang="zh-CN" altLang="en-US" sz="1600" b="1" dirty="0">
                <a:latin typeface="+mn-ea"/>
                <a:sym typeface="+mn-ea"/>
              </a:rPr>
              <a:t>（</a:t>
            </a:r>
            <a:r>
              <a:rPr lang="en-US" altLang="zh-CN" sz="1600" b="1" dirty="0">
                <a:latin typeface="+mn-ea"/>
                <a:sym typeface="+mn-ea"/>
              </a:rPr>
              <a:t>4</a:t>
            </a:r>
            <a:r>
              <a:rPr lang="zh-CN" altLang="en-US" sz="1600" b="1" dirty="0">
                <a:latin typeface="+mn-ea"/>
                <a:sym typeface="+mn-ea"/>
              </a:rPr>
              <a:t>）加负号  </a:t>
            </a:r>
            <a:r>
              <a:rPr lang="en-US" altLang="zh-CN" sz="1600" b="1" dirty="0">
                <a:latin typeface="+mn-ea"/>
                <a:sym typeface="+mn-ea"/>
              </a:rPr>
              <a:t>-</a:t>
            </a:r>
            <a:r>
              <a:rPr lang="en-US" altLang="zh-CN" sz="1600" b="1" dirty="0">
                <a:latin typeface="+mn-ea"/>
                <a:sym typeface="+mn-ea"/>
              </a:rPr>
              <a:t>32,762</a:t>
            </a:r>
            <a:r>
              <a:rPr lang="en-US" altLang="zh-CN" sz="1600" b="1" dirty="0">
                <a:latin typeface="+mn-ea"/>
                <a:sym typeface="+mn-ea"/>
              </a:rPr>
              <a:t> (</a:t>
            </a:r>
            <a:r>
              <a:rPr lang="zh-CN" altLang="en-US" sz="1600" b="1" dirty="0">
                <a:latin typeface="+mn-ea"/>
                <a:sym typeface="+mn-ea"/>
              </a:rPr>
              <a:t>十进制表示形式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endParaRPr lang="zh-CN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、给出下列程序段中变量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的值（要综合参考课件</a:t>
            </a:r>
            <a:r>
              <a:rPr lang="en-US" altLang="zh-CN" sz="1600" b="1" dirty="0">
                <a:latin typeface="+mn-ea"/>
              </a:rPr>
              <a:t>P.45-51 </a:t>
            </a:r>
            <a:r>
              <a:rPr lang="zh-CN" altLang="en-US" sz="1600" b="1" dirty="0">
                <a:latin typeface="+mn-ea"/>
              </a:rPr>
              <a:t>和 </a:t>
            </a:r>
            <a:r>
              <a:rPr lang="en-US" altLang="zh-CN" sz="1600" b="1" dirty="0">
                <a:latin typeface="+mn-ea"/>
              </a:rPr>
              <a:t>P.86-89</a:t>
            </a:r>
            <a:r>
              <a:rPr lang="zh-CN" altLang="en-US" sz="1600" b="1" dirty="0">
                <a:latin typeface="+mn-ea"/>
              </a:rPr>
              <a:t>，给出包含整型提升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丢弃的过程）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 err="1">
                <a:latin typeface="+mn-ea"/>
              </a:rPr>
              <a:t>B.unsigned</a:t>
            </a:r>
            <a:r>
              <a:rPr lang="en-US" altLang="zh-CN" sz="1600" b="1" dirty="0">
                <a:latin typeface="+mn-ea"/>
              </a:rPr>
              <a:t> short a=65418;</a:t>
            </a:r>
            <a:endParaRPr lang="zh-CN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short b=a;</a:t>
            </a:r>
            <a:endParaRPr lang="en-US" altLang="zh-CN" sz="1600" b="1" dirty="0">
              <a:latin typeface="+mn-ea"/>
            </a:endParaRPr>
          </a:p>
          <a:p>
            <a:endParaRPr lang="zh-CN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Step1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b=a</a:t>
            </a:r>
            <a:r>
              <a:rPr lang="zh-CN" altLang="en-US" sz="1600" b="1" dirty="0">
                <a:latin typeface="+mn-ea"/>
                <a:sym typeface="+mn-ea"/>
              </a:rPr>
              <a:t>，得</a:t>
            </a:r>
            <a:r>
              <a:rPr lang="en-US" altLang="zh-CN" sz="1600" b="1" dirty="0">
                <a:latin typeface="+mn-ea"/>
                <a:sym typeface="+mn-ea"/>
              </a:rPr>
              <a:t>b</a:t>
            </a:r>
            <a:r>
              <a:rPr lang="zh-CN" altLang="en-US" sz="1600" b="1" dirty="0">
                <a:latin typeface="+mn-ea"/>
                <a:sym typeface="+mn-ea"/>
              </a:rPr>
              <a:t>二进制补码形式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  a =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sym typeface="+mn-ea"/>
              </a:rPr>
              <a:t>00000000 00000000</a:t>
            </a:r>
            <a:r>
              <a:rPr lang="en-US" altLang="zh-CN" sz="1600" b="1" dirty="0">
                <a:latin typeface="+mn-ea"/>
                <a:sym typeface="+mn-ea"/>
              </a:rPr>
              <a:t> 11111111 10001010  -&gt; a </a:t>
            </a:r>
            <a:r>
              <a:rPr lang="zh-CN" altLang="en-US" sz="1600" b="1" dirty="0">
                <a:latin typeface="+mn-ea"/>
                <a:sym typeface="+mn-ea"/>
              </a:rPr>
              <a:t>（红色表示整型提升的填充位）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---------------------------------------------------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      00000000 00000000 11111111 10001010  -&gt; a(int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  b</a:t>
            </a:r>
            <a:r>
              <a:rPr lang="zh-CN" altLang="en-US" sz="1600" b="1" dirty="0">
                <a:latin typeface="+mn-ea"/>
                <a:sym typeface="+mn-ea"/>
              </a:rPr>
              <a:t> </a:t>
            </a:r>
            <a:r>
              <a:rPr lang="en-US" altLang="zh-CN" sz="1600" b="1" dirty="0">
                <a:latin typeface="+mn-ea"/>
                <a:sym typeface="+mn-ea"/>
              </a:rPr>
              <a:t>= </a:t>
            </a:r>
            <a:r>
              <a:rPr lang="en-US" altLang="zh-CN" sz="1600" b="1" strike="sngStrike" dirty="0">
                <a:solidFill>
                  <a:srgbClr val="FF0000"/>
                </a:solidFill>
                <a:latin typeface="+mn-ea"/>
                <a:sym typeface="+mn-ea"/>
              </a:rPr>
              <a:t>00000000 00000000</a:t>
            </a:r>
            <a:r>
              <a:rPr lang="en-US" altLang="zh-CN" sz="1600" b="1" dirty="0">
                <a:latin typeface="+mn-ea"/>
                <a:sym typeface="+mn-ea"/>
              </a:rPr>
              <a:t> 11111111 10001010  -&gt; b=a(</a:t>
            </a:r>
            <a:r>
              <a:rPr lang="zh-CN" altLang="en-US" sz="1600" b="1" dirty="0">
                <a:latin typeface="+mn-ea"/>
                <a:sym typeface="+mn-ea"/>
              </a:rPr>
              <a:t>二进制补码形式，删除线表示丢弃的位数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Step2</a:t>
            </a:r>
            <a:r>
              <a:rPr lang="zh-CN" altLang="en-US" sz="1600" b="1" dirty="0">
                <a:latin typeface="+mn-ea"/>
                <a:sym typeface="+mn-ea"/>
              </a:rPr>
              <a:t>：求</a:t>
            </a:r>
            <a:r>
              <a:rPr lang="en-US" altLang="zh-CN" sz="1600" b="1" dirty="0">
                <a:latin typeface="+mn-ea"/>
                <a:sym typeface="+mn-ea"/>
              </a:rPr>
              <a:t>b</a:t>
            </a:r>
            <a:r>
              <a:rPr lang="zh-CN" altLang="en-US" sz="1600" b="1" dirty="0">
                <a:latin typeface="+mn-ea"/>
                <a:sym typeface="+mn-ea"/>
              </a:rPr>
              <a:t>的十进制表示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</a:t>
            </a:r>
            <a:r>
              <a:rPr lang="zh-CN" altLang="en-US" sz="1600" b="1" dirty="0">
                <a:latin typeface="+mn-ea"/>
                <a:sym typeface="+mn-ea"/>
              </a:rPr>
              <a:t>（</a:t>
            </a:r>
            <a:r>
              <a:rPr lang="en-US" altLang="zh-CN" sz="1600" b="1" dirty="0">
                <a:latin typeface="+mn-ea"/>
                <a:sym typeface="+mn-ea"/>
              </a:rPr>
              <a:t>1</a:t>
            </a:r>
            <a:r>
              <a:rPr lang="zh-CN" altLang="en-US" sz="1600" b="1" dirty="0">
                <a:latin typeface="+mn-ea"/>
                <a:sym typeface="+mn-ea"/>
              </a:rPr>
              <a:t>）减一    </a:t>
            </a:r>
            <a:r>
              <a:rPr lang="en-US" altLang="zh-CN" sz="1600" b="1" dirty="0">
                <a:latin typeface="+mn-ea"/>
                <a:sym typeface="+mn-ea"/>
              </a:rPr>
              <a:t>11111111 10001010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        -) 00000000 00000001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       -----------------------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           11111111 10001001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</a:t>
            </a:r>
            <a:r>
              <a:rPr lang="zh-CN" altLang="en-US" sz="1600" b="1" dirty="0">
                <a:latin typeface="+mn-ea"/>
                <a:sym typeface="+mn-ea"/>
              </a:rPr>
              <a:t>（</a:t>
            </a:r>
            <a:r>
              <a:rPr lang="en-US" altLang="zh-CN" sz="1600" b="1" dirty="0">
                <a:latin typeface="+mn-ea"/>
                <a:sym typeface="+mn-ea"/>
              </a:rPr>
              <a:t>2</a:t>
            </a:r>
            <a:r>
              <a:rPr lang="zh-CN" altLang="en-US" sz="1600" b="1" dirty="0">
                <a:latin typeface="+mn-ea"/>
                <a:sym typeface="+mn-ea"/>
              </a:rPr>
              <a:t>）取反    </a:t>
            </a:r>
            <a:r>
              <a:rPr lang="en-US" altLang="zh-CN" sz="1600" b="1" dirty="0">
                <a:latin typeface="+mn-ea"/>
                <a:sym typeface="+mn-ea"/>
              </a:rPr>
              <a:t>0</a:t>
            </a:r>
            <a:r>
              <a:rPr lang="en-US" altLang="zh-CN" sz="1600" b="1" dirty="0">
                <a:latin typeface="+mn-ea"/>
                <a:sym typeface="+mn-ea"/>
              </a:rPr>
              <a:t>0000000 01110110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</a:t>
            </a:r>
            <a:r>
              <a:rPr lang="zh-CN" altLang="en-US" sz="1600" b="1" dirty="0">
                <a:latin typeface="+mn-ea"/>
                <a:sym typeface="+mn-ea"/>
              </a:rPr>
              <a:t>（</a:t>
            </a:r>
            <a:r>
              <a:rPr lang="en-US" altLang="zh-CN" sz="1600" b="1" dirty="0">
                <a:latin typeface="+mn-ea"/>
                <a:sym typeface="+mn-ea"/>
              </a:rPr>
              <a:t>3</a:t>
            </a:r>
            <a:r>
              <a:rPr lang="zh-CN" altLang="en-US" sz="1600" b="1" dirty="0">
                <a:latin typeface="+mn-ea"/>
                <a:sym typeface="+mn-ea"/>
              </a:rPr>
              <a:t>）绝对值  </a:t>
            </a:r>
            <a:r>
              <a:rPr lang="en-US" altLang="zh-CN" sz="1600" b="1" dirty="0">
                <a:latin typeface="+mn-ea"/>
                <a:sym typeface="+mn-ea"/>
              </a:rPr>
              <a:t>118</a:t>
            </a:r>
            <a:r>
              <a:rPr lang="en-US" altLang="zh-CN" sz="1600" b="1" dirty="0">
                <a:latin typeface="+mn-ea"/>
                <a:sym typeface="+mn-ea"/>
              </a:rPr>
              <a:t>  (</a:t>
            </a:r>
            <a:r>
              <a:rPr lang="zh-CN" altLang="en-US" sz="1600" b="1" dirty="0">
                <a:latin typeface="+mn-ea"/>
                <a:sym typeface="+mn-ea"/>
              </a:rPr>
              <a:t>十进制表示形式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</a:t>
            </a:r>
            <a:r>
              <a:rPr lang="zh-CN" altLang="en-US" sz="1600" b="1" dirty="0">
                <a:latin typeface="+mn-ea"/>
                <a:sym typeface="+mn-ea"/>
              </a:rPr>
              <a:t>（</a:t>
            </a:r>
            <a:r>
              <a:rPr lang="en-US" altLang="zh-CN" sz="1600" b="1" dirty="0">
                <a:latin typeface="+mn-ea"/>
                <a:sym typeface="+mn-ea"/>
              </a:rPr>
              <a:t>4</a:t>
            </a:r>
            <a:r>
              <a:rPr lang="zh-CN" altLang="en-US" sz="1600" b="1" dirty="0">
                <a:latin typeface="+mn-ea"/>
                <a:sym typeface="+mn-ea"/>
              </a:rPr>
              <a:t>）加负号  </a:t>
            </a:r>
            <a:r>
              <a:rPr lang="en-US" altLang="zh-CN" sz="1600" b="1" dirty="0">
                <a:latin typeface="+mn-ea"/>
                <a:sym typeface="+mn-ea"/>
              </a:rPr>
              <a:t>-118</a:t>
            </a:r>
            <a:r>
              <a:rPr lang="en-US" altLang="zh-CN" sz="1600" b="1" dirty="0">
                <a:latin typeface="+mn-ea"/>
                <a:sym typeface="+mn-ea"/>
              </a:rPr>
              <a:t>  (</a:t>
            </a:r>
            <a:r>
              <a:rPr lang="zh-CN" altLang="en-US" sz="1600" b="1" dirty="0">
                <a:latin typeface="+mn-ea"/>
                <a:sym typeface="+mn-ea"/>
              </a:rPr>
              <a:t>十进制表示形式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zh-CN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、给出下列程序段中变量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的值（要综合参考课件</a:t>
            </a:r>
            <a:r>
              <a:rPr lang="en-US" altLang="zh-CN" sz="1600" b="1" dirty="0">
                <a:latin typeface="+mn-ea"/>
              </a:rPr>
              <a:t>P.45-51 </a:t>
            </a:r>
            <a:r>
              <a:rPr lang="zh-CN" altLang="en-US" sz="1600" b="1" dirty="0">
                <a:latin typeface="+mn-ea"/>
              </a:rPr>
              <a:t>和 </a:t>
            </a:r>
            <a:r>
              <a:rPr lang="en-US" altLang="zh-CN" sz="1600" b="1" dirty="0">
                <a:latin typeface="+mn-ea"/>
              </a:rPr>
              <a:t>P.86-89</a:t>
            </a:r>
            <a:r>
              <a:rPr lang="zh-CN" altLang="en-US" sz="1600" b="1" dirty="0">
                <a:latin typeface="+mn-ea"/>
              </a:rPr>
              <a:t>，给出包含整型提升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丢弃的过程）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 err="1">
                <a:latin typeface="+mn-ea"/>
              </a:rPr>
              <a:t>C.short</a:t>
            </a:r>
            <a:r>
              <a:rPr lang="en-US" altLang="zh-CN" sz="1600" b="1" dirty="0">
                <a:latin typeface="+mn-ea"/>
              </a:rPr>
              <a:t> a=-2035;</a:t>
            </a:r>
            <a:endParaRPr lang="zh-CN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int b=a;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Step1: </a:t>
            </a:r>
            <a:r>
              <a:rPr lang="zh-CN" altLang="en-US" sz="1600" b="1" dirty="0">
                <a:latin typeface="+mn-ea"/>
              </a:rPr>
              <a:t>求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的补码</a:t>
            </a:r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1111 1000 0000 1101</a:t>
            </a:r>
            <a:endParaRPr lang="zh-CN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Step2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b=a</a:t>
            </a:r>
            <a:r>
              <a:rPr lang="zh-CN" altLang="en-US" sz="1600" b="1" dirty="0">
                <a:latin typeface="+mn-ea"/>
                <a:sym typeface="+mn-ea"/>
              </a:rPr>
              <a:t>，得</a:t>
            </a:r>
            <a:r>
              <a:rPr lang="en-US" altLang="zh-CN" sz="1600" b="1" dirty="0">
                <a:latin typeface="+mn-ea"/>
                <a:sym typeface="+mn-ea"/>
              </a:rPr>
              <a:t>b</a:t>
            </a:r>
            <a:r>
              <a:rPr lang="zh-CN" altLang="en-US" sz="1600" b="1" dirty="0">
                <a:latin typeface="+mn-ea"/>
                <a:sym typeface="+mn-ea"/>
              </a:rPr>
              <a:t>二进制补码形式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  a =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sym typeface="+mn-ea"/>
              </a:rPr>
              <a:t>11111111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sym typeface="+mn-ea"/>
              </a:rPr>
              <a:t> 11111111</a:t>
            </a:r>
            <a:r>
              <a:rPr lang="en-US" altLang="zh-CN" sz="1600" b="1" dirty="0">
                <a:latin typeface="+mn-ea"/>
                <a:sym typeface="+mn-ea"/>
              </a:rPr>
              <a:t> </a:t>
            </a:r>
            <a:r>
              <a:rPr lang="en-US" altLang="zh-CN" sz="1600" b="1" dirty="0">
                <a:latin typeface="+mn-ea"/>
                <a:sym typeface="+mn-ea"/>
              </a:rPr>
              <a:t>11111000 00001101</a:t>
            </a:r>
            <a:r>
              <a:rPr lang="en-US" altLang="zh-CN" sz="1600" b="1" dirty="0">
                <a:latin typeface="+mn-ea"/>
                <a:sym typeface="+mn-ea"/>
              </a:rPr>
              <a:t>  -&gt; a </a:t>
            </a:r>
            <a:r>
              <a:rPr lang="zh-CN" altLang="en-US" sz="1600" b="1" dirty="0">
                <a:latin typeface="+mn-ea"/>
                <a:sym typeface="+mn-ea"/>
              </a:rPr>
              <a:t>（红色表示整型提升的填充位）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---------------------------------------------------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      11111111 11111111 11111000 00001101  -&gt; a(int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  b</a:t>
            </a:r>
            <a:r>
              <a:rPr lang="zh-CN" altLang="en-US" sz="1600" b="1" dirty="0">
                <a:latin typeface="+mn-ea"/>
                <a:sym typeface="+mn-ea"/>
              </a:rPr>
              <a:t> </a:t>
            </a:r>
            <a:r>
              <a:rPr lang="en-US" altLang="zh-CN" sz="1600" b="1" dirty="0">
                <a:latin typeface="+mn-ea"/>
                <a:sym typeface="+mn-ea"/>
              </a:rPr>
              <a:t>=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sym typeface="+mn-ea"/>
              </a:rPr>
              <a:t>11111111 11111111</a:t>
            </a:r>
            <a:r>
              <a:rPr lang="en-US" altLang="zh-CN" sz="1600" b="1" dirty="0">
                <a:latin typeface="+mn-ea"/>
                <a:sym typeface="+mn-ea"/>
              </a:rPr>
              <a:t> 11111000 00001101  -&gt; b=a(</a:t>
            </a:r>
            <a:r>
              <a:rPr lang="zh-CN" altLang="en-US" sz="1600" b="1" dirty="0">
                <a:latin typeface="+mn-ea"/>
                <a:sym typeface="+mn-ea"/>
              </a:rPr>
              <a:t>二进制补码形式，删除线表示丢弃的位数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Step3</a:t>
            </a:r>
            <a:r>
              <a:rPr lang="zh-CN" altLang="en-US" sz="1600" b="1" dirty="0">
                <a:latin typeface="+mn-ea"/>
                <a:sym typeface="+mn-ea"/>
              </a:rPr>
              <a:t>：求</a:t>
            </a:r>
            <a:r>
              <a:rPr lang="en-US" altLang="zh-CN" sz="1600" b="1" dirty="0">
                <a:latin typeface="+mn-ea"/>
                <a:sym typeface="+mn-ea"/>
              </a:rPr>
              <a:t>b</a:t>
            </a:r>
            <a:r>
              <a:rPr lang="zh-CN" altLang="en-US" sz="1600" b="1" dirty="0">
                <a:latin typeface="+mn-ea"/>
                <a:sym typeface="+mn-ea"/>
              </a:rPr>
              <a:t>的十进制表示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</a:t>
            </a:r>
            <a:r>
              <a:rPr lang="zh-CN" altLang="en-US" sz="1600" b="1" dirty="0">
                <a:latin typeface="+mn-ea"/>
                <a:sym typeface="+mn-ea"/>
              </a:rPr>
              <a:t>（</a:t>
            </a:r>
            <a:r>
              <a:rPr lang="en-US" altLang="zh-CN" sz="1600" b="1" dirty="0">
                <a:latin typeface="+mn-ea"/>
                <a:sym typeface="+mn-ea"/>
              </a:rPr>
              <a:t>1</a:t>
            </a:r>
            <a:r>
              <a:rPr lang="zh-CN" altLang="en-US" sz="1600" b="1" dirty="0">
                <a:latin typeface="+mn-ea"/>
                <a:sym typeface="+mn-ea"/>
              </a:rPr>
              <a:t>）减一    </a:t>
            </a:r>
            <a:r>
              <a:rPr lang="en-US" altLang="zh-CN" sz="1600" b="1" dirty="0">
                <a:latin typeface="+mn-ea"/>
                <a:sym typeface="+mn-ea"/>
              </a:rPr>
              <a:t>11111111 11111111 11111000 00001101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        -) 00000000 00000000 00000000 00000001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       -----------------------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           11111111 11111111 11111000 00001100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</a:t>
            </a:r>
            <a:r>
              <a:rPr lang="zh-CN" altLang="en-US" sz="1600" b="1" dirty="0">
                <a:latin typeface="+mn-ea"/>
                <a:sym typeface="+mn-ea"/>
              </a:rPr>
              <a:t>（</a:t>
            </a:r>
            <a:r>
              <a:rPr lang="en-US" altLang="zh-CN" sz="1600" b="1" dirty="0">
                <a:latin typeface="+mn-ea"/>
                <a:sym typeface="+mn-ea"/>
              </a:rPr>
              <a:t>2</a:t>
            </a:r>
            <a:r>
              <a:rPr lang="zh-CN" altLang="en-US" sz="1600" b="1" dirty="0">
                <a:latin typeface="+mn-ea"/>
                <a:sym typeface="+mn-ea"/>
              </a:rPr>
              <a:t>）取反    </a:t>
            </a:r>
            <a:r>
              <a:rPr lang="en-US" altLang="zh-CN" sz="1600" b="1" dirty="0">
                <a:latin typeface="+mn-ea"/>
                <a:sym typeface="+mn-ea"/>
              </a:rPr>
              <a:t>00000000 00000000 00000111 11110011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</a:t>
            </a:r>
            <a:r>
              <a:rPr lang="zh-CN" altLang="en-US" sz="1600" b="1" dirty="0">
                <a:latin typeface="+mn-ea"/>
                <a:sym typeface="+mn-ea"/>
              </a:rPr>
              <a:t>（</a:t>
            </a:r>
            <a:r>
              <a:rPr lang="en-US" altLang="zh-CN" sz="1600" b="1" dirty="0">
                <a:latin typeface="+mn-ea"/>
                <a:sym typeface="+mn-ea"/>
              </a:rPr>
              <a:t>3</a:t>
            </a:r>
            <a:r>
              <a:rPr lang="zh-CN" altLang="en-US" sz="1600" b="1" dirty="0">
                <a:latin typeface="+mn-ea"/>
                <a:sym typeface="+mn-ea"/>
              </a:rPr>
              <a:t>）绝对值  </a:t>
            </a:r>
            <a:r>
              <a:rPr lang="en-US" altLang="zh-CN" sz="1600" b="1" dirty="0">
                <a:latin typeface="+mn-ea"/>
                <a:sym typeface="+mn-ea"/>
              </a:rPr>
              <a:t>2025</a:t>
            </a:r>
            <a:r>
              <a:rPr lang="en-US" altLang="zh-CN" sz="1600" b="1" dirty="0">
                <a:latin typeface="+mn-ea"/>
                <a:sym typeface="+mn-ea"/>
              </a:rPr>
              <a:t>  (</a:t>
            </a:r>
            <a:r>
              <a:rPr lang="zh-CN" altLang="en-US" sz="1600" b="1" dirty="0">
                <a:latin typeface="+mn-ea"/>
                <a:sym typeface="+mn-ea"/>
              </a:rPr>
              <a:t>十进制表示形式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</a:t>
            </a:r>
            <a:r>
              <a:rPr lang="zh-CN" altLang="en-US" sz="1600" b="1" dirty="0">
                <a:latin typeface="+mn-ea"/>
                <a:sym typeface="+mn-ea"/>
              </a:rPr>
              <a:t>（</a:t>
            </a:r>
            <a:r>
              <a:rPr lang="en-US" altLang="zh-CN" sz="1600" b="1" dirty="0">
                <a:latin typeface="+mn-ea"/>
                <a:sym typeface="+mn-ea"/>
              </a:rPr>
              <a:t>4</a:t>
            </a:r>
            <a:r>
              <a:rPr lang="zh-CN" altLang="en-US" sz="1600" b="1" dirty="0">
                <a:latin typeface="+mn-ea"/>
                <a:sym typeface="+mn-ea"/>
              </a:rPr>
              <a:t>）加负号  </a:t>
            </a:r>
            <a:r>
              <a:rPr lang="en-US" altLang="zh-CN" sz="1600" b="1" dirty="0">
                <a:latin typeface="+mn-ea"/>
                <a:sym typeface="+mn-ea"/>
              </a:rPr>
              <a:t>-2025 (</a:t>
            </a:r>
            <a:r>
              <a:rPr lang="zh-CN" altLang="en-US" sz="1600" b="1" dirty="0">
                <a:latin typeface="+mn-ea"/>
                <a:sym typeface="+mn-ea"/>
              </a:rPr>
              <a:t>十进制表示形式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zh-CN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、给出下列程序段中变量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的值（要综合参考课件</a:t>
            </a:r>
            <a:r>
              <a:rPr lang="en-US" altLang="zh-CN" sz="1600" b="1" dirty="0">
                <a:latin typeface="+mn-ea"/>
              </a:rPr>
              <a:t>P.45-51 </a:t>
            </a:r>
            <a:r>
              <a:rPr lang="zh-CN" altLang="en-US" sz="1600" b="1" dirty="0">
                <a:latin typeface="+mn-ea"/>
              </a:rPr>
              <a:t>和 </a:t>
            </a:r>
            <a:r>
              <a:rPr lang="en-US" altLang="zh-CN" sz="1600" b="1" dirty="0">
                <a:latin typeface="+mn-ea"/>
              </a:rPr>
              <a:t>P.86-89</a:t>
            </a:r>
            <a:r>
              <a:rPr lang="zh-CN" altLang="en-US" sz="1600" b="1" dirty="0">
                <a:latin typeface="+mn-ea"/>
              </a:rPr>
              <a:t>，给出包含整型提升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丢弃的过程）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 err="1">
                <a:latin typeface="+mn-ea"/>
              </a:rPr>
              <a:t>D.unsigned</a:t>
            </a:r>
            <a:r>
              <a:rPr lang="en-US" altLang="zh-CN" sz="1600" b="1" dirty="0">
                <a:latin typeface="+mn-ea"/>
              </a:rPr>
              <a:t> short a=65418;</a:t>
            </a:r>
            <a:endParaRPr lang="zh-CN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long </a:t>
            </a:r>
            <a:r>
              <a:rPr lang="en-US" altLang="zh-CN" sz="1600" b="1" dirty="0" err="1">
                <a:latin typeface="+mn-ea"/>
              </a:rPr>
              <a:t>long</a:t>
            </a:r>
            <a:r>
              <a:rPr lang="en-US" altLang="zh-CN" sz="1600" b="1" dirty="0">
                <a:latin typeface="+mn-ea"/>
              </a:rPr>
              <a:t> int b=a;</a:t>
            </a:r>
            <a:endParaRPr lang="en-US" altLang="zh-CN" sz="1600" b="1" dirty="0">
              <a:latin typeface="+mn-ea"/>
            </a:endParaRPr>
          </a:p>
          <a:p>
            <a:endParaRPr lang="zh-CN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Step1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b=a</a:t>
            </a:r>
            <a:r>
              <a:rPr lang="zh-CN" altLang="en-US" sz="1600" b="1" dirty="0">
                <a:latin typeface="+mn-ea"/>
                <a:sym typeface="+mn-ea"/>
              </a:rPr>
              <a:t>，得</a:t>
            </a:r>
            <a:r>
              <a:rPr lang="en-US" altLang="zh-CN" sz="1600" b="1" dirty="0">
                <a:latin typeface="+mn-ea"/>
                <a:sym typeface="+mn-ea"/>
              </a:rPr>
              <a:t>b</a:t>
            </a:r>
            <a:r>
              <a:rPr lang="zh-CN" altLang="en-US" sz="1600" b="1" dirty="0">
                <a:latin typeface="+mn-ea"/>
                <a:sym typeface="+mn-ea"/>
              </a:rPr>
              <a:t>二进制补码形式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  a =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sym typeface="+mn-ea"/>
              </a:rPr>
              <a:t>00000000 00000000</a:t>
            </a:r>
            <a:r>
              <a:rPr lang="en-US" altLang="zh-CN" sz="1600" b="1" dirty="0">
                <a:latin typeface="+mn-ea"/>
                <a:sym typeface="+mn-ea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sym typeface="+mn-ea"/>
              </a:rPr>
              <a:t>00000000 00000000</a:t>
            </a:r>
            <a:r>
              <a:rPr lang="en-US" altLang="zh-CN" sz="1600" b="1" dirty="0">
                <a:latin typeface="+mn-ea"/>
                <a:sym typeface="+mn-ea"/>
              </a:rPr>
              <a:t> 11111111 10001010  -&gt; a </a:t>
            </a:r>
            <a:r>
              <a:rPr lang="zh-CN" altLang="en-US" sz="1600" b="1" dirty="0">
                <a:latin typeface="+mn-ea"/>
                <a:sym typeface="+mn-ea"/>
              </a:rPr>
              <a:t>（红色表示整型提升的填充位）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---------------------------------------------------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      00000000 00000000 00000000 00000000 11111111 10001010  -&gt; a(long </a:t>
            </a:r>
            <a:r>
              <a:rPr lang="en-US" altLang="zh-CN" sz="1600" b="1" dirty="0">
                <a:latin typeface="+mn-ea"/>
                <a:sym typeface="+mn-ea"/>
              </a:rPr>
              <a:t>long int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  b</a:t>
            </a:r>
            <a:r>
              <a:rPr lang="zh-CN" altLang="en-US" sz="1600" b="1" dirty="0">
                <a:latin typeface="+mn-ea"/>
                <a:sym typeface="+mn-ea"/>
              </a:rPr>
              <a:t> </a:t>
            </a:r>
            <a:r>
              <a:rPr lang="en-US" altLang="zh-CN" sz="1600" b="1" dirty="0">
                <a:latin typeface="+mn-ea"/>
                <a:sym typeface="+mn-ea"/>
              </a:rPr>
              <a:t>= 00000000 00000000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sym typeface="+mn-ea"/>
              </a:rPr>
              <a:t>00000000 00000000</a:t>
            </a:r>
            <a:r>
              <a:rPr lang="en-US" altLang="zh-CN" sz="1600" b="1" dirty="0">
                <a:latin typeface="+mn-ea"/>
                <a:sym typeface="+mn-ea"/>
              </a:rPr>
              <a:t> 11111111 10001010  -&gt; b=a(</a:t>
            </a:r>
            <a:r>
              <a:rPr lang="zh-CN" altLang="en-US" sz="1600" b="1" dirty="0">
                <a:latin typeface="+mn-ea"/>
                <a:sym typeface="+mn-ea"/>
              </a:rPr>
              <a:t>二进制补码形式，删除线表示丢弃的位数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Step2</a:t>
            </a:r>
            <a:r>
              <a:rPr lang="zh-CN" altLang="en-US" sz="1600" b="1" dirty="0">
                <a:latin typeface="+mn-ea"/>
                <a:sym typeface="+mn-ea"/>
              </a:rPr>
              <a:t>：求</a:t>
            </a:r>
            <a:r>
              <a:rPr lang="en-US" altLang="zh-CN" sz="1600" b="1" dirty="0">
                <a:latin typeface="+mn-ea"/>
                <a:sym typeface="+mn-ea"/>
              </a:rPr>
              <a:t>b</a:t>
            </a:r>
            <a:r>
              <a:rPr lang="zh-CN" altLang="en-US" sz="1600" b="1" dirty="0">
                <a:latin typeface="+mn-ea"/>
                <a:sym typeface="+mn-ea"/>
              </a:rPr>
              <a:t>的十进制表示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  b = </a:t>
            </a:r>
            <a:r>
              <a:rPr lang="en-US" altLang="zh-CN" sz="1600" b="1" dirty="0">
                <a:latin typeface="+mn-ea"/>
                <a:sym typeface="+mn-ea"/>
              </a:rPr>
              <a:t>65418</a:t>
            </a:r>
            <a:endParaRPr lang="en-US" altLang="zh-CN" sz="1600" b="1" dirty="0">
              <a:latin typeface="+mn-ea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、给出下列程序段中变量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的值（要综合参考课件</a:t>
            </a:r>
            <a:r>
              <a:rPr lang="en-US" altLang="zh-CN" sz="1600" b="1" dirty="0">
                <a:latin typeface="+mn-ea"/>
              </a:rPr>
              <a:t>P.45-51 </a:t>
            </a:r>
            <a:r>
              <a:rPr lang="zh-CN" altLang="en-US" sz="1600" b="1" dirty="0">
                <a:latin typeface="+mn-ea"/>
              </a:rPr>
              <a:t>和 </a:t>
            </a:r>
            <a:r>
              <a:rPr lang="en-US" altLang="zh-CN" sz="1600" b="1" dirty="0">
                <a:latin typeface="+mn-ea"/>
              </a:rPr>
              <a:t>P.86-89</a:t>
            </a:r>
            <a:r>
              <a:rPr lang="zh-CN" altLang="en-US" sz="1600" b="1" dirty="0">
                <a:latin typeface="+mn-ea"/>
              </a:rPr>
              <a:t>，给出包含整型提升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丢弃的过程）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 err="1">
                <a:latin typeface="+mn-ea"/>
              </a:rPr>
              <a:t>E.long</a:t>
            </a:r>
            <a:r>
              <a:rPr lang="en-US" altLang="zh-CN" sz="1600" b="1" dirty="0">
                <a:latin typeface="+mn-ea"/>
              </a:rPr>
              <a:t> long int a=420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2452757</a:t>
            </a:r>
            <a:r>
              <a:rPr lang="en-US" altLang="zh-CN" sz="1600" b="1" dirty="0">
                <a:latin typeface="+mn-ea"/>
              </a:rPr>
              <a:t>;  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需将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a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的最后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7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位（题中的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1234567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）替换为你的学号，否则本作业分数为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0</a:t>
            </a:r>
            <a:endParaRPr lang="zh-CN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int b=a;</a:t>
            </a:r>
            <a:endParaRPr lang="en-US" altLang="zh-CN" sz="1600" b="1" dirty="0">
              <a:latin typeface="+mn-ea"/>
            </a:endParaRPr>
          </a:p>
          <a:p>
            <a:endParaRPr lang="zh-CN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Step1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b=a</a:t>
            </a:r>
            <a:r>
              <a:rPr lang="zh-CN" altLang="en-US" sz="1600" b="1" dirty="0">
                <a:latin typeface="+mn-ea"/>
                <a:sym typeface="+mn-ea"/>
              </a:rPr>
              <a:t>，得</a:t>
            </a:r>
            <a:r>
              <a:rPr lang="en-US" altLang="zh-CN" sz="1600" b="1" dirty="0">
                <a:latin typeface="+mn-ea"/>
                <a:sym typeface="+mn-ea"/>
              </a:rPr>
              <a:t>b</a:t>
            </a:r>
            <a:r>
              <a:rPr lang="zh-CN" altLang="en-US" sz="1600" b="1" dirty="0">
                <a:latin typeface="+mn-ea"/>
                <a:sym typeface="+mn-ea"/>
              </a:rPr>
              <a:t>二进制补码形式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  a =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sym typeface="+mn-ea"/>
              </a:rPr>
              <a:t>00000000 00000000 </a:t>
            </a:r>
            <a:r>
              <a:rPr lang="en-US" altLang="zh-CN" sz="1600" b="1" dirty="0">
                <a:latin typeface="+mn-ea"/>
                <a:sym typeface="+mn-ea"/>
              </a:rPr>
              <a:t>11111010 01111100 01010111 00010101</a:t>
            </a:r>
            <a:r>
              <a:rPr lang="en-US" altLang="zh-CN" sz="1600" b="1" dirty="0">
                <a:latin typeface="+mn-ea"/>
                <a:sym typeface="+mn-ea"/>
              </a:rPr>
              <a:t>  -&gt; a                      </a:t>
            </a:r>
            <a:endParaRPr lang="en-US" altLang="zh-CN" sz="1600" b="1" dirty="0">
              <a:latin typeface="+mn-ea"/>
              <a:sym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---------------------------------------------------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      00000000 00000000 11111010 01111100 01010111 00010101  -&gt; a(long long int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  b</a:t>
            </a:r>
            <a:r>
              <a:rPr lang="zh-CN" altLang="en-US" sz="1600" b="1" dirty="0">
                <a:latin typeface="+mn-ea"/>
                <a:sym typeface="+mn-ea"/>
              </a:rPr>
              <a:t> </a:t>
            </a:r>
            <a:r>
              <a:rPr lang="en-US" altLang="zh-CN" sz="1600" b="1" dirty="0">
                <a:latin typeface="+mn-ea"/>
                <a:sym typeface="+mn-ea"/>
              </a:rPr>
              <a:t>= </a:t>
            </a:r>
            <a:r>
              <a:rPr lang="en-US" altLang="zh-CN" sz="1600" b="1" strike="sngStrike" dirty="0">
                <a:solidFill>
                  <a:srgbClr val="FF0000"/>
                </a:solidFill>
                <a:latin typeface="+mn-ea"/>
                <a:sym typeface="+mn-ea"/>
              </a:rPr>
              <a:t>00000000 00000000</a:t>
            </a:r>
            <a:r>
              <a:rPr lang="en-US" altLang="zh-CN" sz="1600" b="1" dirty="0">
                <a:latin typeface="+mn-ea"/>
                <a:sym typeface="+mn-ea"/>
              </a:rPr>
              <a:t> 11111010 01111100 01010111 00010101  -&gt; b=a(</a:t>
            </a:r>
            <a:r>
              <a:rPr lang="zh-CN" altLang="en-US" sz="1600" b="1" dirty="0">
                <a:latin typeface="+mn-ea"/>
                <a:sym typeface="+mn-ea"/>
              </a:rPr>
              <a:t>二进制补码形式，删除线表示丢弃的位数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Step3</a:t>
            </a:r>
            <a:r>
              <a:rPr lang="zh-CN" altLang="en-US" sz="1600" b="1" dirty="0">
                <a:latin typeface="+mn-ea"/>
                <a:sym typeface="+mn-ea"/>
              </a:rPr>
              <a:t>：求</a:t>
            </a:r>
            <a:r>
              <a:rPr lang="en-US" altLang="zh-CN" sz="1600" b="1" dirty="0">
                <a:latin typeface="+mn-ea"/>
                <a:sym typeface="+mn-ea"/>
              </a:rPr>
              <a:t>b</a:t>
            </a:r>
            <a:r>
              <a:rPr lang="zh-CN" altLang="en-US" sz="1600" b="1" dirty="0">
                <a:latin typeface="+mn-ea"/>
                <a:sym typeface="+mn-ea"/>
              </a:rPr>
              <a:t>的十进制表示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</a:t>
            </a:r>
            <a:r>
              <a:rPr lang="zh-CN" altLang="en-US" sz="1600" b="1" dirty="0">
                <a:latin typeface="+mn-ea"/>
                <a:sym typeface="+mn-ea"/>
              </a:rPr>
              <a:t>（</a:t>
            </a:r>
            <a:r>
              <a:rPr lang="en-US" altLang="zh-CN" sz="1600" b="1" dirty="0">
                <a:latin typeface="+mn-ea"/>
                <a:sym typeface="+mn-ea"/>
              </a:rPr>
              <a:t>1</a:t>
            </a:r>
            <a:r>
              <a:rPr lang="zh-CN" altLang="en-US" sz="1600" b="1" dirty="0">
                <a:latin typeface="+mn-ea"/>
                <a:sym typeface="+mn-ea"/>
              </a:rPr>
              <a:t>）减一    </a:t>
            </a:r>
            <a:r>
              <a:rPr lang="en-US" altLang="zh-CN" sz="1600" b="1" dirty="0">
                <a:latin typeface="+mn-ea"/>
                <a:sym typeface="+mn-ea"/>
              </a:rPr>
              <a:t>11111010 01111100 01010111 00010101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        -) 00000000 00000000 00000000 00000001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       -----------------------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             11111010 01111100 01010111 00010100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</a:t>
            </a:r>
            <a:r>
              <a:rPr lang="zh-CN" altLang="en-US" sz="1600" b="1" dirty="0">
                <a:latin typeface="+mn-ea"/>
                <a:sym typeface="+mn-ea"/>
              </a:rPr>
              <a:t>（</a:t>
            </a:r>
            <a:r>
              <a:rPr lang="en-US" altLang="zh-CN" sz="1600" b="1" dirty="0">
                <a:latin typeface="+mn-ea"/>
                <a:sym typeface="+mn-ea"/>
              </a:rPr>
              <a:t>2</a:t>
            </a:r>
            <a:r>
              <a:rPr lang="zh-CN" altLang="en-US" sz="1600" b="1" dirty="0">
                <a:latin typeface="+mn-ea"/>
                <a:sym typeface="+mn-ea"/>
              </a:rPr>
              <a:t>）取反    </a:t>
            </a:r>
            <a:r>
              <a:rPr lang="en-US" altLang="zh-CN" sz="1600" b="1" dirty="0">
                <a:latin typeface="+mn-ea"/>
                <a:sym typeface="+mn-ea"/>
              </a:rPr>
              <a:t>00000101 10000011 10101000 11101011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</a:t>
            </a:r>
            <a:r>
              <a:rPr lang="zh-CN" altLang="en-US" sz="1600" b="1" dirty="0">
                <a:latin typeface="+mn-ea"/>
                <a:sym typeface="+mn-ea"/>
              </a:rPr>
              <a:t>（</a:t>
            </a:r>
            <a:r>
              <a:rPr lang="en-US" altLang="zh-CN" sz="1600" b="1" dirty="0">
                <a:latin typeface="+mn-ea"/>
                <a:sym typeface="+mn-ea"/>
              </a:rPr>
              <a:t>3</a:t>
            </a:r>
            <a:r>
              <a:rPr lang="zh-CN" altLang="en-US" sz="1600" b="1" dirty="0">
                <a:latin typeface="+mn-ea"/>
                <a:sym typeface="+mn-ea"/>
              </a:rPr>
              <a:t>）绝对值  </a:t>
            </a:r>
            <a:r>
              <a:rPr lang="en-US" altLang="zh-CN" sz="1600" b="1" dirty="0">
                <a:latin typeface="+mn-ea"/>
                <a:sym typeface="+mn-ea"/>
              </a:rPr>
              <a:t>92,514,539</a:t>
            </a:r>
            <a:r>
              <a:rPr lang="en-US" altLang="zh-CN" sz="1600" b="1" dirty="0">
                <a:latin typeface="+mn-ea"/>
                <a:sym typeface="+mn-ea"/>
              </a:rPr>
              <a:t>  (</a:t>
            </a:r>
            <a:r>
              <a:rPr lang="zh-CN" altLang="en-US" sz="1600" b="1" dirty="0">
                <a:latin typeface="+mn-ea"/>
                <a:sym typeface="+mn-ea"/>
              </a:rPr>
              <a:t>十进制表示形式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 </a:t>
            </a:r>
            <a:r>
              <a:rPr lang="zh-CN" altLang="en-US" sz="1600" b="1" dirty="0">
                <a:latin typeface="+mn-ea"/>
                <a:sym typeface="+mn-ea"/>
              </a:rPr>
              <a:t>（</a:t>
            </a:r>
            <a:r>
              <a:rPr lang="en-US" altLang="zh-CN" sz="1600" b="1" dirty="0">
                <a:latin typeface="+mn-ea"/>
                <a:sym typeface="+mn-ea"/>
              </a:rPr>
              <a:t>4</a:t>
            </a:r>
            <a:r>
              <a:rPr lang="zh-CN" altLang="en-US" sz="1600" b="1" dirty="0">
                <a:latin typeface="+mn-ea"/>
                <a:sym typeface="+mn-ea"/>
              </a:rPr>
              <a:t>）加负号  </a:t>
            </a:r>
            <a:r>
              <a:rPr lang="en-US" altLang="zh-CN" sz="1600" b="1" dirty="0">
                <a:latin typeface="+mn-ea"/>
                <a:sym typeface="+mn-ea"/>
              </a:rPr>
              <a:t>-92,514,539 (</a:t>
            </a:r>
            <a:r>
              <a:rPr lang="zh-CN" altLang="en-US" sz="1600" b="1" dirty="0">
                <a:latin typeface="+mn-ea"/>
                <a:sym typeface="+mn-ea"/>
              </a:rPr>
              <a:t>十进制表示形式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endParaRPr lang="zh-CN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、给出下列程序段中变量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的值（要综合参考课件</a:t>
            </a:r>
            <a:r>
              <a:rPr lang="en-US" altLang="zh-CN" sz="1600" b="1" dirty="0">
                <a:latin typeface="+mn-ea"/>
              </a:rPr>
              <a:t>P.45-51 </a:t>
            </a:r>
            <a:r>
              <a:rPr lang="zh-CN" altLang="en-US" sz="1600" b="1" dirty="0">
                <a:latin typeface="+mn-ea"/>
              </a:rPr>
              <a:t>和 </a:t>
            </a:r>
            <a:r>
              <a:rPr lang="en-US" altLang="zh-CN" sz="1600" b="1" dirty="0">
                <a:latin typeface="+mn-ea"/>
              </a:rPr>
              <a:t>P.86-89</a:t>
            </a:r>
            <a:r>
              <a:rPr lang="zh-CN" altLang="en-US" sz="1600" b="1" dirty="0">
                <a:latin typeface="+mn-ea"/>
              </a:rPr>
              <a:t>，给出包含整型提升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丢弃的过程）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 err="1">
                <a:latin typeface="+mn-ea"/>
              </a:rPr>
              <a:t>F.long</a:t>
            </a:r>
            <a:r>
              <a:rPr lang="en-US" altLang="zh-CN" sz="1600" b="1" dirty="0">
                <a:latin typeface="+mn-ea"/>
              </a:rPr>
              <a:t> a=-420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2452757</a:t>
            </a:r>
            <a:r>
              <a:rPr lang="en-US" altLang="zh-CN" sz="1600" b="1" dirty="0">
                <a:latin typeface="+mn-ea"/>
              </a:rPr>
              <a:t>;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提示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：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需将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a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的最后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7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位（题中的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1234567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）替换为你的学号，否则本作业分数为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0</a:t>
            </a:r>
            <a:endParaRPr lang="zh-CN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unsigned short b=a;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提示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：本题先确定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-4201234567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什么类型，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a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是多少，才能进行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b=a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的计算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endParaRPr lang="zh-CN" altLang="zh-CN" sz="1600" b="1" dirty="0">
              <a:latin typeface="+mn-ea"/>
            </a:endParaRPr>
          </a:p>
          <a:p>
            <a:r>
              <a:rPr lang="zh-CN" altLang="zh-CN" sz="1600" b="1" dirty="0">
                <a:latin typeface="+mn-ea"/>
              </a:rPr>
              <a:t>原码：11111010 01111100 01010111 00010101</a:t>
            </a:r>
            <a:endParaRPr lang="zh-CN" altLang="zh-CN" sz="1600" b="1" dirty="0">
              <a:latin typeface="+mn-ea"/>
            </a:endParaRPr>
          </a:p>
          <a:p>
            <a:r>
              <a:rPr lang="zh-CN" altLang="zh-CN" sz="1600" b="1" dirty="0">
                <a:latin typeface="+mn-ea"/>
              </a:rPr>
              <a:t>补码：</a:t>
            </a:r>
            <a:r>
              <a:rPr lang="en-US" altLang="zh-CN" sz="1600" b="1" dirty="0">
                <a:latin typeface="+mn-ea"/>
              </a:rPr>
              <a:t>0</a:t>
            </a:r>
            <a:r>
              <a:rPr lang="en-US" altLang="zh-CN" sz="1600" b="1" dirty="0">
                <a:latin typeface="+mn-ea"/>
              </a:rPr>
              <a:t>0000101 10000011 10101000 11101011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 = a; 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 = </a:t>
            </a:r>
            <a:r>
              <a:rPr lang="en-US" altLang="zh-CN" sz="1600" b="1" strike="sngStrike" dirty="0">
                <a:solidFill>
                  <a:srgbClr val="FF0000"/>
                </a:solidFill>
                <a:latin typeface="+mn-ea"/>
                <a:sym typeface="+mn-ea"/>
              </a:rPr>
              <a:t>00000101 10000011</a:t>
            </a:r>
            <a:r>
              <a:rPr lang="en-US" altLang="zh-CN" sz="1600" b="1" dirty="0">
                <a:latin typeface="+mn-ea"/>
                <a:sym typeface="+mn-ea"/>
              </a:rPr>
              <a:t> 10101000 11101011</a:t>
            </a:r>
            <a:endParaRPr lang="en-US" altLang="zh-CN" sz="1600" b="1" dirty="0">
              <a:latin typeface="+mn-ea"/>
              <a:sym typeface="+mn-ea"/>
            </a:endParaRPr>
          </a:p>
          <a:p>
            <a:endParaRPr lang="en-US" altLang="zh-CN" sz="1600" b="1" dirty="0">
              <a:latin typeface="+mn-ea"/>
              <a:sym typeface="+mn-ea"/>
            </a:endParaRPr>
          </a:p>
          <a:p>
            <a:r>
              <a:rPr lang="en-US" altLang="zh-CN" sz="1600" b="1" dirty="0">
                <a:latin typeface="+mn-ea"/>
              </a:rPr>
              <a:t>-1 :  10101000 11101010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取反：</a:t>
            </a:r>
            <a:r>
              <a:rPr lang="en-US" altLang="zh-CN" sz="1600" b="1" dirty="0">
                <a:latin typeface="+mn-ea"/>
              </a:rPr>
              <a:t>01010111 00010101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  <a:sym typeface="+mn-ea"/>
              </a:rPr>
              <a:t>绝对值  </a:t>
            </a:r>
            <a:r>
              <a:rPr lang="en-US" altLang="zh-CN" sz="1600" b="1" dirty="0">
                <a:latin typeface="+mn-ea"/>
                <a:sym typeface="+mn-ea"/>
              </a:rPr>
              <a:t>22293</a:t>
            </a:r>
            <a:r>
              <a:rPr lang="en-US" altLang="zh-CN" sz="1600" b="1" dirty="0">
                <a:latin typeface="+mn-ea"/>
                <a:sym typeface="+mn-ea"/>
              </a:rPr>
              <a:t>  (</a:t>
            </a:r>
            <a:r>
              <a:rPr lang="zh-CN" altLang="en-US" sz="1600" b="1" dirty="0">
                <a:latin typeface="+mn-ea"/>
                <a:sym typeface="+mn-ea"/>
              </a:rPr>
              <a:t>十进制表示形式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  <a:sym typeface="+mn-ea"/>
              </a:rPr>
              <a:t>加负号  </a:t>
            </a:r>
            <a:r>
              <a:rPr lang="en-US" altLang="zh-CN" sz="1600" b="1" dirty="0">
                <a:latin typeface="+mn-ea"/>
                <a:sym typeface="+mn-ea"/>
              </a:rPr>
              <a:t>-22293 (</a:t>
            </a:r>
            <a:r>
              <a:rPr lang="zh-CN" altLang="en-US" sz="1600" b="1" dirty="0">
                <a:latin typeface="+mn-ea"/>
                <a:sym typeface="+mn-ea"/>
              </a:rPr>
              <a:t>十进制表示形式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endParaRPr lang="zh-CN" altLang="zh-CN" sz="1600" b="1" dirty="0">
              <a:latin typeface="+mn-ea"/>
            </a:endParaRPr>
          </a:p>
          <a:p>
            <a:endParaRPr lang="zh-CN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.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1 + 2 + 3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表达式一共有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个运算符，因此计算的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个步骤分别是（仿课件</a:t>
            </a:r>
            <a:r>
              <a:rPr lang="en-US" altLang="zh-CN" sz="1600" b="1" dirty="0">
                <a:latin typeface="+mn-ea"/>
              </a:rPr>
              <a:t>P.85</a:t>
            </a:r>
            <a:r>
              <a:rPr lang="zh-CN" altLang="en-US" sz="1600" b="1" dirty="0">
                <a:latin typeface="+mn-ea"/>
              </a:rPr>
              <a:t>，本页不需要画栈，但要有栈思维，下同）：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</a:t>
            </a:r>
            <a:r>
              <a:rPr lang="zh-CN" altLang="zh-CN" sz="1600" b="1" dirty="0">
                <a:latin typeface="+mn-ea"/>
              </a:rPr>
              <a:t>①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1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+</a:t>
            </a:r>
            <a:r>
              <a:rPr lang="en-US" altLang="zh-CN" sz="1600" b="1" dirty="0">
                <a:latin typeface="+mn-ea"/>
              </a:rPr>
              <a:t> 2       =&gt; 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1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步骤②：式</a:t>
            </a:r>
            <a:r>
              <a:rPr lang="en-US" altLang="zh-CN" sz="1600" b="1" dirty="0">
                <a:latin typeface="+mn-ea"/>
              </a:rPr>
              <a:t>1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+</a:t>
            </a:r>
            <a:r>
              <a:rPr lang="en-US" altLang="zh-CN" sz="1600" b="1" dirty="0">
                <a:latin typeface="+mn-ea"/>
              </a:rPr>
              <a:t> 3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8755118" y="604344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.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1 + 2 + 3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目前准备进栈的运算符如箭头所示，画出从该运算符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准备进栈到进栈完成</a:t>
            </a:r>
            <a:r>
              <a:rPr lang="zh-CN" altLang="en-US" sz="1600" b="1" dirty="0">
                <a:latin typeface="+mn-ea"/>
              </a:rPr>
              <a:t>的过程中，当前运算数栈和运算符栈的状态（本页需要画栈，两个栈算一组，最少两组，可能多组，提示：本例是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组，等价于课件</a:t>
            </a:r>
            <a:r>
              <a:rPr lang="en-US" altLang="zh-CN" sz="1600" b="1" dirty="0">
                <a:latin typeface="+mn-ea"/>
              </a:rPr>
              <a:t>P.69~71</a:t>
            </a:r>
            <a:r>
              <a:rPr lang="zh-CN" altLang="en-US" sz="1600" b="1" dirty="0">
                <a:latin typeface="+mn-ea"/>
              </a:rPr>
              <a:t>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8755118" y="604344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Line 15"/>
          <p:cNvSpPr>
            <a:spLocks noChangeShapeType="1"/>
          </p:cNvSpPr>
          <p:nvPr/>
        </p:nvSpPr>
        <p:spPr bwMode="auto">
          <a:xfrm flipV="1">
            <a:off x="1737933" y="1616332"/>
            <a:ext cx="10758" cy="35231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869528" y="3290656"/>
            <a:ext cx="2274833" cy="2376488"/>
            <a:chOff x="869528" y="3290656"/>
            <a:chExt cx="2274833" cy="2376488"/>
          </a:xfrm>
        </p:grpSpPr>
        <p:grpSp>
          <p:nvGrpSpPr>
            <p:cNvPr id="18" name="组合 17"/>
            <p:cNvGrpSpPr/>
            <p:nvPr/>
          </p:nvGrpSpPr>
          <p:grpSpPr>
            <a:xfrm>
              <a:off x="869528" y="3290657"/>
              <a:ext cx="1008064" cy="2376487"/>
              <a:chOff x="1270971" y="3290657"/>
              <a:chExt cx="1008064" cy="2376487"/>
            </a:xfrm>
          </p:grpSpPr>
          <p:grpSp>
            <p:nvGrpSpPr>
              <p:cNvPr id="7" name="Group 4"/>
              <p:cNvGrpSpPr/>
              <p:nvPr/>
            </p:nvGrpSpPr>
            <p:grpSpPr bwMode="auto">
              <a:xfrm>
                <a:off x="1270972" y="3290657"/>
                <a:ext cx="1008063" cy="2376487"/>
                <a:chOff x="1292" y="2205"/>
                <a:chExt cx="635" cy="1497"/>
              </a:xfrm>
            </p:grpSpPr>
            <p:sp>
              <p:nvSpPr>
                <p:cNvPr id="8" name="Line 5"/>
                <p:cNvSpPr>
                  <a:spLocks noChangeShapeType="1"/>
                </p:cNvSpPr>
                <p:nvPr/>
              </p:nvSpPr>
              <p:spPr bwMode="auto">
                <a:xfrm>
                  <a:off x="1292" y="2205"/>
                  <a:ext cx="0" cy="149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" name="Line 6"/>
                <p:cNvSpPr>
                  <a:spLocks noChangeShapeType="1"/>
                </p:cNvSpPr>
                <p:nvPr/>
              </p:nvSpPr>
              <p:spPr bwMode="auto">
                <a:xfrm>
                  <a:off x="1927" y="2205"/>
                  <a:ext cx="0" cy="149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" name="Line 7"/>
                <p:cNvSpPr>
                  <a:spLocks noChangeShapeType="1"/>
                </p:cNvSpPr>
                <p:nvPr/>
              </p:nvSpPr>
              <p:spPr bwMode="auto">
                <a:xfrm>
                  <a:off x="1292" y="3702"/>
                  <a:ext cx="63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5" name="Rectangle 12"/>
              <p:cNvSpPr>
                <a:spLocks noChangeArrowheads="1"/>
              </p:cNvSpPr>
              <p:nvPr/>
            </p:nvSpPr>
            <p:spPr bwMode="auto">
              <a:xfrm>
                <a:off x="1270971" y="5233754"/>
                <a:ext cx="1008063" cy="433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endPara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6" name="Rectangle 13"/>
              <p:cNvSpPr>
                <a:spLocks noChangeArrowheads="1"/>
              </p:cNvSpPr>
              <p:nvPr/>
            </p:nvSpPr>
            <p:spPr bwMode="auto">
              <a:xfrm>
                <a:off x="1270971" y="4800139"/>
                <a:ext cx="1008063" cy="4333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endPara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2136298" y="3290656"/>
              <a:ext cx="1008063" cy="2376487"/>
              <a:chOff x="2783065" y="3290656"/>
              <a:chExt cx="1008063" cy="2376487"/>
            </a:xfrm>
          </p:grpSpPr>
          <p:grpSp>
            <p:nvGrpSpPr>
              <p:cNvPr id="11" name="Group 8"/>
              <p:cNvGrpSpPr/>
              <p:nvPr/>
            </p:nvGrpSpPr>
            <p:grpSpPr bwMode="auto">
              <a:xfrm>
                <a:off x="2783066" y="3290656"/>
                <a:ext cx="1008062" cy="2376487"/>
                <a:chOff x="1292" y="2205"/>
                <a:chExt cx="635" cy="1497"/>
              </a:xfrm>
            </p:grpSpPr>
            <p:sp>
              <p:nvSpPr>
                <p:cNvPr id="12" name="Line 9"/>
                <p:cNvSpPr>
                  <a:spLocks noChangeShapeType="1"/>
                </p:cNvSpPr>
                <p:nvPr/>
              </p:nvSpPr>
              <p:spPr bwMode="auto">
                <a:xfrm>
                  <a:off x="1292" y="2205"/>
                  <a:ext cx="0" cy="149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" name="Line 10"/>
                <p:cNvSpPr>
                  <a:spLocks noChangeShapeType="1"/>
                </p:cNvSpPr>
                <p:nvPr/>
              </p:nvSpPr>
              <p:spPr bwMode="auto">
                <a:xfrm>
                  <a:off x="1927" y="2205"/>
                  <a:ext cx="0" cy="149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" name="Line 11"/>
                <p:cNvSpPr>
                  <a:spLocks noChangeShapeType="1"/>
                </p:cNvSpPr>
                <p:nvPr/>
              </p:nvSpPr>
              <p:spPr bwMode="auto">
                <a:xfrm>
                  <a:off x="1292" y="3702"/>
                  <a:ext cx="63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7" name="Rectangle 14"/>
              <p:cNvSpPr>
                <a:spLocks noChangeArrowheads="1"/>
              </p:cNvSpPr>
              <p:nvPr/>
            </p:nvSpPr>
            <p:spPr bwMode="auto">
              <a:xfrm>
                <a:off x="2783065" y="5233754"/>
                <a:ext cx="1008062" cy="433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8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+</a:t>
                </a:r>
                <a:endParaRPr kumimoji="1" lang="en-US" altLang="zh-CN" sz="28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9" name="箭头: 右 18"/>
          <p:cNvSpPr/>
          <p:nvPr/>
        </p:nvSpPr>
        <p:spPr bwMode="auto">
          <a:xfrm>
            <a:off x="3307003" y="4197973"/>
            <a:ext cx="770860" cy="602166"/>
          </a:xfrm>
          <a:prstGeom prst="rightArrow">
            <a:avLst/>
          </a:prstGeom>
          <a:solidFill>
            <a:srgbClr val="FF0000">
              <a:alpha val="3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4262006" y="3290656"/>
            <a:ext cx="2274833" cy="2376488"/>
            <a:chOff x="4262006" y="3290656"/>
            <a:chExt cx="2274833" cy="2376488"/>
          </a:xfrm>
        </p:grpSpPr>
        <p:grpSp>
          <p:nvGrpSpPr>
            <p:cNvPr id="34" name="组合 33"/>
            <p:cNvGrpSpPr/>
            <p:nvPr/>
          </p:nvGrpSpPr>
          <p:grpSpPr>
            <a:xfrm>
              <a:off x="4262006" y="3290657"/>
              <a:ext cx="1008064" cy="2376487"/>
              <a:chOff x="1270971" y="3290657"/>
              <a:chExt cx="1008064" cy="2376487"/>
            </a:xfrm>
          </p:grpSpPr>
          <p:grpSp>
            <p:nvGrpSpPr>
              <p:cNvPr id="35" name="Group 4"/>
              <p:cNvGrpSpPr/>
              <p:nvPr/>
            </p:nvGrpSpPr>
            <p:grpSpPr bwMode="auto">
              <a:xfrm>
                <a:off x="1270972" y="3290657"/>
                <a:ext cx="1008063" cy="2376487"/>
                <a:chOff x="1292" y="2205"/>
                <a:chExt cx="635" cy="1497"/>
              </a:xfrm>
            </p:grpSpPr>
            <p:sp>
              <p:nvSpPr>
                <p:cNvPr id="38" name="Line 5"/>
                <p:cNvSpPr>
                  <a:spLocks noChangeShapeType="1"/>
                </p:cNvSpPr>
                <p:nvPr/>
              </p:nvSpPr>
              <p:spPr bwMode="auto">
                <a:xfrm>
                  <a:off x="1292" y="2205"/>
                  <a:ext cx="0" cy="149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9" name="Line 6"/>
                <p:cNvSpPr>
                  <a:spLocks noChangeShapeType="1"/>
                </p:cNvSpPr>
                <p:nvPr/>
              </p:nvSpPr>
              <p:spPr bwMode="auto">
                <a:xfrm>
                  <a:off x="1927" y="2205"/>
                  <a:ext cx="0" cy="149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0" name="Line 7"/>
                <p:cNvSpPr>
                  <a:spLocks noChangeShapeType="1"/>
                </p:cNvSpPr>
                <p:nvPr/>
              </p:nvSpPr>
              <p:spPr bwMode="auto">
                <a:xfrm>
                  <a:off x="1292" y="3702"/>
                  <a:ext cx="63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6" name="Rectangle 12"/>
              <p:cNvSpPr>
                <a:spLocks noChangeArrowheads="1"/>
              </p:cNvSpPr>
              <p:nvPr/>
            </p:nvSpPr>
            <p:spPr bwMode="auto">
              <a:xfrm>
                <a:off x="1270971" y="5140418"/>
                <a:ext cx="1008063" cy="5267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1+2</a:t>
                </a:r>
                <a:endPara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或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3</a:t>
                </a:r>
                <a:endPara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2" name="Group 8"/>
            <p:cNvGrpSpPr/>
            <p:nvPr/>
          </p:nvGrpSpPr>
          <p:grpSpPr bwMode="auto">
            <a:xfrm>
              <a:off x="5528777" y="3290656"/>
              <a:ext cx="1008062" cy="2376487"/>
              <a:chOff x="1292" y="2205"/>
              <a:chExt cx="635" cy="1497"/>
            </a:xfrm>
          </p:grpSpPr>
          <p:sp>
            <p:nvSpPr>
              <p:cNvPr id="44" name="Line 9"/>
              <p:cNvSpPr>
                <a:spLocks noChangeShapeType="1"/>
              </p:cNvSpPr>
              <p:nvPr/>
            </p:nvSpPr>
            <p:spPr bwMode="auto">
              <a:xfrm>
                <a:off x="1292" y="2205"/>
                <a:ext cx="0" cy="14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" name="Line 10"/>
              <p:cNvSpPr>
                <a:spLocks noChangeShapeType="1"/>
              </p:cNvSpPr>
              <p:nvPr/>
            </p:nvSpPr>
            <p:spPr bwMode="auto">
              <a:xfrm>
                <a:off x="1927" y="2205"/>
                <a:ext cx="0" cy="14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" name="Line 11"/>
              <p:cNvSpPr>
                <a:spLocks noChangeShapeType="1"/>
              </p:cNvSpPr>
              <p:nvPr/>
            </p:nvSpPr>
            <p:spPr bwMode="auto">
              <a:xfrm>
                <a:off x="1292" y="3702"/>
                <a:ext cx="6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48" name="矩形 47"/>
          <p:cNvSpPr/>
          <p:nvPr/>
        </p:nvSpPr>
        <p:spPr bwMode="auto">
          <a:xfrm>
            <a:off x="869528" y="5857102"/>
            <a:ext cx="2274832" cy="69742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latin typeface="+mn-ea"/>
              </a:rPr>
              <a:t>要进栈的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等于栈顶的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，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latin typeface="+mn-ea"/>
              </a:rPr>
              <a:t>左结合，先计算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50" name="箭头: 右 49"/>
          <p:cNvSpPr/>
          <p:nvPr/>
        </p:nvSpPr>
        <p:spPr bwMode="auto">
          <a:xfrm>
            <a:off x="6825865" y="4197973"/>
            <a:ext cx="770860" cy="602166"/>
          </a:xfrm>
          <a:prstGeom prst="rightArrow">
            <a:avLst/>
          </a:prstGeom>
          <a:solidFill>
            <a:srgbClr val="FF0000">
              <a:alpha val="3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7780868" y="3290656"/>
            <a:ext cx="2274833" cy="2376488"/>
            <a:chOff x="4262006" y="3290656"/>
            <a:chExt cx="2274833" cy="2376488"/>
          </a:xfrm>
        </p:grpSpPr>
        <p:grpSp>
          <p:nvGrpSpPr>
            <p:cNvPr id="52" name="组合 51"/>
            <p:cNvGrpSpPr/>
            <p:nvPr/>
          </p:nvGrpSpPr>
          <p:grpSpPr>
            <a:xfrm>
              <a:off x="4262006" y="3290657"/>
              <a:ext cx="1008064" cy="2376487"/>
              <a:chOff x="1270971" y="3290657"/>
              <a:chExt cx="1008064" cy="2376487"/>
            </a:xfrm>
          </p:grpSpPr>
          <p:grpSp>
            <p:nvGrpSpPr>
              <p:cNvPr id="59" name="Group 4"/>
              <p:cNvGrpSpPr/>
              <p:nvPr/>
            </p:nvGrpSpPr>
            <p:grpSpPr bwMode="auto">
              <a:xfrm>
                <a:off x="1270972" y="3290657"/>
                <a:ext cx="1008063" cy="2376487"/>
                <a:chOff x="1292" y="2205"/>
                <a:chExt cx="635" cy="1497"/>
              </a:xfrm>
            </p:grpSpPr>
            <p:sp>
              <p:nvSpPr>
                <p:cNvPr id="61" name="Line 5"/>
                <p:cNvSpPr>
                  <a:spLocks noChangeShapeType="1"/>
                </p:cNvSpPr>
                <p:nvPr/>
              </p:nvSpPr>
              <p:spPr bwMode="auto">
                <a:xfrm>
                  <a:off x="1292" y="2205"/>
                  <a:ext cx="0" cy="149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2" name="Line 6"/>
                <p:cNvSpPr>
                  <a:spLocks noChangeShapeType="1"/>
                </p:cNvSpPr>
                <p:nvPr/>
              </p:nvSpPr>
              <p:spPr bwMode="auto">
                <a:xfrm>
                  <a:off x="1927" y="2205"/>
                  <a:ext cx="0" cy="149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" name="Line 7"/>
                <p:cNvSpPr>
                  <a:spLocks noChangeShapeType="1"/>
                </p:cNvSpPr>
                <p:nvPr/>
              </p:nvSpPr>
              <p:spPr bwMode="auto">
                <a:xfrm>
                  <a:off x="1292" y="3702"/>
                  <a:ext cx="63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60" name="Rectangle 12"/>
              <p:cNvSpPr>
                <a:spLocks noChangeArrowheads="1"/>
              </p:cNvSpPr>
              <p:nvPr/>
            </p:nvSpPr>
            <p:spPr bwMode="auto">
              <a:xfrm>
                <a:off x="1270971" y="5140418"/>
                <a:ext cx="1008063" cy="5267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1+2</a:t>
                </a:r>
                <a:endPara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或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3</a:t>
                </a:r>
                <a:endPara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5528776" y="3290656"/>
              <a:ext cx="1008063" cy="2376487"/>
              <a:chOff x="2783065" y="3290656"/>
              <a:chExt cx="1008063" cy="2376487"/>
            </a:xfrm>
          </p:grpSpPr>
          <p:grpSp>
            <p:nvGrpSpPr>
              <p:cNvPr id="54" name="Group 8"/>
              <p:cNvGrpSpPr/>
              <p:nvPr/>
            </p:nvGrpSpPr>
            <p:grpSpPr bwMode="auto">
              <a:xfrm>
                <a:off x="2783066" y="3290656"/>
                <a:ext cx="1008062" cy="2376487"/>
                <a:chOff x="1292" y="2205"/>
                <a:chExt cx="635" cy="1497"/>
              </a:xfrm>
            </p:grpSpPr>
            <p:sp>
              <p:nvSpPr>
                <p:cNvPr id="56" name="Line 9"/>
                <p:cNvSpPr>
                  <a:spLocks noChangeShapeType="1"/>
                </p:cNvSpPr>
                <p:nvPr/>
              </p:nvSpPr>
              <p:spPr bwMode="auto">
                <a:xfrm>
                  <a:off x="1292" y="2205"/>
                  <a:ext cx="0" cy="149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7" name="Line 10"/>
                <p:cNvSpPr>
                  <a:spLocks noChangeShapeType="1"/>
                </p:cNvSpPr>
                <p:nvPr/>
              </p:nvSpPr>
              <p:spPr bwMode="auto">
                <a:xfrm>
                  <a:off x="1927" y="2205"/>
                  <a:ext cx="0" cy="149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8" name="Line 11"/>
                <p:cNvSpPr>
                  <a:spLocks noChangeShapeType="1"/>
                </p:cNvSpPr>
                <p:nvPr/>
              </p:nvSpPr>
              <p:spPr bwMode="auto">
                <a:xfrm>
                  <a:off x="1292" y="3702"/>
                  <a:ext cx="63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55" name="Rectangle 14"/>
              <p:cNvSpPr>
                <a:spLocks noChangeArrowheads="1"/>
              </p:cNvSpPr>
              <p:nvPr/>
            </p:nvSpPr>
            <p:spPr bwMode="auto">
              <a:xfrm>
                <a:off x="2783065" y="5233754"/>
                <a:ext cx="1008062" cy="433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8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+</a:t>
                </a:r>
                <a:endParaRPr kumimoji="1" lang="en-US" altLang="zh-CN" sz="28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64" name="矩形 63"/>
          <p:cNvSpPr/>
          <p:nvPr/>
        </p:nvSpPr>
        <p:spPr bwMode="auto">
          <a:xfrm>
            <a:off x="4208501" y="5846915"/>
            <a:ext cx="2274832" cy="69742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latin typeface="+mn-ea"/>
              </a:rPr>
              <a:t>要进栈的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等于栈顶的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，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latin typeface="+mn-ea"/>
              </a:rPr>
              <a:t>左结合，先计算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A.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21 / 2 + 74 % 7 - 2.3 + 3.5 * 27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表达式一共有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个运算符，因此计算的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个步骤分别是（仿课件</a:t>
            </a:r>
            <a:r>
              <a:rPr lang="en-US" altLang="zh-CN" sz="1600" b="1" dirty="0">
                <a:latin typeface="+mn-ea"/>
              </a:rPr>
              <a:t>P.85</a:t>
            </a:r>
            <a:r>
              <a:rPr lang="zh-CN" altLang="en-US" sz="1600" b="1" dirty="0">
                <a:latin typeface="+mn-ea"/>
              </a:rPr>
              <a:t>，本页不需要画栈，但要有栈思维，下同）：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</a:t>
            </a:r>
            <a:r>
              <a:rPr lang="zh-CN" altLang="zh-CN" sz="1600" b="1" dirty="0">
                <a:latin typeface="+mn-ea"/>
              </a:rPr>
              <a:t>①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21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en-US" altLang="zh-CN" sz="1600" b="1" dirty="0">
                <a:latin typeface="+mn-ea"/>
              </a:rPr>
              <a:t> 2 </a:t>
            </a:r>
            <a:r>
              <a:rPr lang="en-US" altLang="zh-CN" sz="1600" b="1" dirty="0">
                <a:latin typeface="+mn-ea"/>
                <a:sym typeface="+mn-ea"/>
              </a:rPr>
              <a:t>=&gt;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1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步骤②：</a:t>
            </a:r>
            <a:r>
              <a:rPr lang="en-US" altLang="zh-CN" sz="1600" b="1" dirty="0">
                <a:latin typeface="+mn-ea"/>
              </a:rPr>
              <a:t>74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%</a:t>
            </a:r>
            <a:r>
              <a:rPr lang="en-US" altLang="zh-CN" sz="1600" b="1" dirty="0">
                <a:latin typeface="+mn-ea"/>
              </a:rPr>
              <a:t> 7 </a:t>
            </a:r>
            <a:r>
              <a:rPr lang="en-US" altLang="zh-CN" sz="1600" b="1" dirty="0">
                <a:latin typeface="+mn-ea"/>
                <a:sym typeface="+mn-ea"/>
              </a:rPr>
              <a:t>=&gt;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2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步骤③：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1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sym typeface="+mn-ea"/>
              </a:rPr>
              <a:t>+</a:t>
            </a:r>
            <a:r>
              <a:rPr lang="en-US" altLang="zh-CN" sz="1600" b="1" dirty="0">
                <a:latin typeface="+mn-ea"/>
                <a:sym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2 =&gt;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3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步骤④：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3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sym typeface="+mn-ea"/>
              </a:rPr>
              <a:t>-</a:t>
            </a:r>
            <a:r>
              <a:rPr lang="en-US" altLang="zh-CN" sz="1600" b="1" dirty="0">
                <a:latin typeface="+mn-ea"/>
                <a:sym typeface="+mn-ea"/>
              </a:rPr>
              <a:t> 2.3 =&gt;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4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步骤⑤：</a:t>
            </a:r>
            <a:r>
              <a:rPr lang="en-US" altLang="zh-CN" sz="1600" b="1" dirty="0">
                <a:latin typeface="+mn-ea"/>
                <a:sym typeface="+mn-ea"/>
              </a:rPr>
              <a:t>3.5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sym typeface="+mn-ea"/>
              </a:rPr>
              <a:t>*</a:t>
            </a:r>
            <a:r>
              <a:rPr lang="en-US" altLang="zh-CN" sz="1600" b="1" dirty="0">
                <a:latin typeface="+mn-ea"/>
                <a:sym typeface="+mn-ea"/>
              </a:rPr>
              <a:t> 27 </a:t>
            </a:r>
            <a:r>
              <a:rPr lang="en-US" altLang="zh-CN" sz="1600" b="1" dirty="0">
                <a:latin typeface="+mn-ea"/>
                <a:sym typeface="+mn-ea"/>
              </a:rPr>
              <a:t>=&gt;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5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步骤⑥：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4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sym typeface="+mn-ea"/>
              </a:rPr>
              <a:t>+</a:t>
            </a:r>
            <a:r>
              <a:rPr lang="en-US" altLang="zh-CN" sz="1600" b="1" dirty="0">
                <a:latin typeface="+mn-ea"/>
                <a:sym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5</a:t>
            </a:r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A.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21 / 2 + 74 % 7 - 2.3 + 3.5 * 27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目前准备进栈的运算符如箭头所示，画出从该运算符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准备进栈到进栈完成</a:t>
            </a:r>
            <a:r>
              <a:rPr lang="zh-CN" altLang="en-US" sz="1600" b="1" dirty="0">
                <a:latin typeface="+mn-ea"/>
              </a:rPr>
              <a:t>的过程中，当前运算数栈和运算符栈的状态（本页需要画栈，两个栈算一组，最少两组，可能多组，每页三组，不够可加页）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Line 15"/>
          <p:cNvSpPr>
            <a:spLocks noChangeShapeType="1"/>
          </p:cNvSpPr>
          <p:nvPr/>
        </p:nvSpPr>
        <p:spPr bwMode="auto">
          <a:xfrm flipV="1">
            <a:off x="1775004" y="1616332"/>
            <a:ext cx="10758" cy="35231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440690" y="3114675"/>
          <a:ext cx="10790555" cy="308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10782300" imgH="3086100" progId="Paint.Picture">
                  <p:embed/>
                </p:oleObj>
              </mc:Choice>
              <mc:Fallback>
                <p:oleObj name="" r:id="rId1" imgW="10782300" imgH="3086100" progId="Paint.Picture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0690" y="3114675"/>
                        <a:ext cx="10790555" cy="3088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A.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21 / 2 + 74 % 7 - 2.3 + 3.5 * 27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目前准备进栈的运算符如箭头所示，画出从该运算符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准备进栈到进栈完成</a:t>
            </a:r>
            <a:r>
              <a:rPr lang="zh-CN" altLang="en-US" sz="1600" b="1" dirty="0">
                <a:latin typeface="+mn-ea"/>
              </a:rPr>
              <a:t>的过程中，当前运算数栈和运算符栈的状态（本页需要画栈，两个栈算一组，最少两组，可能多组，每页三组，不够可加页）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Line 15"/>
          <p:cNvSpPr>
            <a:spLocks noChangeShapeType="1"/>
          </p:cNvSpPr>
          <p:nvPr/>
        </p:nvSpPr>
        <p:spPr bwMode="auto">
          <a:xfrm flipV="1">
            <a:off x="2686756" y="1616332"/>
            <a:ext cx="5174" cy="34793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263525" y="3021330"/>
          <a:ext cx="10904855" cy="3174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10896600" imgH="3171825" progId="Paint.Picture">
                  <p:embed/>
                </p:oleObj>
              </mc:Choice>
              <mc:Fallback>
                <p:oleObj name="" r:id="rId1" imgW="10896600" imgH="3171825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3525" y="3021330"/>
                        <a:ext cx="10904855" cy="31743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A.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21 / 2 + 74 % 7 - 2.3 + 3.5 * 27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目前准备进栈的运算符如箭头所示，画出从该运算符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准备进栈到进栈完成</a:t>
            </a:r>
            <a:r>
              <a:rPr lang="zh-CN" altLang="en-US" sz="1600" b="1" dirty="0">
                <a:latin typeface="+mn-ea"/>
              </a:rPr>
              <a:t>的过程中，当前运算数栈和运算符栈的状态（本页需要画栈，两个栈算一组，最少两组，可能多组，每页三组，不够可加页）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Line 15"/>
          <p:cNvSpPr>
            <a:spLocks noChangeShapeType="1"/>
          </p:cNvSpPr>
          <p:nvPr/>
        </p:nvSpPr>
        <p:spPr bwMode="auto">
          <a:xfrm flipV="1">
            <a:off x="2686756" y="1616332"/>
            <a:ext cx="5174" cy="34793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" name="对象 5"/>
          <p:cNvGraphicFramePr/>
          <p:nvPr/>
        </p:nvGraphicFramePr>
        <p:xfrm>
          <a:off x="434975" y="3333750"/>
          <a:ext cx="10962640" cy="2978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10953750" imgH="2976245" progId="Paint.Picture">
                  <p:embed/>
                </p:oleObj>
              </mc:Choice>
              <mc:Fallback>
                <p:oleObj name="" r:id="rId1" imgW="10953750" imgH="2976245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34975" y="3333750"/>
                        <a:ext cx="10962640" cy="2978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A.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21 / 2 + 74 % 7 - 2.3 + 3.5 * 27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目前准备进栈的运算符如箭头所示，画出从该运算符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准备进栈到进栈完成</a:t>
            </a:r>
            <a:r>
              <a:rPr lang="zh-CN" altLang="en-US" sz="1600" b="1" dirty="0">
                <a:latin typeface="+mn-ea"/>
              </a:rPr>
              <a:t>的过程中，当前运算数栈和运算符栈的状态（本页需要画栈，两个栈算一组，最少两组，可能多组，每页三组，不够可加页）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Line 15"/>
          <p:cNvSpPr>
            <a:spLocks noChangeShapeType="1"/>
          </p:cNvSpPr>
          <p:nvPr/>
        </p:nvSpPr>
        <p:spPr bwMode="auto">
          <a:xfrm flipV="1">
            <a:off x="3939822" y="1605043"/>
            <a:ext cx="5174" cy="34793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348615" y="3246120"/>
          <a:ext cx="10733405" cy="3098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10725150" imgH="3095625" progId="Paint.Picture">
                  <p:embed/>
                </p:oleObj>
              </mc:Choice>
              <mc:Fallback>
                <p:oleObj name="" r:id="rId1" imgW="10725150" imgH="3095625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8615" y="3246120"/>
                        <a:ext cx="10733405" cy="30981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A.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21 / 2 + 74 % 7 - 2.3 + 3.5 * 27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目前准备进栈的运算符如箭头所示，画出从该运算符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准备进栈到进栈完成</a:t>
            </a:r>
            <a:r>
              <a:rPr lang="zh-CN" altLang="en-US" sz="1600" b="1" dirty="0">
                <a:latin typeface="+mn-ea"/>
              </a:rPr>
              <a:t>的过程中，当前运算数栈和运算符栈的状态（本页需要画栈，两个栈算一组，最少两组，可能多组，每页三组，不够可加页）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Line 15"/>
          <p:cNvSpPr>
            <a:spLocks noChangeShapeType="1"/>
          </p:cNvSpPr>
          <p:nvPr/>
        </p:nvSpPr>
        <p:spPr bwMode="auto">
          <a:xfrm flipV="1">
            <a:off x="3939822" y="1605043"/>
            <a:ext cx="5174" cy="34793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" name="对象 5"/>
          <p:cNvGraphicFramePr/>
          <p:nvPr/>
        </p:nvGraphicFramePr>
        <p:xfrm>
          <a:off x="1673860" y="3030855"/>
          <a:ext cx="6882765" cy="308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6877050" imgH="3086100" progId="Paint.Picture">
                  <p:embed/>
                </p:oleObj>
              </mc:Choice>
              <mc:Fallback>
                <p:oleObj name="" r:id="rId1" imgW="6877050" imgH="3086100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73860" y="3030855"/>
                        <a:ext cx="6882765" cy="3088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B. x = 4 * 3 , x = y = 5 * 3   (</a:t>
            </a:r>
            <a:r>
              <a:rPr lang="zh-CN" altLang="en-US" sz="1600" b="1" dirty="0">
                <a:latin typeface="+mn-ea"/>
              </a:rPr>
              <a:t>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表达式一共有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个运算符，因此计算的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个步骤分别是：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</a:t>
            </a:r>
            <a:r>
              <a:rPr lang="zh-CN" altLang="zh-CN" sz="1600" b="1" dirty="0">
                <a:latin typeface="+mn-ea"/>
              </a:rPr>
              <a:t>①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4 * 3 </a:t>
            </a:r>
            <a:r>
              <a:rPr lang="en-US" altLang="zh-CN" sz="1600" b="1" dirty="0">
                <a:latin typeface="+mn-ea"/>
                <a:sym typeface="+mn-ea"/>
              </a:rPr>
              <a:t>=&gt;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1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步骤②：</a:t>
            </a:r>
            <a:r>
              <a:rPr lang="en-US" altLang="zh-CN" sz="1600" b="1" dirty="0">
                <a:latin typeface="+mn-ea"/>
                <a:sym typeface="+mn-ea"/>
              </a:rPr>
              <a:t>x =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1 =&gt;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2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步骤③：</a:t>
            </a:r>
            <a:r>
              <a:rPr lang="en-US" altLang="zh-CN" sz="1600" b="1" dirty="0">
                <a:latin typeface="+mn-ea"/>
                <a:sym typeface="+mn-ea"/>
              </a:rPr>
              <a:t>5 * 3 </a:t>
            </a:r>
            <a:r>
              <a:rPr lang="en-US" altLang="zh-CN" sz="1600" b="1" dirty="0">
                <a:latin typeface="+mn-ea"/>
                <a:sym typeface="+mn-ea"/>
              </a:rPr>
              <a:t>=&gt;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3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步骤④：</a:t>
            </a:r>
            <a:r>
              <a:rPr lang="en-US" altLang="zh-CN" sz="1600" b="1" dirty="0">
                <a:latin typeface="+mn-ea"/>
                <a:sym typeface="+mn-ea"/>
              </a:rPr>
              <a:t>y =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3 =&gt;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4</a:t>
            </a:r>
            <a:endParaRPr lang="en-US" altLang="zh-CN" sz="1600" b="1" dirty="0">
              <a:latin typeface="+mn-ea"/>
              <a:sym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步骤⑤：</a:t>
            </a:r>
            <a:r>
              <a:rPr lang="en-US" altLang="zh-CN" sz="1600" b="1" dirty="0">
                <a:latin typeface="+mn-ea"/>
                <a:sym typeface="+mn-ea"/>
              </a:rPr>
              <a:t>x =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4 =&gt;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5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步骤⑥：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2 ,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5</a:t>
            </a:r>
            <a:endParaRPr lang="en-US" altLang="zh-CN" sz="1600" b="1" dirty="0">
              <a:latin typeface="+mn-ea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B. x = 4 * 3 , x = y = 5 * 3   (</a:t>
            </a:r>
            <a:r>
              <a:rPr lang="zh-CN" altLang="en-US" sz="1600" b="1" dirty="0">
                <a:latin typeface="+mn-ea"/>
              </a:rPr>
              <a:t>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目前准备进栈的运算符如箭头所示，画出从该运算符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准备进栈到进栈完成</a:t>
            </a:r>
            <a:r>
              <a:rPr lang="zh-CN" altLang="en-US" sz="1600" b="1" dirty="0">
                <a:latin typeface="+mn-ea"/>
              </a:rPr>
              <a:t>的过程中，当前运算数栈和运算符栈的状态（本页需要画栈，两个栈算一组，最少两组，可能多组，每页三组，不够可加页）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Line 15"/>
          <p:cNvSpPr>
            <a:spLocks noChangeShapeType="1"/>
          </p:cNvSpPr>
          <p:nvPr/>
        </p:nvSpPr>
        <p:spPr bwMode="auto">
          <a:xfrm flipV="1">
            <a:off x="2054714" y="1659364"/>
            <a:ext cx="10758" cy="35231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826770" y="3186430"/>
          <a:ext cx="10538460" cy="3155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10530205" imgH="3152775" progId="Paint.Picture">
                  <p:embed/>
                </p:oleObj>
              </mc:Choice>
              <mc:Fallback>
                <p:oleObj name="" r:id="rId1" imgW="10530205" imgH="3152775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6770" y="3186430"/>
                        <a:ext cx="10538460" cy="31553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B. x = 4 * 3 , x = y = 5 * 3   (</a:t>
            </a:r>
            <a:r>
              <a:rPr lang="zh-CN" altLang="en-US" sz="1600" b="1" dirty="0">
                <a:latin typeface="+mn-ea"/>
              </a:rPr>
              <a:t>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目前准备进栈的运算符如箭头所示，画出从该运算符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准备进栈到进栈完成</a:t>
            </a:r>
            <a:r>
              <a:rPr lang="zh-CN" altLang="en-US" sz="1600" b="1" dirty="0">
                <a:latin typeface="+mn-ea"/>
              </a:rPr>
              <a:t>的过程中，当前运算数栈和运算符栈的状态（本页需要画栈，两个栈算一组，最少两组，可能多组，每页三组，不够可加页）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Line 15"/>
          <p:cNvSpPr>
            <a:spLocks noChangeShapeType="1"/>
          </p:cNvSpPr>
          <p:nvPr/>
        </p:nvSpPr>
        <p:spPr bwMode="auto">
          <a:xfrm flipV="1">
            <a:off x="2054714" y="1659364"/>
            <a:ext cx="10758" cy="35231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" name="对象 5"/>
          <p:cNvGraphicFramePr/>
          <p:nvPr/>
        </p:nvGraphicFramePr>
        <p:xfrm>
          <a:off x="213043" y="3525203"/>
          <a:ext cx="11610975" cy="3053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11610975" imgH="3053080" progId="Paint.Picture">
                  <p:embed/>
                </p:oleObj>
              </mc:Choice>
              <mc:Fallback>
                <p:oleObj name="" r:id="rId1" imgW="11610975" imgH="3053080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3043" y="3525203"/>
                        <a:ext cx="11610975" cy="3053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B. x = 4 * 3 , x = y = 5 * 3   (</a:t>
            </a:r>
            <a:r>
              <a:rPr lang="zh-CN" altLang="en-US" sz="1600" b="1" dirty="0">
                <a:latin typeface="+mn-ea"/>
              </a:rPr>
              <a:t>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目前已分析到整个表达式的尾部，画出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到表达式求值完成</a:t>
            </a:r>
            <a:r>
              <a:rPr lang="zh-CN" altLang="en-US" sz="1600" b="1" dirty="0">
                <a:latin typeface="+mn-ea"/>
              </a:rPr>
              <a:t>的过程中，当前运算数栈和运算符栈的状态（本页需要画栈，两个栈算一组，最少两组，可能多组，每页三组，不够可加页）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Line 15"/>
          <p:cNvSpPr>
            <a:spLocks noChangeShapeType="1"/>
          </p:cNvSpPr>
          <p:nvPr/>
        </p:nvSpPr>
        <p:spPr bwMode="auto">
          <a:xfrm flipH="1" flipV="1">
            <a:off x="3688483" y="1594816"/>
            <a:ext cx="2983" cy="34687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337820" y="3429000"/>
          <a:ext cx="10962640" cy="3016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10953750" imgH="3014345" progId="Paint.Picture">
                  <p:embed/>
                </p:oleObj>
              </mc:Choice>
              <mc:Fallback>
                <p:oleObj name="" r:id="rId1" imgW="10953750" imgH="3014345" progId="Paint.Picture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7820" y="3429000"/>
                        <a:ext cx="10962640" cy="30168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B. x = 4 * 3 , x = y = 5 * 3   (</a:t>
            </a:r>
            <a:r>
              <a:rPr lang="zh-CN" altLang="en-US" sz="1600" b="1" dirty="0">
                <a:latin typeface="+mn-ea"/>
              </a:rPr>
              <a:t>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目前已分析到整个表达式的尾部，画出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到表达式求值完成</a:t>
            </a:r>
            <a:r>
              <a:rPr lang="zh-CN" altLang="en-US" sz="1600" b="1" dirty="0">
                <a:latin typeface="+mn-ea"/>
              </a:rPr>
              <a:t>的过程中，当前运算数栈和运算符栈的状态（本页需要画栈，两个栈算一组，最少两组，可能多组，每页三组，不够可加页）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Line 15"/>
          <p:cNvSpPr>
            <a:spLocks noChangeShapeType="1"/>
          </p:cNvSpPr>
          <p:nvPr/>
        </p:nvSpPr>
        <p:spPr bwMode="auto">
          <a:xfrm flipH="1" flipV="1">
            <a:off x="3688483" y="1594816"/>
            <a:ext cx="2983" cy="34687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" name="对象 5"/>
          <p:cNvGraphicFramePr/>
          <p:nvPr/>
        </p:nvGraphicFramePr>
        <p:xfrm>
          <a:off x="2101850" y="2670175"/>
          <a:ext cx="2869565" cy="3145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2867025" imgH="3143250" progId="Paint.Picture">
                  <p:embed/>
                </p:oleObj>
              </mc:Choice>
              <mc:Fallback>
                <p:oleObj name="" r:id="rId1" imgW="2867025" imgH="3143250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01850" y="2670175"/>
                        <a:ext cx="2869565" cy="31457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 a</a:t>
            </a:r>
            <a:r>
              <a:rPr lang="pt-BR" altLang="zh-CN" sz="1600" b="1" dirty="0">
                <a:latin typeface="+mn-ea"/>
              </a:rPr>
              <a:t> + (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pt-BR" altLang="zh-CN" sz="1600" b="1" dirty="0">
                <a:latin typeface="+mn-ea"/>
              </a:rPr>
              <a:t> - 3 / (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pt-BR" altLang="zh-CN" sz="1600" b="1" dirty="0">
                <a:latin typeface="+mn-ea"/>
              </a:rPr>
              <a:t> + 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pt-BR" altLang="zh-CN" sz="1600" b="1" dirty="0">
                <a:latin typeface="+mn-ea"/>
              </a:rPr>
              <a:t>) + 5) % 4   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  <a:endParaRPr lang="pt-BR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本题提示：将左右小括号分开处理，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进栈前</a:t>
            </a:r>
            <a:r>
              <a:rPr lang="zh-CN" altLang="en-US" sz="1600" b="1" dirty="0">
                <a:latin typeface="+mn-ea"/>
              </a:rPr>
              <a:t>优先级最高，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进栈后</a:t>
            </a:r>
            <a:r>
              <a:rPr lang="zh-CN" altLang="en-US" sz="1600" b="1" dirty="0">
                <a:latin typeface="+mn-ea"/>
              </a:rPr>
              <a:t>优先级最低；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")"</a:t>
            </a:r>
            <a:r>
              <a:rPr lang="zh-CN" altLang="en-US" sz="1600" b="1" dirty="0">
                <a:latin typeface="+mn-ea"/>
              </a:rPr>
              <a:t>优先级最低，因此要将栈中压在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latin typeface="+mn-ea"/>
              </a:rPr>
              <a:t>之上的全部运算符都计算完成，随后和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latin typeface="+mn-ea"/>
              </a:rPr>
              <a:t>成对消除即可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表达式一共有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10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latin typeface="+mn-ea"/>
              </a:rPr>
              <a:t>个运算符，因此计算的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6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latin typeface="+mn-ea"/>
              </a:rPr>
              <a:t>个步骤分别是（左右括号不算步骤）：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  <a:sym typeface="+mn-ea"/>
              </a:rPr>
              <a:t>步骤</a:t>
            </a:r>
            <a:r>
              <a:rPr lang="zh-CN" altLang="zh-CN" sz="1600" b="1" dirty="0">
                <a:latin typeface="+mn-ea"/>
                <a:sym typeface="+mn-ea"/>
              </a:rPr>
              <a:t>①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b + c =&gt;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1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  <a:sym typeface="+mn-ea"/>
              </a:rPr>
              <a:t>步骤</a:t>
            </a:r>
            <a:r>
              <a:rPr lang="zh-CN" altLang="zh-CN" sz="1600" b="1" dirty="0">
                <a:latin typeface="+mn-ea"/>
                <a:sym typeface="+mn-ea"/>
              </a:rPr>
              <a:t>②</a:t>
            </a:r>
            <a:r>
              <a:rPr lang="en-US" altLang="zh-CN" sz="1600" b="1" dirty="0">
                <a:latin typeface="+mn-ea"/>
                <a:sym typeface="+mn-ea"/>
              </a:rPr>
              <a:t>: </a:t>
            </a:r>
            <a:r>
              <a:rPr lang="pt-BR" altLang="zh-CN" sz="1600" b="1" dirty="0">
                <a:latin typeface="+mn-ea"/>
                <a:sym typeface="+mn-ea"/>
              </a:rPr>
              <a:t>3 /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1</a:t>
            </a:r>
            <a:r>
              <a:rPr lang="en-US" altLang="pt-BR" sz="1600" b="1" dirty="0">
                <a:latin typeface="+mn-ea"/>
                <a:sym typeface="+mn-ea"/>
              </a:rPr>
              <a:t> </a:t>
            </a:r>
            <a:r>
              <a:rPr lang="en-US" altLang="zh-CN" sz="1600" b="1" dirty="0">
                <a:latin typeface="+mn-ea"/>
                <a:sym typeface="+mn-ea"/>
              </a:rPr>
              <a:t>=&gt;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2</a:t>
            </a:r>
            <a:endParaRPr lang="en-US" altLang="zh-CN" sz="1600" b="1" dirty="0">
              <a:latin typeface="+mn-ea"/>
              <a:sym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  <a:sym typeface="+mn-ea"/>
              </a:rPr>
              <a:t>步骤</a:t>
            </a:r>
            <a:r>
              <a:rPr lang="zh-CN" altLang="zh-CN" sz="1600" b="1" dirty="0">
                <a:latin typeface="+mn-ea"/>
                <a:sym typeface="+mn-ea"/>
              </a:rPr>
              <a:t>③</a:t>
            </a:r>
            <a:r>
              <a:rPr lang="en-US" altLang="zh-CN" sz="1600" b="1" dirty="0">
                <a:latin typeface="+mn-ea"/>
                <a:sym typeface="+mn-ea"/>
              </a:rPr>
              <a:t>: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2 % 4 =&gt;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3</a:t>
            </a:r>
            <a:endParaRPr lang="en-US" altLang="zh-CN" sz="1600" b="1" dirty="0">
              <a:latin typeface="+mn-ea"/>
              <a:sym typeface="+mn-ea"/>
            </a:endParaRPr>
          </a:p>
          <a:p>
            <a:endParaRPr lang="zh-CN" altLang="en-US" sz="1600" b="1" dirty="0">
              <a:latin typeface="+mn-ea"/>
              <a:sym typeface="+mn-ea"/>
            </a:endParaRPr>
          </a:p>
          <a:p>
            <a:r>
              <a:rPr lang="zh-CN" altLang="en-US" sz="1600" b="1" dirty="0">
                <a:latin typeface="+mn-ea"/>
                <a:sym typeface="+mn-ea"/>
              </a:rPr>
              <a:t>步骤④</a:t>
            </a:r>
            <a:r>
              <a:rPr lang="en-US" altLang="zh-CN" sz="1600" b="1" dirty="0">
                <a:latin typeface="+mn-ea"/>
                <a:sym typeface="+mn-ea"/>
              </a:rPr>
              <a:t>: b -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3</a:t>
            </a:r>
            <a:r>
              <a:rPr lang="en-US" altLang="pt-BR" sz="1600" b="1" dirty="0">
                <a:latin typeface="+mn-ea"/>
                <a:sym typeface="+mn-ea"/>
              </a:rPr>
              <a:t> </a:t>
            </a:r>
            <a:r>
              <a:rPr lang="en-US" altLang="zh-CN" sz="1600" b="1" dirty="0">
                <a:latin typeface="+mn-ea"/>
                <a:sym typeface="+mn-ea"/>
              </a:rPr>
              <a:t>=&gt;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4</a:t>
            </a:r>
            <a:endParaRPr lang="en-US" altLang="zh-CN" sz="1600" b="1" dirty="0">
              <a:latin typeface="+mn-ea"/>
              <a:sym typeface="+mn-ea"/>
            </a:endParaRPr>
          </a:p>
          <a:p>
            <a:endParaRPr lang="zh-CN" altLang="en-US" sz="1600" b="1" dirty="0">
              <a:latin typeface="+mn-ea"/>
              <a:sym typeface="+mn-ea"/>
            </a:endParaRPr>
          </a:p>
          <a:p>
            <a:r>
              <a:rPr lang="zh-CN" altLang="en-US" sz="1600" b="1" dirty="0">
                <a:latin typeface="+mn-ea"/>
                <a:sym typeface="+mn-ea"/>
              </a:rPr>
              <a:t>步骤⑤</a:t>
            </a:r>
            <a:r>
              <a:rPr lang="en-US" altLang="zh-CN" sz="1600" b="1" dirty="0">
                <a:latin typeface="+mn-ea"/>
                <a:sym typeface="+mn-ea"/>
              </a:rPr>
              <a:t>: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4 *</a:t>
            </a:r>
            <a:r>
              <a:rPr lang="pt-BR" altLang="zh-CN" sz="1600" b="1" dirty="0">
                <a:latin typeface="+mn-ea"/>
                <a:sym typeface="+mn-ea"/>
              </a:rPr>
              <a:t> </a:t>
            </a:r>
            <a:r>
              <a:rPr lang="en-US" altLang="pt-BR" sz="1600" b="1" dirty="0">
                <a:latin typeface="+mn-ea"/>
                <a:sym typeface="+mn-ea"/>
              </a:rPr>
              <a:t>5 </a:t>
            </a:r>
            <a:r>
              <a:rPr lang="en-US" altLang="zh-CN" sz="1600" b="1" dirty="0">
                <a:latin typeface="+mn-ea"/>
                <a:sym typeface="+mn-ea"/>
              </a:rPr>
              <a:t>=&gt;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5</a:t>
            </a:r>
            <a:endParaRPr lang="en-US" altLang="zh-CN" sz="1600" b="1" dirty="0">
              <a:latin typeface="+mn-ea"/>
              <a:sym typeface="+mn-ea"/>
            </a:endParaRPr>
          </a:p>
          <a:p>
            <a:endParaRPr lang="zh-CN" altLang="en-US" sz="1600" b="1" dirty="0">
              <a:latin typeface="+mn-ea"/>
              <a:sym typeface="+mn-ea"/>
            </a:endParaRPr>
          </a:p>
          <a:p>
            <a:r>
              <a:rPr lang="zh-CN" altLang="en-US" sz="1600" b="1" dirty="0">
                <a:latin typeface="+mn-ea"/>
                <a:sym typeface="+mn-ea"/>
              </a:rPr>
              <a:t>步骤⑥</a:t>
            </a:r>
            <a:r>
              <a:rPr lang="en-US" altLang="zh-CN" sz="1600" b="1" dirty="0">
                <a:latin typeface="+mn-ea"/>
                <a:sym typeface="+mn-ea"/>
              </a:rPr>
              <a:t>: a</a:t>
            </a:r>
            <a:r>
              <a:rPr lang="pt-BR" altLang="zh-CN" sz="1600" b="1" dirty="0">
                <a:latin typeface="+mn-ea"/>
                <a:sym typeface="+mn-ea"/>
              </a:rPr>
              <a:t> +</a:t>
            </a:r>
            <a:r>
              <a:rPr lang="en-US" altLang="zh-CN" sz="1600" b="1" dirty="0">
                <a:latin typeface="+mn-ea"/>
                <a:sym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5</a:t>
            </a:r>
            <a:endParaRPr lang="en-US" altLang="zh-CN" sz="1600" b="1" dirty="0">
              <a:latin typeface="+mn-ea"/>
              <a:sym typeface="+mn-ea"/>
            </a:endParaRPr>
          </a:p>
          <a:p>
            <a:endParaRPr lang="en-US" altLang="zh-CN" sz="1600" b="1" dirty="0">
              <a:latin typeface="+mn-ea"/>
              <a:sym typeface="+mn-ea"/>
            </a:endParaRPr>
          </a:p>
          <a:p>
            <a:endParaRPr lang="en-US" altLang="zh-CN" sz="1600" b="1" dirty="0">
              <a:latin typeface="+mn-ea"/>
              <a:sym typeface="+mn-ea"/>
            </a:endParaRPr>
          </a:p>
          <a:p>
            <a:r>
              <a:rPr lang="zh-CN" altLang="en-US" sz="1600" b="1" dirty="0">
                <a:latin typeface="+mn-ea"/>
              </a:rPr>
              <a:t>后面自行添加，主要是对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的理解，本页中一对括号可以当做一个步骤理解，后续画栈时要分开</a:t>
            </a:r>
            <a:endParaRPr lang="zh-CN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 a</a:t>
            </a:r>
            <a:r>
              <a:rPr lang="pt-BR" altLang="zh-CN" sz="1600" b="1" dirty="0">
                <a:latin typeface="+mn-ea"/>
              </a:rPr>
              <a:t> + (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pt-BR" altLang="zh-CN" sz="1600" b="1" dirty="0">
                <a:latin typeface="+mn-ea"/>
              </a:rPr>
              <a:t> - 3 / (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pt-BR" altLang="zh-CN" sz="1600" b="1" dirty="0">
                <a:latin typeface="+mn-ea"/>
              </a:rPr>
              <a:t> + 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pt-BR" altLang="zh-CN" sz="1600" b="1" dirty="0">
                <a:latin typeface="+mn-ea"/>
              </a:rPr>
              <a:t>) + 5) % 4   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  <a:endParaRPr lang="pt-BR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本题提示：将左右小括号分开处理，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进栈前</a:t>
            </a:r>
            <a:r>
              <a:rPr lang="zh-CN" altLang="en-US" sz="1600" b="1" dirty="0">
                <a:latin typeface="+mn-ea"/>
              </a:rPr>
              <a:t>优先级最高，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进栈后</a:t>
            </a:r>
            <a:r>
              <a:rPr lang="zh-CN" altLang="en-US" sz="1600" b="1" dirty="0">
                <a:latin typeface="+mn-ea"/>
              </a:rPr>
              <a:t>优先级最低；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")"</a:t>
            </a:r>
            <a:r>
              <a:rPr lang="zh-CN" altLang="en-US" sz="1600" b="1" dirty="0">
                <a:latin typeface="+mn-ea"/>
              </a:rPr>
              <a:t>优先级最低，因此要将栈中压在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latin typeface="+mn-ea"/>
              </a:rPr>
              <a:t>之上的全部运算符都计算完成，随后和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latin typeface="+mn-ea"/>
              </a:rPr>
              <a:t>成对消除即可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目前准备进栈的运算符如箭头所示，画出从该运算符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准备进栈到进栈完成</a:t>
            </a:r>
            <a:r>
              <a:rPr lang="zh-CN" altLang="en-US" sz="1600" b="1" dirty="0">
                <a:latin typeface="+mn-ea"/>
              </a:rPr>
              <a:t>的过程中，当前运算数栈和运算符栈的状态（本页需要画栈，两个栈算一组，最少两组，可能多组，每页三组，不够可加页）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Line 15"/>
          <p:cNvSpPr>
            <a:spLocks noChangeShapeType="1"/>
          </p:cNvSpPr>
          <p:nvPr/>
        </p:nvSpPr>
        <p:spPr bwMode="auto">
          <a:xfrm>
            <a:off x="2675601" y="1005910"/>
            <a:ext cx="12551" cy="36844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180340" y="3343275"/>
          <a:ext cx="11539220" cy="3250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11530330" imgH="3248025" progId="Paint.Picture">
                  <p:embed/>
                </p:oleObj>
              </mc:Choice>
              <mc:Fallback>
                <p:oleObj name="" r:id="rId1" imgW="11530330" imgH="3248025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0340" y="3343275"/>
                        <a:ext cx="11539220" cy="3250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 a</a:t>
            </a:r>
            <a:r>
              <a:rPr lang="pt-BR" altLang="zh-CN" sz="1600" b="1" dirty="0">
                <a:latin typeface="+mn-ea"/>
              </a:rPr>
              <a:t> + (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pt-BR" altLang="zh-CN" sz="1600" b="1" dirty="0">
                <a:latin typeface="+mn-ea"/>
              </a:rPr>
              <a:t> - 3 / (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pt-BR" altLang="zh-CN" sz="1600" b="1" dirty="0">
                <a:latin typeface="+mn-ea"/>
              </a:rPr>
              <a:t> + 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pt-BR" altLang="zh-CN" sz="1600" b="1" dirty="0">
                <a:latin typeface="+mn-ea"/>
              </a:rPr>
              <a:t>) + 5) % 4   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  <a:endParaRPr lang="pt-BR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本题提示：将左右小括号分开处理，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进栈前</a:t>
            </a:r>
            <a:r>
              <a:rPr lang="zh-CN" altLang="en-US" sz="1600" b="1" dirty="0">
                <a:latin typeface="+mn-ea"/>
              </a:rPr>
              <a:t>优先级最高，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进栈后</a:t>
            </a:r>
            <a:r>
              <a:rPr lang="zh-CN" altLang="en-US" sz="1600" b="1" dirty="0">
                <a:latin typeface="+mn-ea"/>
              </a:rPr>
              <a:t>优先级最低；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")"</a:t>
            </a:r>
            <a:r>
              <a:rPr lang="zh-CN" altLang="en-US" sz="1600" b="1" dirty="0">
                <a:latin typeface="+mn-ea"/>
              </a:rPr>
              <a:t>优先级最低，因此要将栈中压在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latin typeface="+mn-ea"/>
              </a:rPr>
              <a:t>之上的全部运算符都计算完成，随后和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latin typeface="+mn-ea"/>
              </a:rPr>
              <a:t>成对消除即可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目前准备进栈的运算符如箭头所示，画出从该运算符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准备进栈到进栈完成</a:t>
            </a:r>
            <a:r>
              <a:rPr lang="zh-CN" altLang="en-US" sz="1600" b="1" dirty="0">
                <a:latin typeface="+mn-ea"/>
              </a:rPr>
              <a:t>的过程中，当前运算数栈和运算符栈的状态（本页需要画栈，两个栈算一组，最少两组，可能多组，每页三组，不够可加页）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Line 15"/>
          <p:cNvSpPr>
            <a:spLocks noChangeShapeType="1"/>
          </p:cNvSpPr>
          <p:nvPr/>
        </p:nvSpPr>
        <p:spPr bwMode="auto">
          <a:xfrm>
            <a:off x="3488400" y="983332"/>
            <a:ext cx="12551" cy="36844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583565" y="3555365"/>
          <a:ext cx="11024235" cy="2978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11015345" imgH="2976245" progId="Paint.Picture">
                  <p:embed/>
                </p:oleObj>
              </mc:Choice>
              <mc:Fallback>
                <p:oleObj name="" r:id="rId1" imgW="11015345" imgH="2976245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83565" y="3555365"/>
                        <a:ext cx="11024235" cy="2978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 a</a:t>
            </a:r>
            <a:r>
              <a:rPr lang="pt-BR" altLang="zh-CN" sz="1600" b="1" dirty="0">
                <a:latin typeface="+mn-ea"/>
              </a:rPr>
              <a:t> + (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pt-BR" altLang="zh-CN" sz="1600" b="1" dirty="0">
                <a:latin typeface="+mn-ea"/>
              </a:rPr>
              <a:t> - 3 / (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pt-BR" altLang="zh-CN" sz="1600" b="1" dirty="0">
                <a:latin typeface="+mn-ea"/>
              </a:rPr>
              <a:t> + 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pt-BR" altLang="zh-CN" sz="1600" b="1" dirty="0">
                <a:latin typeface="+mn-ea"/>
              </a:rPr>
              <a:t>) + 5) % 4   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  <a:endParaRPr lang="pt-BR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本题提示：将左右小括号分开处理，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进栈前</a:t>
            </a:r>
            <a:r>
              <a:rPr lang="zh-CN" altLang="en-US" sz="1600" b="1" dirty="0">
                <a:latin typeface="+mn-ea"/>
              </a:rPr>
              <a:t>优先级最高，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进栈后</a:t>
            </a:r>
            <a:r>
              <a:rPr lang="zh-CN" altLang="en-US" sz="1600" b="1" dirty="0">
                <a:latin typeface="+mn-ea"/>
              </a:rPr>
              <a:t>优先级最低；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")"</a:t>
            </a:r>
            <a:r>
              <a:rPr lang="zh-CN" altLang="en-US" sz="1600" b="1" dirty="0">
                <a:latin typeface="+mn-ea"/>
              </a:rPr>
              <a:t>优先级最低，因此要将栈中压在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latin typeface="+mn-ea"/>
              </a:rPr>
              <a:t>之上的全部运算符都计算完成，随后和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latin typeface="+mn-ea"/>
              </a:rPr>
              <a:t>成对消除即可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目前已分析到整个表达式的尾部，画出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到表达式求值完成</a:t>
            </a:r>
            <a:r>
              <a:rPr lang="zh-CN" altLang="en-US" sz="1600" b="1" dirty="0">
                <a:latin typeface="+mn-ea"/>
              </a:rPr>
              <a:t>的过程中，当前运算数栈和运算符栈的状态（本页需要画栈，两个栈算一组，最少两组，可能多组，每页三组，不够可加页）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Line 15"/>
          <p:cNvSpPr>
            <a:spLocks noChangeShapeType="1"/>
          </p:cNvSpPr>
          <p:nvPr/>
        </p:nvSpPr>
        <p:spPr bwMode="auto">
          <a:xfrm>
            <a:off x="4087910" y="1016715"/>
            <a:ext cx="12551" cy="36844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591820" y="3367405"/>
          <a:ext cx="6725285" cy="3102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6719570" imgH="3100070" progId="Paint.Picture">
                  <p:embed/>
                </p:oleObj>
              </mc:Choice>
              <mc:Fallback>
                <p:oleObj name="" r:id="rId1" imgW="6719570" imgH="310007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91820" y="3367405"/>
                        <a:ext cx="6725285" cy="3102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、求表达式的值（要求给出计算过程、每步计算结果及数据类型、对应的验证程序及结果截图，示例见下）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2LL - 32L * int(11.7)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+ 2.3f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(1) int(11.7)                       =&gt;   11      int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(2) 32L * int(11.7)                 =&gt;   352     long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(3)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2LL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-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32L * int(11.7)           =&gt;  -350     long </a:t>
            </a:r>
            <a:r>
              <a:rPr lang="en-US" altLang="zh-CN" sz="1600" b="1" dirty="0" err="1">
                <a:latin typeface="+mn-ea"/>
              </a:rPr>
              <a:t>long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(4) 2LL - 32L * int(11.7)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+ 2.3f    =&gt;  -347.7   float</a:t>
            </a:r>
            <a:r>
              <a:rPr lang="zh-CN" altLang="en-US" sz="1600" b="1" dirty="0">
                <a:latin typeface="+mn-ea"/>
              </a:rPr>
              <a:t>型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755118" y="604344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127" y="2946360"/>
            <a:ext cx="9081062" cy="29878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矩形 1"/>
          <p:cNvSpPr/>
          <p:nvPr/>
        </p:nvSpPr>
        <p:spPr bwMode="auto">
          <a:xfrm>
            <a:off x="7290486" y="1890584"/>
            <a:ext cx="3548964" cy="94655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注：回答问题时，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步一定要标清楚，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验证程序不强制，可以验证多步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或最后一步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、求表达式的值（要求给出计算过程、每步计算结果及数据类型、对应的验证程序及结果截图）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A. x = 4 * 3 , x = y = 5 * 3   (</a:t>
            </a:r>
            <a:r>
              <a:rPr lang="zh-CN" altLang="en-US" sz="1600" b="1" dirty="0">
                <a:latin typeface="+mn-ea"/>
              </a:rPr>
              <a:t>写验证程序时，假设所有变量均为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  <a:sym typeface="+mn-ea"/>
              </a:rPr>
              <a:t>步骤</a:t>
            </a:r>
            <a:r>
              <a:rPr lang="zh-CN" altLang="zh-CN" sz="1600" b="1" dirty="0">
                <a:latin typeface="+mn-ea"/>
                <a:sym typeface="+mn-ea"/>
              </a:rPr>
              <a:t>①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4 * 3 </a:t>
            </a:r>
            <a:r>
              <a:rPr lang="en-US" altLang="zh-CN" sz="1600" b="1" dirty="0">
                <a:latin typeface="+mn-ea"/>
                <a:sym typeface="+mn-ea"/>
              </a:rPr>
              <a:t> 				 =&gt; 12(int)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  <a:sym typeface="+mn-ea"/>
              </a:rPr>
              <a:t>步骤②：</a:t>
            </a:r>
            <a:r>
              <a:rPr lang="en-US" altLang="zh-CN" sz="1600" b="1" dirty="0">
                <a:latin typeface="+mn-ea"/>
                <a:sym typeface="+mn-ea"/>
              </a:rPr>
              <a:t>x = 12				 =&gt; 12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  <a:sym typeface="+mn-ea"/>
              </a:rPr>
              <a:t>步骤③：</a:t>
            </a:r>
            <a:r>
              <a:rPr lang="en-US" altLang="zh-CN" sz="1600" b="1" dirty="0">
                <a:latin typeface="+mn-ea"/>
                <a:sym typeface="+mn-ea"/>
              </a:rPr>
              <a:t>5 * 3 =&gt;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3			 =&gt; 15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  <a:sym typeface="+mn-ea"/>
              </a:rPr>
              <a:t>步骤④：</a:t>
            </a:r>
            <a:r>
              <a:rPr lang="en-US" altLang="zh-CN" sz="1600" b="1" dirty="0">
                <a:latin typeface="+mn-ea"/>
                <a:sym typeface="+mn-ea"/>
              </a:rPr>
              <a:t>y =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3 =&gt;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4			 =&gt; 15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  <a:sym typeface="+mn-ea"/>
              </a:rPr>
              <a:t>步骤⑤：</a:t>
            </a:r>
            <a:r>
              <a:rPr lang="en-US" altLang="zh-CN" sz="1600" b="1" dirty="0">
                <a:latin typeface="+mn-ea"/>
                <a:sym typeface="+mn-ea"/>
              </a:rPr>
              <a:t>x =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4 =&gt;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5			 =&gt; 15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  <a:sym typeface="+mn-ea"/>
              </a:rPr>
              <a:t>步骤⑥：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2 ,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5				 =&gt; 15</a:t>
            </a:r>
            <a:endParaRPr lang="en-US" altLang="zh-CN" sz="1600" b="1" dirty="0">
              <a:latin typeface="+mn-ea"/>
              <a:sym typeface="+mn-ea"/>
            </a:endParaRPr>
          </a:p>
          <a:p>
            <a:endParaRPr lang="en-US" altLang="zh-CN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220" y="3641725"/>
            <a:ext cx="4377055" cy="206692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、求表达式的值（要求给出计算过程、每步计算结果及数据类型、对应的验证程序及结果截图）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pt-BR" altLang="zh-CN" sz="1600" b="1" dirty="0">
                <a:latin typeface="+mn-ea"/>
              </a:rPr>
              <a:t>B. 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pt-BR" altLang="zh-CN" sz="1600" b="1" dirty="0">
                <a:latin typeface="+mn-ea"/>
              </a:rPr>
              <a:t> + (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pt-BR" altLang="zh-CN" sz="1600" b="1" dirty="0">
                <a:latin typeface="+mn-ea"/>
              </a:rPr>
              <a:t> - 3 /(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pt-BR" altLang="zh-CN" sz="1600" b="1" dirty="0">
                <a:latin typeface="+mn-ea"/>
              </a:rPr>
              <a:t> + 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pt-BR" altLang="zh-CN" sz="1600" b="1" dirty="0">
                <a:latin typeface="+mn-ea"/>
              </a:rPr>
              <a:t>) </a:t>
            </a:r>
            <a:r>
              <a:rPr lang="en-US" altLang="zh-CN" sz="1600" b="1" dirty="0">
                <a:latin typeface="+mn-ea"/>
              </a:rPr>
              <a:t>%</a:t>
            </a:r>
            <a:r>
              <a:rPr lang="pt-BR" altLang="zh-CN" sz="1600" b="1" dirty="0">
                <a:latin typeface="+mn-ea"/>
              </a:rPr>
              <a:t> 4) * 5   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写验证程序时，假设所有变量均为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型，</a:t>
            </a:r>
            <a:r>
              <a:rPr lang="en-US" altLang="zh-CN" sz="1600" b="1" dirty="0" err="1">
                <a:latin typeface="+mn-ea"/>
              </a:rPr>
              <a:t>abc</a:t>
            </a:r>
            <a:r>
              <a:rPr lang="zh-CN" altLang="en-US" sz="1600" b="1" dirty="0">
                <a:latin typeface="+mn-ea"/>
              </a:rPr>
              <a:t>的值自定义即可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  <a:sym typeface="+mn-ea"/>
              </a:rPr>
              <a:t>步骤</a:t>
            </a:r>
            <a:r>
              <a:rPr lang="zh-CN" altLang="zh-CN" sz="1600" b="1" dirty="0">
                <a:latin typeface="+mn-ea"/>
                <a:sym typeface="+mn-ea"/>
              </a:rPr>
              <a:t>①</a:t>
            </a:r>
            <a:r>
              <a:rPr lang="zh-CN" altLang="en-US" sz="1600" b="1" dirty="0">
                <a:latin typeface="+mn-ea"/>
                <a:sym typeface="+mn-ea"/>
              </a:rPr>
              <a:t>：</a:t>
            </a:r>
            <a:r>
              <a:rPr lang="en-US" altLang="zh-CN" sz="1600" b="1" dirty="0">
                <a:latin typeface="+mn-ea"/>
                <a:sym typeface="+mn-ea"/>
              </a:rPr>
              <a:t>b + c </a:t>
            </a:r>
            <a:r>
              <a:rPr lang="en-US" altLang="zh-CN" sz="1600" b="1" dirty="0">
                <a:latin typeface="+mn-ea"/>
                <a:sym typeface="+mn-ea"/>
              </a:rPr>
              <a:t>=&gt;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1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  <a:sym typeface="+mn-ea"/>
              </a:rPr>
              <a:t>步骤</a:t>
            </a:r>
            <a:r>
              <a:rPr lang="zh-CN" altLang="zh-CN" sz="1600" b="1" dirty="0">
                <a:latin typeface="+mn-ea"/>
                <a:sym typeface="+mn-ea"/>
              </a:rPr>
              <a:t>②</a:t>
            </a:r>
            <a:r>
              <a:rPr lang="en-US" altLang="zh-CN" sz="1600" b="1" dirty="0">
                <a:latin typeface="+mn-ea"/>
                <a:sym typeface="+mn-ea"/>
              </a:rPr>
              <a:t>: </a:t>
            </a:r>
            <a:r>
              <a:rPr lang="pt-BR" altLang="zh-CN" sz="1600" b="1" dirty="0">
                <a:latin typeface="+mn-ea"/>
                <a:sym typeface="+mn-ea"/>
              </a:rPr>
              <a:t>3 /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1</a:t>
            </a:r>
            <a:r>
              <a:rPr lang="en-US" altLang="pt-BR" sz="1600" b="1" dirty="0">
                <a:latin typeface="+mn-ea"/>
                <a:sym typeface="+mn-ea"/>
              </a:rPr>
              <a:t> </a:t>
            </a:r>
            <a:r>
              <a:rPr lang="en-US" altLang="zh-CN" sz="1600" b="1" dirty="0">
                <a:latin typeface="+mn-ea"/>
                <a:sym typeface="+mn-ea"/>
              </a:rPr>
              <a:t>=&gt;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2</a:t>
            </a:r>
            <a:endParaRPr lang="en-US" altLang="zh-CN" sz="1600" b="1" dirty="0">
              <a:latin typeface="+mn-ea"/>
              <a:sym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  <a:sym typeface="+mn-ea"/>
              </a:rPr>
              <a:t>步骤</a:t>
            </a:r>
            <a:r>
              <a:rPr lang="zh-CN" altLang="zh-CN" sz="1600" b="1" dirty="0">
                <a:latin typeface="+mn-ea"/>
                <a:sym typeface="+mn-ea"/>
              </a:rPr>
              <a:t>③</a:t>
            </a:r>
            <a:r>
              <a:rPr lang="en-US" altLang="zh-CN" sz="1600" b="1" dirty="0">
                <a:latin typeface="+mn-ea"/>
                <a:sym typeface="+mn-ea"/>
              </a:rPr>
              <a:t>: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2 % 4 =&gt;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3</a:t>
            </a:r>
            <a:endParaRPr lang="en-US" altLang="zh-CN" sz="1600" b="1" dirty="0">
              <a:latin typeface="+mn-ea"/>
              <a:sym typeface="+mn-ea"/>
            </a:endParaRPr>
          </a:p>
          <a:p>
            <a:endParaRPr lang="zh-CN" altLang="en-US" sz="1600" b="1" dirty="0">
              <a:latin typeface="+mn-ea"/>
              <a:sym typeface="+mn-ea"/>
            </a:endParaRPr>
          </a:p>
          <a:p>
            <a:r>
              <a:rPr lang="zh-CN" altLang="en-US" sz="1600" b="1" dirty="0">
                <a:latin typeface="+mn-ea"/>
                <a:sym typeface="+mn-ea"/>
              </a:rPr>
              <a:t>步骤④</a:t>
            </a:r>
            <a:r>
              <a:rPr lang="en-US" altLang="zh-CN" sz="1600" b="1" dirty="0">
                <a:latin typeface="+mn-ea"/>
                <a:sym typeface="+mn-ea"/>
              </a:rPr>
              <a:t>: b -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3</a:t>
            </a:r>
            <a:r>
              <a:rPr lang="en-US" altLang="pt-BR" sz="1600" b="1" dirty="0">
                <a:latin typeface="+mn-ea"/>
                <a:sym typeface="+mn-ea"/>
              </a:rPr>
              <a:t> </a:t>
            </a:r>
            <a:r>
              <a:rPr lang="en-US" altLang="zh-CN" sz="1600" b="1" dirty="0">
                <a:latin typeface="+mn-ea"/>
                <a:sym typeface="+mn-ea"/>
              </a:rPr>
              <a:t>=&gt;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4</a:t>
            </a:r>
            <a:endParaRPr lang="en-US" altLang="zh-CN" sz="1600" b="1" dirty="0">
              <a:latin typeface="+mn-ea"/>
              <a:sym typeface="+mn-ea"/>
            </a:endParaRPr>
          </a:p>
          <a:p>
            <a:endParaRPr lang="zh-CN" altLang="en-US" sz="1600" b="1" dirty="0">
              <a:latin typeface="+mn-ea"/>
              <a:sym typeface="+mn-ea"/>
            </a:endParaRPr>
          </a:p>
          <a:p>
            <a:r>
              <a:rPr lang="zh-CN" altLang="en-US" sz="1600" b="1" dirty="0">
                <a:latin typeface="+mn-ea"/>
                <a:sym typeface="+mn-ea"/>
              </a:rPr>
              <a:t>步骤⑤</a:t>
            </a:r>
            <a:r>
              <a:rPr lang="en-US" altLang="zh-CN" sz="1600" b="1" dirty="0">
                <a:latin typeface="+mn-ea"/>
                <a:sym typeface="+mn-ea"/>
              </a:rPr>
              <a:t>: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4 *</a:t>
            </a:r>
            <a:r>
              <a:rPr lang="pt-BR" altLang="zh-CN" sz="1600" b="1" dirty="0">
                <a:latin typeface="+mn-ea"/>
                <a:sym typeface="+mn-ea"/>
              </a:rPr>
              <a:t> </a:t>
            </a:r>
            <a:r>
              <a:rPr lang="en-US" altLang="pt-BR" sz="1600" b="1" dirty="0">
                <a:latin typeface="+mn-ea"/>
                <a:sym typeface="+mn-ea"/>
              </a:rPr>
              <a:t>5 </a:t>
            </a:r>
            <a:r>
              <a:rPr lang="en-US" altLang="zh-CN" sz="1600" b="1" dirty="0">
                <a:latin typeface="+mn-ea"/>
                <a:sym typeface="+mn-ea"/>
              </a:rPr>
              <a:t>=&gt;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5</a:t>
            </a:r>
            <a:endParaRPr lang="en-US" altLang="zh-CN" sz="1600" b="1" dirty="0">
              <a:latin typeface="+mn-ea"/>
              <a:sym typeface="+mn-ea"/>
            </a:endParaRPr>
          </a:p>
          <a:p>
            <a:endParaRPr lang="zh-CN" altLang="en-US" sz="1600" b="1" dirty="0">
              <a:latin typeface="+mn-ea"/>
              <a:sym typeface="+mn-ea"/>
            </a:endParaRPr>
          </a:p>
          <a:p>
            <a:r>
              <a:rPr lang="zh-CN" altLang="en-US" sz="1600" b="1" dirty="0">
                <a:latin typeface="+mn-ea"/>
                <a:sym typeface="+mn-ea"/>
              </a:rPr>
              <a:t>步骤⑥</a:t>
            </a:r>
            <a:r>
              <a:rPr lang="en-US" altLang="zh-CN" sz="1600" b="1" dirty="0">
                <a:latin typeface="+mn-ea"/>
                <a:sym typeface="+mn-ea"/>
              </a:rPr>
              <a:t>: a</a:t>
            </a:r>
            <a:r>
              <a:rPr lang="pt-BR" altLang="zh-CN" sz="1600" b="1" dirty="0">
                <a:latin typeface="+mn-ea"/>
                <a:sym typeface="+mn-ea"/>
              </a:rPr>
              <a:t> +</a:t>
            </a:r>
            <a:r>
              <a:rPr lang="en-US" altLang="zh-CN" sz="1600" b="1" dirty="0">
                <a:latin typeface="+mn-ea"/>
                <a:sym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式</a:t>
            </a:r>
            <a:r>
              <a:rPr lang="en-US" altLang="zh-CN" sz="1600" b="1" dirty="0">
                <a:latin typeface="+mn-ea"/>
                <a:sym typeface="+mn-ea"/>
              </a:rPr>
              <a:t>5</a:t>
            </a:r>
            <a:endParaRPr lang="en-US" altLang="zh-CN" sz="1600" b="1" dirty="0">
              <a:latin typeface="+mn-ea"/>
              <a:sym typeface="+mn-ea"/>
            </a:endParaRPr>
          </a:p>
          <a:p>
            <a:endParaRPr lang="en-US" altLang="zh-CN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5585" y="3033395"/>
            <a:ext cx="6348730" cy="18192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、求表达式的值（要求给出计算过程、每步计算结果及数据类型、对应的验证程序及结果截图）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 2.5F * 3LU + 4ULL * 7U - 'W'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(1) 2.5F * 3LU                      =&gt;   7.5     float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(2) 4ULL * 7U	                   =&gt;   28      unsigned int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(3)</a:t>
            </a:r>
            <a:r>
              <a:rPr lang="zh-CN" altLang="en-US" sz="1600" b="1" dirty="0">
                <a:latin typeface="+mn-ea"/>
                <a:sym typeface="+mn-ea"/>
              </a:rPr>
              <a:t> </a:t>
            </a:r>
            <a:r>
              <a:rPr lang="en-US" altLang="zh-CN" sz="1600" b="1" dirty="0">
                <a:latin typeface="+mn-ea"/>
                <a:sym typeface="+mn-ea"/>
              </a:rPr>
              <a:t>2.5F * 3LU + 4ULL * 7U          =&gt;  35.5     float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(4) 2.5F * 3LU + 4ULL * 7U - 'W'    =&gt;  -51.5    float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940" y="3083560"/>
            <a:ext cx="8210550" cy="22529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、求表达式的值（要求给出计算过程、每步计算结果及数据类型、对应的验证程序及结果截图）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D. 2UL % 7 + 23 % 3LL - 2.5F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(1) </a:t>
            </a:r>
            <a:r>
              <a:rPr lang="en-US" altLang="zh-CN" sz="1600" b="1" dirty="0">
                <a:latin typeface="+mn-ea"/>
                <a:sym typeface="+mn-ea"/>
              </a:rPr>
              <a:t>2UL % 7   </a:t>
            </a:r>
            <a:r>
              <a:rPr lang="en-US" altLang="zh-CN" sz="1600" b="1" dirty="0">
                <a:latin typeface="+mn-ea"/>
                <a:sym typeface="+mn-ea"/>
              </a:rPr>
              <a:t>                      =&gt;   2      unsigned int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(2) </a:t>
            </a:r>
            <a:r>
              <a:rPr lang="en-US" altLang="zh-CN" sz="1600" b="1" dirty="0">
                <a:latin typeface="+mn-ea"/>
                <a:sym typeface="+mn-ea"/>
              </a:rPr>
              <a:t>23 % 3LL</a:t>
            </a:r>
            <a:r>
              <a:rPr lang="en-US" altLang="zh-CN" sz="1600" b="1" dirty="0">
                <a:latin typeface="+mn-ea"/>
                <a:sym typeface="+mn-ea"/>
              </a:rPr>
              <a:t>	                   =&gt;   2       int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(3)</a:t>
            </a:r>
            <a:r>
              <a:rPr lang="zh-CN" altLang="en-US" sz="1600" b="1" dirty="0">
                <a:latin typeface="+mn-ea"/>
                <a:sym typeface="+mn-ea"/>
              </a:rPr>
              <a:t> </a:t>
            </a:r>
            <a:r>
              <a:rPr lang="en-US" altLang="zh-CN" sz="1600" b="1" dirty="0">
                <a:latin typeface="+mn-ea"/>
                <a:sym typeface="+mn-ea"/>
              </a:rPr>
              <a:t>2UL % 7 + 23 % 3LL    </a:t>
            </a:r>
            <a:r>
              <a:rPr lang="en-US" altLang="zh-CN" sz="1600" b="1" dirty="0">
                <a:latin typeface="+mn-ea"/>
                <a:sym typeface="+mn-ea"/>
              </a:rPr>
              <a:t>          =&gt;  4        int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(4) </a:t>
            </a:r>
            <a:r>
              <a:rPr lang="en-US" altLang="zh-CN" sz="1600" b="1" dirty="0">
                <a:latin typeface="+mn-ea"/>
                <a:sym typeface="+mn-ea"/>
              </a:rPr>
              <a:t>2UL % 7 + 23 % 3LL - 2.5F   </a:t>
            </a:r>
            <a:r>
              <a:rPr lang="en-US" altLang="zh-CN" sz="1600" b="1" dirty="0">
                <a:latin typeface="+mn-ea"/>
                <a:sym typeface="+mn-ea"/>
              </a:rPr>
              <a:t>    =&gt; 1.5     float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285" y="3191510"/>
            <a:ext cx="7800975" cy="221488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、求表达式的值（要求给出计算过程、每步计算结果及数据类型、对应的验证程序及结果截图）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E. 3.2 + 13 % 7 * </a:t>
            </a:r>
            <a:r>
              <a:rPr lang="en-US" altLang="zh-CN" sz="1600" b="1" dirty="0" err="1">
                <a:latin typeface="+mn-ea"/>
              </a:rPr>
              <a:t>static_cast</a:t>
            </a:r>
            <a:r>
              <a:rPr lang="en-US" altLang="zh-CN" sz="1600" b="1" dirty="0">
                <a:latin typeface="+mn-ea"/>
              </a:rPr>
              <a:t>&lt;unsigned long&gt;(2.8F * 7LL) % 2 * 3.2F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(1) </a:t>
            </a:r>
            <a:r>
              <a:rPr lang="en-US" altLang="zh-CN" sz="1600" b="1" dirty="0">
                <a:latin typeface="+mn-ea"/>
                <a:sym typeface="+mn-ea"/>
              </a:rPr>
              <a:t>2.8F * 7LL</a:t>
            </a:r>
            <a:r>
              <a:rPr lang="en-US" altLang="zh-CN" sz="1600" b="1" dirty="0">
                <a:latin typeface="+mn-ea"/>
                <a:sym typeface="+mn-ea"/>
              </a:rPr>
              <a:t>                                                 =&gt;   19.6      float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(2) </a:t>
            </a:r>
            <a:r>
              <a:rPr lang="en-US" altLang="zh-CN" sz="1600" b="1" dirty="0" err="1">
                <a:latin typeface="+mn-ea"/>
                <a:sym typeface="+mn-ea"/>
              </a:rPr>
              <a:t>static_cast</a:t>
            </a:r>
            <a:r>
              <a:rPr lang="en-US" altLang="zh-CN" sz="1600" b="1" dirty="0">
                <a:latin typeface="+mn-ea"/>
                <a:sym typeface="+mn-ea"/>
              </a:rPr>
              <a:t>&lt;unsigned long&gt;(2.8F * 7LL)</a:t>
            </a:r>
            <a:r>
              <a:rPr lang="en-US" altLang="zh-CN" sz="1600" b="1" dirty="0">
                <a:latin typeface="+mn-ea"/>
                <a:sym typeface="+mn-ea"/>
              </a:rPr>
              <a:t>	                    =&gt;   19       </a:t>
            </a:r>
            <a:r>
              <a:rPr lang="en-US" altLang="zh-CN" sz="1600" b="1" dirty="0">
                <a:latin typeface="+mn-ea"/>
                <a:sym typeface="+mn-ea"/>
              </a:rPr>
              <a:t>unsigned long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(3)</a:t>
            </a:r>
            <a:r>
              <a:rPr lang="zh-CN" altLang="en-US" sz="1600" b="1" dirty="0">
                <a:latin typeface="+mn-ea"/>
                <a:sym typeface="+mn-ea"/>
              </a:rPr>
              <a:t> </a:t>
            </a:r>
            <a:r>
              <a:rPr lang="en-US" altLang="zh-CN" sz="1600" b="1" dirty="0">
                <a:latin typeface="+mn-ea"/>
                <a:sym typeface="+mn-ea"/>
              </a:rPr>
              <a:t>13 % 7            </a:t>
            </a:r>
            <a:r>
              <a:rPr lang="en-US" altLang="zh-CN" sz="1600" b="1" dirty="0">
                <a:latin typeface="+mn-ea"/>
                <a:sym typeface="+mn-ea"/>
              </a:rPr>
              <a:t>                                         =&gt;  6        int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(4) 13 % 7 * </a:t>
            </a:r>
            <a:r>
              <a:rPr lang="en-US" altLang="zh-CN" sz="1600" b="1" dirty="0" err="1">
                <a:latin typeface="+mn-ea"/>
                <a:sym typeface="+mn-ea"/>
              </a:rPr>
              <a:t>static_cast</a:t>
            </a:r>
            <a:r>
              <a:rPr lang="en-US" altLang="zh-CN" sz="1600" b="1" dirty="0">
                <a:latin typeface="+mn-ea"/>
                <a:sym typeface="+mn-ea"/>
              </a:rPr>
              <a:t>&lt;unsigned long&gt;(2.8F * 7LL)            =&gt; 114     unsigned long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(5) 13 % 7 * </a:t>
            </a:r>
            <a:r>
              <a:rPr lang="en-US" altLang="zh-CN" sz="1600" b="1" dirty="0" err="1">
                <a:latin typeface="+mn-ea"/>
                <a:sym typeface="+mn-ea"/>
              </a:rPr>
              <a:t>static_cast</a:t>
            </a:r>
            <a:r>
              <a:rPr lang="en-US" altLang="zh-CN" sz="1600" b="1" dirty="0">
                <a:latin typeface="+mn-ea"/>
                <a:sym typeface="+mn-ea"/>
              </a:rPr>
              <a:t>&lt;unsigned long&gt;(2.8F * 7LL) </a:t>
            </a:r>
            <a:r>
              <a:rPr lang="en-US" altLang="zh-CN" sz="1600" b="1" dirty="0">
                <a:latin typeface="+mn-ea"/>
                <a:sym typeface="+mn-ea"/>
              </a:rPr>
              <a:t>% 2</a:t>
            </a:r>
            <a:r>
              <a:rPr lang="en-US" altLang="zh-CN" sz="1600" b="1" dirty="0">
                <a:latin typeface="+mn-ea"/>
                <a:sym typeface="+mn-ea"/>
              </a:rPr>
              <a:t>            =&gt; 0     unsigned long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(6) 13 % 7 * </a:t>
            </a:r>
            <a:r>
              <a:rPr lang="en-US" altLang="zh-CN" sz="1600" b="1" dirty="0" err="1">
                <a:latin typeface="+mn-ea"/>
                <a:sym typeface="+mn-ea"/>
              </a:rPr>
              <a:t>static_cast</a:t>
            </a:r>
            <a:r>
              <a:rPr lang="en-US" altLang="zh-CN" sz="1600" b="1" dirty="0">
                <a:latin typeface="+mn-ea"/>
                <a:sym typeface="+mn-ea"/>
              </a:rPr>
              <a:t>&lt;unsigned long&gt;.3(2.8F * 7LL) </a:t>
            </a:r>
            <a:r>
              <a:rPr lang="en-US" altLang="zh-CN" sz="1600" b="1" dirty="0">
                <a:latin typeface="+mn-ea"/>
                <a:sym typeface="+mn-ea"/>
              </a:rPr>
              <a:t>% 2 * 3.2F</a:t>
            </a:r>
            <a:r>
              <a:rPr lang="en-US" altLang="zh-CN" sz="1600" b="1" dirty="0">
                <a:latin typeface="+mn-ea"/>
                <a:sym typeface="+mn-ea"/>
              </a:rPr>
              <a:t>  =&gt; 0     float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  <a:sym typeface="+mn-ea"/>
              </a:rPr>
              <a:t>(7) </a:t>
            </a:r>
            <a:r>
              <a:rPr lang="en-US" altLang="zh-CN" sz="1600" b="1" dirty="0">
                <a:latin typeface="+mn-ea"/>
                <a:sym typeface="+mn-ea"/>
              </a:rPr>
              <a:t>3.2 + 13 % 7 * </a:t>
            </a:r>
            <a:r>
              <a:rPr lang="en-US" altLang="zh-CN" sz="1600" b="1" dirty="0" err="1">
                <a:latin typeface="+mn-ea"/>
                <a:sym typeface="+mn-ea"/>
              </a:rPr>
              <a:t>static_cast</a:t>
            </a:r>
            <a:r>
              <a:rPr lang="en-US" altLang="zh-CN" sz="1600" b="1" dirty="0">
                <a:latin typeface="+mn-ea"/>
                <a:sym typeface="+mn-ea"/>
              </a:rPr>
              <a:t>&lt;unsigned long&gt;(2.8F * 7LL) % 2 * 3.2F  </a:t>
            </a:r>
            <a:r>
              <a:rPr lang="en-US" altLang="zh-CN" sz="1600" b="1" dirty="0">
                <a:latin typeface="+mn-ea"/>
                <a:sym typeface="+mn-ea"/>
              </a:rPr>
              <a:t>=&gt; 3.2     double</a:t>
            </a:r>
            <a:r>
              <a:rPr lang="zh-CN" altLang="en-US" sz="1600" b="1" dirty="0">
                <a:latin typeface="+mn-ea"/>
                <a:sym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050" y="3933825"/>
            <a:ext cx="11187430" cy="255778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、求表达式的值（要求给出计算过程、每步计算结果及数据类型、对应的验证程序及结果截图）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F. long(2.8F + 3.3) * 2 + (int)1.9 % 7U - 'p' * 2UL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1. 2.8F + 3.3 = 6.1，double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2. long(6.1) * 2 = 6 * 2 = 12，long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3. (int)1.9 % 7U = 1 % 7U = 1，unsigned int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4. 'p' * 2UL = 112 * 2UL = 224UL，unsigned long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5. 12 + 1 - 224 = 4294967085，</a:t>
            </a:r>
            <a:r>
              <a:rPr lang="en-US" altLang="zh-CN" sz="1600" b="1" dirty="0">
                <a:latin typeface="+mn-ea"/>
                <a:sym typeface="+mn-ea"/>
              </a:rPr>
              <a:t>unsigned </a:t>
            </a:r>
            <a:r>
              <a:rPr lang="en-US" altLang="zh-CN" sz="1600" b="1" dirty="0">
                <a:latin typeface="+mn-ea"/>
              </a:rPr>
              <a:t>long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190" y="3199130"/>
            <a:ext cx="8924925" cy="285305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、求复合赋值表达式的值（要求给出计算过程、每步计算结果中变量的值、对应的验证程序及结果截图，示例见下）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假设</a:t>
            </a:r>
            <a:r>
              <a:rPr lang="en-US" altLang="zh-CN" sz="1600" b="1" dirty="0">
                <a:latin typeface="+mn-ea"/>
              </a:rPr>
              <a:t>int a = 5, n = 12;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a += n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=&gt; a = a + n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(1) a + n      a=5  n=12  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17</a:t>
            </a:r>
            <a:r>
              <a:rPr lang="zh-CN" altLang="en-US" sz="1600" b="1" dirty="0">
                <a:latin typeface="+mn-ea"/>
              </a:rPr>
              <a:t>存放在中间变量中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(2) a = </a:t>
            </a:r>
            <a:r>
              <a:rPr lang="zh-CN" altLang="en-US" sz="1600" b="1" dirty="0">
                <a:latin typeface="+mn-ea"/>
              </a:rPr>
              <a:t>和     </a:t>
            </a:r>
            <a:r>
              <a:rPr lang="en-US" altLang="zh-CN" sz="1600" b="1" dirty="0">
                <a:latin typeface="+mn-ea"/>
              </a:rPr>
              <a:t>a=17 n=12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755118" y="604344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123" y="2717750"/>
            <a:ext cx="7742857" cy="27047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、求复合赋值表达式的值（要求给出计算过程、每步计算结果及数据类型、对应的验证程序及结果截图，具体见下）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假设</a:t>
            </a:r>
            <a:r>
              <a:rPr lang="en-US" altLang="zh-CN" sz="1600" b="1" dirty="0">
                <a:latin typeface="+mn-ea"/>
              </a:rPr>
              <a:t>int a = 3, n = 7;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</a:t>
            </a:r>
            <a:r>
              <a:rPr lang="pt-BR" altLang="zh-CN" sz="1600" b="1" dirty="0">
                <a:latin typeface="+mn-ea"/>
              </a:rPr>
              <a:t>. a +</a:t>
            </a:r>
            <a:r>
              <a:rPr lang="en-US" altLang="zh-CN" sz="1600" b="1" dirty="0">
                <a:latin typeface="+mn-ea"/>
              </a:rPr>
              <a:t>=</a:t>
            </a:r>
            <a:r>
              <a:rPr lang="pt-BR" altLang="zh-CN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a - n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 += -4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835" y="2708275"/>
            <a:ext cx="46101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、求复合赋值表达式的值（要求给出计算过程、每步计算结果及数据类型、对应的验证程序及结果截图，具体见下）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假设</a:t>
            </a:r>
            <a:r>
              <a:rPr lang="en-US" altLang="zh-CN" sz="1600" b="1" dirty="0">
                <a:latin typeface="+mn-ea"/>
              </a:rPr>
              <a:t>int a = 3, n = 7;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B. n -= a += 5;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 += 5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n -= a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953385"/>
            <a:ext cx="4586605" cy="242443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、求复合赋值表达式的值（要求给出计算过程、每步计算结果及数据类型、对应的验证程序及结果截图，具体见下）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假设</a:t>
            </a:r>
            <a:r>
              <a:rPr lang="en-US" altLang="zh-CN" sz="1600" b="1" dirty="0">
                <a:latin typeface="+mn-ea"/>
              </a:rPr>
              <a:t>int a = 3, n = 7;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 a += a *= a -= a;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 -= a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 *= a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 += a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645" y="2967355"/>
            <a:ext cx="5177155" cy="266255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>
                <a:latin typeface="+mn-ea"/>
              </a:rPr>
              <a:t>4</a:t>
            </a:r>
            <a:r>
              <a:rPr lang="zh-CN" altLang="en-US" sz="1600" b="1">
                <a:latin typeface="+mn-ea"/>
              </a:rPr>
              <a:t>、</a:t>
            </a:r>
            <a:r>
              <a:rPr lang="zh-CN" altLang="en-US" sz="1600" b="1" dirty="0">
                <a:latin typeface="+mn-ea"/>
              </a:rPr>
              <a:t>求复合赋值表达式的值（要求给出计算过程、每步计算结果及数据类型、对应的验证程序及结果截图，具体见下）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假设</a:t>
            </a:r>
            <a:r>
              <a:rPr lang="en-US" altLang="zh-CN" sz="1600" b="1" dirty="0">
                <a:latin typeface="+mn-ea"/>
              </a:rPr>
              <a:t>int a = 8, n = 13;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D. n %= a %= 4  </a:t>
            </a:r>
            <a:r>
              <a:rPr lang="zh-CN" altLang="en-US" sz="1600" b="1" dirty="0">
                <a:latin typeface="+mn-ea"/>
              </a:rPr>
              <a:t>本题需要解释，为什么编译不报错，但运行无输出、返回代码为负值、且运行时间比</a:t>
            </a:r>
            <a:r>
              <a:rPr lang="en-US" altLang="zh-CN" sz="1600" b="1" dirty="0">
                <a:latin typeface="+mn-ea"/>
              </a:rPr>
              <a:t>7.ABC</a:t>
            </a:r>
            <a:r>
              <a:rPr lang="zh-CN" altLang="en-US" sz="1600" b="1" dirty="0">
                <a:latin typeface="+mn-ea"/>
              </a:rPr>
              <a:t>长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（无法理解或说清楚原因的，给出合理猜测也可）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 %= 4 == 0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所以</a:t>
            </a:r>
            <a:r>
              <a:rPr lang="zh-CN" altLang="en-US" sz="1600" b="1" dirty="0">
                <a:latin typeface="+mn-ea"/>
              </a:rPr>
              <a:t>无输出</a:t>
            </a:r>
            <a:endParaRPr lang="zh-CN" altLang="en-US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3700" y="3362325"/>
            <a:ext cx="7905750" cy="31718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11409</Words>
  <Application>WPS 演示</Application>
  <PresentationFormat>宽屏</PresentationFormat>
  <Paragraphs>527</Paragraphs>
  <Slides>39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12</vt:i4>
      </vt:variant>
      <vt:variant>
        <vt:lpstr>幻灯片标题</vt:lpstr>
      </vt:variant>
      <vt:variant>
        <vt:i4>39</vt:i4>
      </vt:variant>
    </vt:vector>
  </HeadingPairs>
  <TitlesOfParts>
    <vt:vector size="60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1_默认设计模板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wps</cp:lastModifiedBy>
  <cp:revision>171</cp:revision>
  <dcterms:created xsi:type="dcterms:W3CDTF">2020-08-13T13:39:00Z</dcterms:created>
  <dcterms:modified xsi:type="dcterms:W3CDTF">2025-03-09T08:03:18Z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ABB2AC32B9E14B8DB8C42CDA513CF212_12</vt:lpwstr>
  </property>
  <property fmtid="{D5CDD505-2E9C-101B-9397-08002B2CF9AE}" pid="3" name="KSOProductBuildVer">
    <vt:lpwstr>2052-12.8.2.15091</vt:lpwstr>
  </property>
</Properties>
</file>