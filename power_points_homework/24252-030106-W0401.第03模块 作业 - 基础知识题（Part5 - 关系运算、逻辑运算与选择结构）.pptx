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6" r:id="rId5"/>
    <p:sldId id="1278" r:id="rId6"/>
    <p:sldId id="1230" r:id="rId7"/>
    <p:sldId id="492" r:id="rId8"/>
    <p:sldId id="1238" r:id="rId9"/>
    <p:sldId id="1251" r:id="rId10"/>
    <p:sldId id="1240" r:id="rId11"/>
    <p:sldId id="1241" r:id="rId12"/>
    <p:sldId id="1252" r:id="rId13"/>
    <p:sldId id="1242" r:id="rId14"/>
    <p:sldId id="1243" r:id="rId15"/>
    <p:sldId id="1245" r:id="rId16"/>
    <p:sldId id="1246" r:id="rId17"/>
    <p:sldId id="1247" r:id="rId18"/>
    <p:sldId id="1253" r:id="rId19"/>
    <p:sldId id="1248" r:id="rId20"/>
    <p:sldId id="1249" r:id="rId21"/>
    <p:sldId id="1277" r:id="rId22"/>
    <p:sldId id="1254" r:id="rId23"/>
    <p:sldId id="1250" r:id="rId24"/>
    <p:sldId id="1255" r:id="rId25"/>
    <p:sldId id="1256" r:id="rId26"/>
    <p:sldId id="1257" r:id="rId27"/>
    <p:sldId id="1259" r:id="rId28"/>
    <p:sldId id="1258" r:id="rId29"/>
    <p:sldId id="1260" r:id="rId30"/>
    <p:sldId id="1261" r:id="rId31"/>
    <p:sldId id="1262" r:id="rId32"/>
    <p:sldId id="1263" r:id="rId33"/>
    <p:sldId id="1200" r:id="rId34"/>
    <p:sldId id="1264" r:id="rId35"/>
    <p:sldId id="1266" r:id="rId36"/>
    <p:sldId id="1265" r:id="rId37"/>
    <p:sldId id="1268" r:id="rId38"/>
    <p:sldId id="1269" r:id="rId39"/>
    <p:sldId id="1270" r:id="rId40"/>
    <p:sldId id="1271" r:id="rId41"/>
    <p:sldId id="1272" r:id="rId42"/>
    <p:sldId id="1273" r:id="rId43"/>
    <p:sldId id="1274" r:id="rId44"/>
    <p:sldId id="1275" r:id="rId45"/>
    <p:sldId id="1267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63" d="100"/>
          <a:sy n="63" d="100"/>
        </p:scale>
        <p:origin x="76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26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b=2, c=3, 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下为什么会有三个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？说说你的理解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已经进行运算的比较操作返回的是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bool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类型的值，布尔类型的值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true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false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，可能会与要比较的值的类型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不同，而并不能表达原有的关系，因此会报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warning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720" y="1443990"/>
            <a:ext cx="158623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a=3, b=2, c=1, 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a&gt;b&gt;c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这个式子，按人的常规理解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(3&gt;2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且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2&gt;1)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是正确的，为什么结果是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？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a&lt;b&lt;c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(3&lt;2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2&lt;1)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b&gt;a&lt;c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(2&gt;3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3&lt;1)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文字简单说明即可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 &gt; b &gt; c,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先进行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 &gt; 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的比较为真，返回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，与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进行比较，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== 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false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，返回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false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  <a:sym typeface="+mn-ea"/>
              </a:rPr>
              <a:t>a&lt;b&lt;c</a:t>
            </a:r>
            <a:r>
              <a:rPr kumimoji="1" lang="zh-CN" altLang="en-US" sz="1600" b="1" dirty="0">
                <a:latin typeface="+mn-ea"/>
                <a:sym typeface="+mn-ea"/>
              </a:rPr>
              <a:t>这个式子，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先进行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a &lt; b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的比较为假，返回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，与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进行比较，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 &lt; 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true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，返回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true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  <a:sym typeface="+mn-ea"/>
              </a:rPr>
              <a:t>b&gt;a&lt;c</a:t>
            </a:r>
            <a:r>
              <a:rPr kumimoji="1" lang="zh-CN" altLang="en-US" sz="1600" b="1" dirty="0">
                <a:latin typeface="+mn-ea"/>
                <a:sym typeface="+mn-ea"/>
              </a:rPr>
              <a:t>这个式子，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先进行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a &lt; b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的比较为假，返回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，与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进行比较，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 &lt; 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true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，返回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true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1490" y="1558290"/>
            <a:ext cx="90487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f1 = 100.25;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(f1 - 100.25)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==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fabs(f1-100.25)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f2 = 1.2;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(f2 - 1.2)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==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fabs(f2-1.2)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04337" y="1323975"/>
            <a:ext cx="5435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VS+Dev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下的运行结果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、删除第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#include&lt;</a:t>
            </a:r>
            <a:r>
              <a:rPr kumimoji="1" lang="en-US" altLang="zh-CN" sz="1600" b="1" dirty="0" err="1">
                <a:latin typeface="+mn-ea"/>
              </a:rPr>
              <a:t>cmath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后，再次贴</a:t>
            </a:r>
            <a:r>
              <a:rPr kumimoji="1" lang="en-US" altLang="zh-CN" sz="1600" b="1" dirty="0" err="1">
                <a:latin typeface="+mn-ea"/>
              </a:rPr>
              <a:t>VS+Dev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、由本例得出的结论，实数进行相等比较时的通用方法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 _</a:t>
            </a:r>
            <a:r>
              <a:rPr kumimoji="1" lang="zh-CN" altLang="en-US" sz="1600" b="1" dirty="0">
                <a:latin typeface="+mn-ea"/>
              </a:rPr>
              <a:t>两个实数的差的绝对值是否小于精度值</a:t>
            </a:r>
            <a:r>
              <a:rPr kumimoji="1" lang="en-US" altLang="zh-CN" sz="1600" b="1" dirty="0">
                <a:latin typeface="+mn-ea"/>
              </a:rPr>
              <a:t>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3380" y="568960"/>
            <a:ext cx="1367155" cy="1209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840" y="626110"/>
            <a:ext cx="1238250" cy="1095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395" y="1140460"/>
            <a:ext cx="1238250" cy="1095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785" y="3680460"/>
            <a:ext cx="3453130" cy="271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可不加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(d1==d2)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(f1==f2)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、观察</a:t>
            </a:r>
            <a:r>
              <a:rPr kumimoji="1" lang="en-US" altLang="zh-CN" sz="1600" b="1" dirty="0">
                <a:latin typeface="+mn-ea"/>
              </a:rPr>
              <a:t>fabs(**)&lt;1e-6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fabs(**)&lt;1e-7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的表现，哪个相同？哪个不同？为什么？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&lt;1e-7</a:t>
            </a:r>
            <a:r>
              <a:rPr kumimoji="1" lang="zh-CN" altLang="en-US" sz="1600" b="1" dirty="0">
                <a:latin typeface="+mn-ea"/>
              </a:rPr>
              <a:t>相同，</a:t>
            </a:r>
            <a:r>
              <a:rPr kumimoji="1" lang="en-US" altLang="zh-CN" sz="1600" b="1" dirty="0">
                <a:latin typeface="+mn-ea"/>
                <a:sym typeface="+mn-ea"/>
              </a:rPr>
              <a:t>&lt;1e-6</a:t>
            </a:r>
            <a:r>
              <a:rPr kumimoji="1" lang="zh-CN" altLang="en-US" sz="1600" b="1" dirty="0">
                <a:latin typeface="+mn-ea"/>
                <a:sym typeface="+mn-ea"/>
              </a:rPr>
              <a:t>不同</a:t>
            </a:r>
            <a:endParaRPr kumimoji="1" lang="zh-CN" altLang="en-US" sz="1600" b="1" dirty="0">
              <a:latin typeface="+mn-ea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  <a:sym typeface="+mn-ea"/>
              </a:rPr>
              <a:t>原因：</a:t>
            </a:r>
            <a:r>
              <a:rPr kumimoji="1" lang="en-US" altLang="zh-CN" sz="1600" b="1" dirty="0">
                <a:latin typeface="+mn-ea"/>
                <a:sym typeface="+mn-ea"/>
              </a:rPr>
              <a:t>float</a:t>
            </a:r>
            <a:r>
              <a:rPr kumimoji="1" lang="zh-CN" altLang="en-US" sz="1600" b="1" dirty="0">
                <a:latin typeface="+mn-ea"/>
                <a:sym typeface="+mn-ea"/>
              </a:rPr>
              <a:t>类型和</a:t>
            </a:r>
            <a:r>
              <a:rPr kumimoji="1" lang="en-US" altLang="zh-CN" sz="1600" b="1" dirty="0">
                <a:latin typeface="+mn-ea"/>
                <a:sym typeface="+mn-ea"/>
              </a:rPr>
              <a:t>double</a:t>
            </a:r>
            <a:r>
              <a:rPr kumimoji="1" lang="zh-CN" altLang="en-US" sz="1600" b="1" dirty="0">
                <a:latin typeface="+mn-ea"/>
                <a:sym typeface="+mn-ea"/>
              </a:rPr>
              <a:t>类型</a:t>
            </a:r>
            <a:r>
              <a:rPr kumimoji="1" lang="zh-CN" altLang="en-US" sz="1600" b="1" dirty="0">
                <a:latin typeface="+mn-ea"/>
                <a:sym typeface="+mn-ea"/>
              </a:rPr>
              <a:t>精度不同</a:t>
            </a:r>
            <a:endParaRPr kumimoji="1" lang="zh-CN" altLang="en-US" sz="1600" b="1" dirty="0"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070" y="1057275"/>
            <a:ext cx="909955" cy="1176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true 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"true"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false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"false"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 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"true" </a:t>
            </a:r>
            <a:r>
              <a:rPr kumimoji="1" lang="zh-CN" altLang="en-US" sz="1600" b="1" dirty="0">
                <a:latin typeface="+mn-ea"/>
              </a:rPr>
              <a:t>的区别（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"false"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类型值，</a:t>
            </a:r>
            <a:r>
              <a:rPr kumimoji="1" lang="en-US" altLang="zh-CN" sz="1600" b="1" dirty="0">
                <a:latin typeface="+mn-ea"/>
              </a:rPr>
              <a:t>”true”</a:t>
            </a:r>
            <a:r>
              <a:rPr kumimoji="1" lang="zh-CN" altLang="en-US" sz="1600" b="1" dirty="0">
                <a:latin typeface="+mn-ea"/>
              </a:rPr>
              <a:t>是字符串常量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、进阶思考：目前直接输出逻辑常量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，在屏幕上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输出的输出是</a:t>
            </a:r>
            <a:r>
              <a:rPr kumimoji="1" lang="en-US" altLang="zh-CN" sz="1600" b="1" dirty="0">
                <a:latin typeface="+mn-ea"/>
              </a:rPr>
              <a:t>1/0</a:t>
            </a:r>
            <a:r>
              <a:rPr kumimoji="1" lang="zh-CN" altLang="en-US" sz="1600" b="1" dirty="0">
                <a:latin typeface="+mn-ea"/>
              </a:rPr>
              <a:t>，如果想输出为</a:t>
            </a:r>
            <a:r>
              <a:rPr kumimoji="1" lang="en-US" altLang="zh-CN" sz="1600" b="1" dirty="0">
                <a:latin typeface="+mn-ea"/>
              </a:rPr>
              <a:t>true/false</a:t>
            </a:r>
            <a:r>
              <a:rPr kumimoji="1" lang="zh-CN" altLang="en-US" sz="1600" b="1" dirty="0">
                <a:latin typeface="+mn-ea"/>
              </a:rPr>
              <a:t>，应该怎么做？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、不允许用分支语句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条件运算符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zh-CN" altLang="en-US" sz="1600" b="1" dirty="0">
                <a:latin typeface="+mn-ea"/>
              </a:rPr>
              <a:t>、提示：去网上查一个前导格式控制符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课件无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使用 std::boolalpha 格式控制符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7580" y="1323975"/>
            <a:ext cx="103822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k1 = true;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(true)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' ' &lt;&lt; int(k1)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k2 = false;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(false)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' ' &lt;&lt; int(k2)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变量在内存中占用</a:t>
            </a:r>
            <a:r>
              <a:rPr kumimoji="1" lang="en-US" altLang="zh-CN" sz="1600" b="1" dirty="0">
                <a:latin typeface="+mn-ea"/>
              </a:rPr>
              <a:t>_1_</a:t>
            </a:r>
            <a:r>
              <a:rPr kumimoji="1" lang="zh-CN" altLang="en-US" sz="1600" b="1" dirty="0">
                <a:latin typeface="+mn-ea"/>
              </a:rPr>
              <a:t>字节，值是</a:t>
            </a:r>
            <a:r>
              <a:rPr kumimoji="1" lang="en-US" altLang="zh-CN" sz="1600" b="1" dirty="0">
                <a:latin typeface="+mn-ea"/>
              </a:rPr>
              <a:t>__0/1_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变量在输出时的规则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（限制：在无</a:t>
            </a:r>
            <a:r>
              <a:rPr kumimoji="1" lang="en-US" altLang="zh-CN" sz="1600" b="1" dirty="0">
                <a:latin typeface="+mn-ea"/>
              </a:rPr>
              <a:t>3.A</a:t>
            </a:r>
            <a:r>
              <a:rPr kumimoji="1" lang="zh-CN" altLang="en-US" sz="1600" b="1" dirty="0">
                <a:latin typeface="+mn-ea"/>
              </a:rPr>
              <a:t>的前导格式控制符的前提下）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类型为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类型为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，输出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4240" y="1360170"/>
            <a:ext cx="1552575" cy="1233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int(k)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，输出是：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型变量在输入时的规则：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输入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，非零为</a:t>
            </a:r>
            <a:r>
              <a:rPr kumimoji="1" lang="en-US" altLang="zh-CN" sz="1600" b="1" dirty="0">
                <a:latin typeface="+mn-ea"/>
              </a:rPr>
              <a:t>true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9355" y="1323975"/>
            <a:ext cx="757555" cy="319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355" y="1743710"/>
            <a:ext cx="723900" cy="433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355" y="2227580"/>
            <a:ext cx="548005" cy="4527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355" y="2730500"/>
            <a:ext cx="662305" cy="257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355" y="3245485"/>
            <a:ext cx="652780" cy="367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k='A';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k=0;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k=256;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c = 256;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</a:t>
            </a:r>
            <a:r>
              <a:rPr kumimoji="1" lang="en-US" altLang="zh-CN" sz="1600" b="1" dirty="0">
                <a:latin typeface="+mn-ea"/>
              </a:rPr>
              <a:t>waring</a:t>
            </a:r>
            <a:r>
              <a:rPr kumimoji="1" lang="zh-CN" altLang="en-US" sz="1600" b="1" dirty="0">
                <a:latin typeface="+mn-ea"/>
              </a:rPr>
              <a:t>的意思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‘A’,’256’</a:t>
            </a:r>
            <a:r>
              <a:rPr kumimoji="1" lang="zh-CN" altLang="en-US" sz="1600" b="1" dirty="0">
                <a:latin typeface="+mn-ea"/>
              </a:rPr>
              <a:t>超出了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类型限定的范围，因此警告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‘256’</a:t>
            </a:r>
            <a:r>
              <a:rPr kumimoji="1" lang="zh-CN" altLang="en-US" sz="1600" b="1" dirty="0">
                <a:latin typeface="+mn-ea"/>
              </a:rPr>
              <a:t>超出了</a:t>
            </a:r>
            <a:r>
              <a:rPr kumimoji="1" lang="en-US" altLang="zh-CN" sz="1600" b="1" dirty="0"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的范围，取</a:t>
            </a:r>
            <a:r>
              <a:rPr kumimoji="1" lang="zh-CN" altLang="en-US" sz="1600" b="1" dirty="0">
                <a:latin typeface="+mn-ea"/>
              </a:rPr>
              <a:t>低位的方式赋给</a:t>
            </a:r>
            <a:r>
              <a:rPr kumimoji="1" lang="en-US" altLang="zh-CN" sz="1600" b="1" dirty="0"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k='A'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字节赋值给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字节，为什么还有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‘A‘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码值是</a:t>
            </a:r>
            <a:r>
              <a:rPr kumimoji="1" lang="en-US" altLang="zh-CN" sz="1600" b="1" dirty="0">
                <a:latin typeface="+mn-ea"/>
              </a:rPr>
              <a:t>65</a:t>
            </a:r>
            <a:r>
              <a:rPr kumimoji="1" lang="zh-CN" altLang="en-US" sz="1600" b="1" dirty="0">
                <a:latin typeface="+mn-ea"/>
              </a:rPr>
              <a:t>，不是</a:t>
            </a:r>
            <a:r>
              <a:rPr kumimoji="1" lang="en-US" altLang="zh-CN" sz="1600" b="1" dirty="0">
                <a:latin typeface="+mn-ea"/>
              </a:rPr>
              <a:t>0/1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k=256</a:t>
            </a:r>
            <a:r>
              <a:rPr kumimoji="1" lang="zh-CN" altLang="en-US" sz="1600" b="1" dirty="0">
                <a:latin typeface="+mn-ea"/>
              </a:rPr>
              <a:t>如果按整型的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字节赋给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应该是多少？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现在实际是多少？为什么？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c++</a:t>
            </a:r>
            <a:r>
              <a:rPr kumimoji="1" lang="zh-CN" altLang="en-US" sz="1600" b="1" dirty="0">
                <a:latin typeface="+mn-ea"/>
              </a:rPr>
              <a:t>自动把非零的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类型赋给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、为什么不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c</a:t>
            </a:r>
            <a:r>
              <a:rPr kumimoji="1" lang="zh-CN" altLang="en-US" sz="1600" b="1" dirty="0">
                <a:latin typeface="+mn-ea"/>
              </a:rPr>
              <a:t>，而是 </a:t>
            </a:r>
            <a:r>
              <a:rPr kumimoji="1" lang="en-US" altLang="zh-CN" sz="1600" b="1" dirty="0">
                <a:latin typeface="+mn-ea"/>
              </a:rPr>
              <a:t>(int)c ?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编译器可能无法识别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为真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为假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这句话如何解释？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false </a:t>
            </a:r>
            <a:r>
              <a:rPr kumimoji="1" lang="zh-CN" altLang="en-US" sz="1600" b="1" dirty="0">
                <a:latin typeface="+mn-ea"/>
              </a:rPr>
              <a:t>值为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值为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745" y="1257935"/>
            <a:ext cx="70993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f=true;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 a=10;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a=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a+f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参与表达式计算时，当做</a:t>
            </a:r>
            <a:r>
              <a:rPr kumimoji="1" lang="en-US" altLang="zh-CN" sz="1600" b="1" dirty="0">
                <a:latin typeface="+mn-ea"/>
              </a:rPr>
              <a:t>___1_______________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520" y="1713230"/>
            <a:ext cx="126238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完成下列两个表格的填写（</a:t>
            </a:r>
            <a:r>
              <a:rPr lang="en-US" altLang="zh-CN" sz="1600" b="1" dirty="0">
                <a:latin typeface="+mn-ea"/>
              </a:rPr>
              <a:t>a/b</a:t>
            </a:r>
            <a:r>
              <a:rPr lang="zh-CN" altLang="en-US" sz="1600" b="1" dirty="0">
                <a:latin typeface="+mn-ea"/>
              </a:rPr>
              <a:t>是两个逻辑值，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填写的内容不要用黑色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0420" y="1455811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30420" y="3758189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a=1, b=2, c=3, d=4, m=1, n=1;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(m=a&gt;b)&amp;&amp;(n=c&gt;d);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(m=a&gt;b)&amp;&amp;(n=c&gt;d)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的求值过程（标出步骤顺序）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a&gt;b return 0, m=0, 0&amp;&amp;(), return 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、短路运算的意思是：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前一个满足条件（或违背）条件，直接跳过后一个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0755" y="1388745"/>
            <a:ext cx="93853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41607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752870" y="1323975"/>
            <a:ext cx="608658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有以下逗号表达式，其表达式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是逻辑表达式，表达式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按需构造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  5&gt;3 &amp;&amp; 2 || 8&lt;4 - !0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***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、构造一个测试程序，在不改变该表达式目前求值顺序的情况下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（允许插入新的运算，但目前这几个运算符的顺序不要变）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证明两点：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8&lt;4 - !0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存在短路运算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5&gt;3 &amp;&amp; 2 </a:t>
            </a:r>
            <a:r>
              <a:rPr lang="zh-CN" altLang="en-US" sz="1600" b="1" dirty="0">
                <a:latin typeface="+mn-ea"/>
                <a:sym typeface="+mn-ea"/>
              </a:rPr>
              <a:t>为</a:t>
            </a:r>
            <a:r>
              <a:rPr lang="en-US" altLang="zh-CN" sz="1600" b="1" dirty="0">
                <a:latin typeface="+mn-ea"/>
                <a:sym typeface="+mn-ea"/>
              </a:rPr>
              <a:t>true</a:t>
            </a:r>
            <a:r>
              <a:rPr lang="zh-CN" altLang="en-US" sz="1600" b="1" dirty="0">
                <a:latin typeface="+mn-ea"/>
                <a:sym typeface="+mn-ea"/>
              </a:rPr>
              <a:t>，短路，不计算后式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***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不存在短路运算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、用栈方式画包含短路运算的表达式，则从分析到短路运算符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进栈开始（本例中为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latin typeface="+mn-ea"/>
              </a:rPr>
              <a:t>）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忽略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  <a:sym typeface="+mn-ea"/>
              </a:rPr>
              <a:t>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||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  <a:sym typeface="+mn-ea"/>
              </a:rPr>
              <a:t>优先级高的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运算符。（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所有 </a:t>
            </a:r>
            <a:r>
              <a:rPr kumimoji="1" lang="en-US" altLang="zh-CN" sz="1600" b="1" dirty="0">
                <a:latin typeface="+mn-ea"/>
              </a:rPr>
              <a:t>/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优先级高的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 flipH="1" flipV="1">
            <a:off x="7201912" y="1853076"/>
            <a:ext cx="237220" cy="26703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3089910"/>
            <a:ext cx="4251960" cy="1143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" y="4795520"/>
            <a:ext cx="5753100" cy="17386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2505" y="1323975"/>
            <a:ext cx="1714500" cy="728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505" y="2247265"/>
            <a:ext cx="1833880" cy="490855"/>
          </a:xfrm>
          <a:prstGeom prst="rect">
            <a:avLst/>
          </a:prstGeom>
        </p:spPr>
      </p:pic>
      <p:graphicFrame>
        <p:nvGraphicFramePr>
          <p:cNvPr id="7" name="对象 6"/>
          <p:cNvGraphicFramePr/>
          <p:nvPr/>
        </p:nvGraphicFramePr>
        <p:xfrm>
          <a:off x="5533390" y="2650490"/>
          <a:ext cx="3350895" cy="404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3347720" imgH="4038600" progId="Paint.Picture">
                  <p:embed/>
                </p:oleObj>
              </mc:Choice>
              <mc:Fallback>
                <p:oleObj name="" r:id="rId3" imgW="3347720" imgH="40386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33390" y="2650490"/>
                        <a:ext cx="3350895" cy="404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、程序标注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未缩进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的行，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应该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（应该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不应该）缩进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2505" y="1323975"/>
            <a:ext cx="1714500" cy="728980"/>
          </a:xfrm>
          <a:prstGeom prst="rect">
            <a:avLst/>
          </a:prstGeom>
        </p:spPr>
      </p:pic>
      <p:graphicFrame>
        <p:nvGraphicFramePr>
          <p:cNvPr id="6" name="对象 5"/>
          <p:cNvGraphicFramePr/>
          <p:nvPr/>
        </p:nvGraphicFramePr>
        <p:xfrm>
          <a:off x="8529320" y="3303270"/>
          <a:ext cx="1991995" cy="1832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1071880" imgH="895350" progId="Paint.Picture">
                  <p:embed/>
                </p:oleObj>
              </mc:Choice>
              <mc:Fallback>
                <p:oleObj name="" r:id="rId2" imgW="1071880" imgH="8953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29320" y="3303270"/>
                        <a:ext cx="1991995" cy="1832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935" y="3512820"/>
            <a:ext cx="2285365" cy="29457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&lt;60;)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贴编译错误并给出解释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处出现语法错误，不应该加</a:t>
            </a:r>
            <a:r>
              <a:rPr kumimoji="1" lang="zh-CN" altLang="en-US" sz="1600" b="1" dirty="0">
                <a:latin typeface="+mn-ea"/>
              </a:rPr>
              <a:t>分号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095" y="1800225"/>
            <a:ext cx="1319530" cy="3765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请输入成绩</a:t>
            </a:r>
            <a:r>
              <a:rPr lang="en-US" altLang="zh-CN" sz="1200" b="1" dirty="0">
                <a:latin typeface="+mn-ea"/>
              </a:rPr>
              <a:t>[0-100]"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&gt;=90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&lt;=100)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优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&gt;=80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&lt;90)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&gt;=70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&lt;80)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中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&gt;=60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&lt;70)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&lt;60)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不及格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输入错误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zh-CN" sz="1200" b="1" dirty="0">
                <a:latin typeface="+mn-ea"/>
              </a:rPr>
              <a:t>程序结束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、给出程序的流程框图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注意字体的清晰可辨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&lt;=89</a:t>
            </a:r>
            <a:r>
              <a:rPr kumimoji="1" lang="zh-CN" altLang="en-US" sz="1600" b="1" dirty="0">
                <a:latin typeface="+mn-ea"/>
              </a:rPr>
              <a:t>？哪个更好？可以，第一个，更方便理解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&lt;=90</a:t>
            </a:r>
            <a:r>
              <a:rPr kumimoji="1" lang="zh-CN" altLang="en-US" sz="1600" b="1" dirty="0">
                <a:latin typeface="+mn-ea"/>
              </a:rPr>
              <a:t>？运行是否正确？可以，</a:t>
            </a:r>
            <a:r>
              <a:rPr kumimoji="1" lang="zh-CN" altLang="en-US" sz="1600" b="1" dirty="0">
                <a:latin typeface="+mn-ea"/>
              </a:rPr>
              <a:t>运行正确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301766" y="3492060"/>
            <a:ext cx="536027" cy="24962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130" y="3106420"/>
            <a:ext cx="6298565" cy="36588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一个有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行代码的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__5_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__2_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__4_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__9_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__8_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总结：给出大括号配对的基本准则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若下方无左括号，则和最近的右括号配对；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若下方有左括号，则下方的左括号优先配对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  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</a:t>
            </a:r>
            <a:r>
              <a:rPr kumimoji="1" lang="zh-CN" altLang="en-US" sz="1600" b="1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D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</a:t>
            </a:r>
            <a:r>
              <a:rPr kumimoji="1" lang="zh-CN" altLang="en-US" sz="1600" b="1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E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6.C</a:t>
            </a:r>
            <a:r>
              <a:rPr kumimoji="1" lang="zh-CN" altLang="en-US" sz="1600" b="1" dirty="0">
                <a:latin typeface="+mn-ea"/>
              </a:rPr>
              <a:t>的基础上，在箭头位置插入语句</a:t>
            </a:r>
            <a:r>
              <a:rPr kumimoji="1" lang="en-US" altLang="zh-CN" sz="1600" b="1" dirty="0">
                <a:latin typeface="+mn-ea"/>
              </a:rPr>
              <a:t>F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、请构造一个符合此要求的测试程序，并给出该程序的程序及编译错误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、请说明错误原因（如果计算机的报错和你的认知不同，想明白为什么）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第二个</a:t>
            </a:r>
            <a:r>
              <a:rPr kumimoji="1" lang="en-US" altLang="zh-CN" sz="1600" b="1" dirty="0">
                <a:latin typeface="+mn-ea"/>
              </a:rPr>
              <a:t>else</a:t>
            </a:r>
            <a:r>
              <a:rPr kumimoji="1" lang="zh-CN" altLang="en-US" sz="1600" b="1" dirty="0">
                <a:latin typeface="+mn-ea"/>
              </a:rPr>
              <a:t>无法找到最近的</a:t>
            </a:r>
            <a:r>
              <a:rPr kumimoji="1" lang="en-US" altLang="zh-CN" sz="1600" b="1" dirty="0">
                <a:latin typeface="+mn-ea"/>
              </a:rPr>
              <a:t>if</a:t>
            </a:r>
            <a:endParaRPr kumimoji="1" lang="en-US" altLang="zh-CN" sz="1600" b="1" dirty="0">
              <a:latin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409902" y="3941380"/>
            <a:ext cx="60631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950" y="2183765"/>
            <a:ext cx="2057400" cy="3752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15" y="6117590"/>
            <a:ext cx="1633855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813738" y="1323976"/>
            <a:ext cx="6025712" cy="25963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zh-CN" altLang="en-US" sz="1600" b="1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4" y="1323974"/>
            <a:ext cx="1625569" cy="25963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2114" y="3920359"/>
            <a:ext cx="1625569" cy="2613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813737" y="3916911"/>
            <a:ext cx="6025713" cy="2617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217683" y="1330358"/>
            <a:ext cx="2596055" cy="258655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2217682" y="3916912"/>
            <a:ext cx="2596055" cy="26172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a,b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a &gt;&gt; b;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if (a&gt;b)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else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b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&gt; b ?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a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: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b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//1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(a&gt;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//2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("max=%d", 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//3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547945" y="1323975"/>
            <a:ext cx="429150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12 34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34 12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//1 //2 //3</a:t>
            </a:r>
            <a:r>
              <a:rPr kumimoji="1" lang="zh-CN" altLang="en-US" sz="1600" b="1" dirty="0">
                <a:latin typeface="+mn-ea"/>
              </a:rPr>
              <a:t>这三种条件运算符的使用，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按你的喜欢程度排序为</a:t>
            </a:r>
            <a:r>
              <a:rPr kumimoji="1" lang="en-US" altLang="zh-CN" sz="1600" b="1" dirty="0">
                <a:latin typeface="+mn-ea"/>
              </a:rPr>
              <a:t>___231___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7090" y="1323975"/>
            <a:ext cx="871855" cy="9099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1436370"/>
            <a:ext cx="92392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"Hello" : 123;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a&gt;b ?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: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'A' : 123;    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编译正确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5793" y="1323975"/>
            <a:ext cx="49536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、给出编译报错的截图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、条件表达式使用的三句中，前两句报错，最后一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句正确，总结下条件表达式使用时的限制规则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提示：注意表达式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的类型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  <a:sym typeface="+mn-ea"/>
              </a:rPr>
              <a:t>表达式</a:t>
            </a:r>
            <a:r>
              <a:rPr kumimoji="1" lang="en-US" altLang="zh-CN" sz="1600" b="1" dirty="0">
                <a:latin typeface="+mn-ea"/>
                <a:sym typeface="+mn-ea"/>
              </a:rPr>
              <a:t>2</a:t>
            </a:r>
            <a:r>
              <a:rPr kumimoji="1" lang="zh-CN" altLang="en-US" sz="1600" b="1" dirty="0">
                <a:latin typeface="+mn-ea"/>
                <a:sym typeface="+mn-ea"/>
              </a:rPr>
              <a:t>和表达式</a:t>
            </a:r>
            <a:r>
              <a:rPr kumimoji="1" lang="en-US" altLang="zh-CN" sz="1600" b="1" dirty="0">
                <a:latin typeface="+mn-ea"/>
                <a:sym typeface="+mn-ea"/>
              </a:rPr>
              <a:t>3</a:t>
            </a:r>
            <a:r>
              <a:rPr kumimoji="1" lang="zh-CN" altLang="en-US" sz="1600" b="1" dirty="0">
                <a:latin typeface="+mn-ea"/>
                <a:sym typeface="+mn-ea"/>
              </a:rPr>
              <a:t>的类型要一致或能转换成一致的类型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4625" y="1697990"/>
            <a:ext cx="7225665" cy="5924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程序的期望，是当输入的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时，分段输出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优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及格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不及格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否则输出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、程序不完全正确，找出不符合期望的两个数据区间并给出运行截图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不需要改对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101 - 109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-1 - -9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270" y="2414270"/>
            <a:ext cx="1710055" cy="11099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const int k=5;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8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default</a:t>
            </a:r>
            <a:r>
              <a:rPr kumimoji="1" lang="zh-CN" altLang="en-US" sz="1600" b="1" dirty="0">
                <a:latin typeface="+mn-ea"/>
              </a:rPr>
              <a:t>的位置进行了交换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写为常变量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常量形式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验证此程序与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的功能是否完全一致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（即：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中正确的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此程序中同样正确；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错误的，此程序中同样错误）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8.B____</a:t>
            </a:r>
            <a:r>
              <a:rPr kumimoji="1" lang="zh-CN" altLang="en-US" sz="1600" b="1" dirty="0">
                <a:latin typeface="+mn-ea"/>
                <a:sym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不完全一致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如果不完全一致，给出表现不一致的测试数据的运行截图</a:t>
            </a: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k=5;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8.B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const 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int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switch-case</a:t>
            </a:r>
            <a:r>
              <a:rPr kumimoji="1" lang="zh-CN" altLang="en-US" sz="1600" b="1" dirty="0">
                <a:latin typeface="+mn-ea"/>
              </a:rPr>
              <a:t>语句中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只能接受常量值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811655"/>
            <a:ext cx="1333500" cy="3098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4+2: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的基础上，多了一个</a:t>
            </a:r>
            <a:r>
              <a:rPr kumimoji="1" lang="en-US" altLang="zh-CN" sz="1600" b="1" dirty="0">
                <a:latin typeface="+mn-ea"/>
              </a:rPr>
              <a:t>case 4+2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不能接受重复的标签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7760" y="1790065"/>
            <a:ext cx="260032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float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传的数据类型必须和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的数据类型一致，且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只能传整形或枚举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2295" y="1691005"/>
            <a:ext cx="3700780" cy="8051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的基础上，删除</a:t>
            </a:r>
            <a:r>
              <a:rPr kumimoji="1" lang="en-US" altLang="zh-CN" sz="1600" b="1" dirty="0">
                <a:latin typeface="+mn-ea"/>
              </a:rPr>
              <a:t>case 8</a:t>
            </a:r>
            <a:r>
              <a:rPr kumimoji="1" lang="zh-CN" altLang="en-US" sz="1600" b="1" dirty="0">
                <a:latin typeface="+mn-ea"/>
              </a:rPr>
              <a:t>后面的</a:t>
            </a:r>
            <a:r>
              <a:rPr kumimoji="1" lang="en-US" altLang="zh-CN" sz="1600" b="1" dirty="0">
                <a:latin typeface="+mn-ea"/>
              </a:rPr>
              <a:t>break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运行结果不一致的测试数据即截图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终止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语句，跳出括号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1640" y="1697355"/>
            <a:ext cx="56197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程序同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，将其改正确，即所有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之外的数据均给出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即可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int main()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{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int score;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cout &lt;&lt; "请输入成绩[0-100]"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cin &gt;&gt; score;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if (score &lt; 0 || score &gt; 100) {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cout &lt;&lt; "输入错误"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}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else {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switch (score / 10) {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10: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9: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cout &lt;&lt; "优"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break;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8: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cout &lt;&lt; "良"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break;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7: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cout &lt;&lt; "中"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break;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6: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cout &lt;&lt; "及格"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break;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5: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4: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3: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2: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1: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case 0: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cout &lt;&lt; "不及格" &lt;&lt; endl;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    break;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    }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}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    return 0;</a:t>
            </a:r>
            <a:endParaRPr kumimoji="1" lang="en-US" altLang="zh-CN" sz="9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latin typeface="+mn-ea"/>
              </a:rPr>
              <a:t>}</a:t>
            </a:r>
            <a:endParaRPr kumimoji="1" lang="en-US" altLang="zh-CN" sz="900" b="1" dirty="0">
              <a:latin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思考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如果将成绩区间对应为：</a:t>
            </a:r>
            <a:r>
              <a:rPr kumimoji="1" lang="en-US" altLang="zh-CN" sz="1600" b="1" dirty="0">
                <a:latin typeface="+mn-ea"/>
              </a:rPr>
              <a:t>[84-100]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[68-84)  - </a:t>
            </a:r>
            <a:r>
              <a:rPr kumimoji="1" lang="zh-CN" altLang="en-US" sz="1600" b="1" dirty="0">
                <a:latin typeface="+mn-ea"/>
              </a:rPr>
              <a:t>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[55-68)</a:t>
            </a:r>
            <a:r>
              <a:rPr kumimoji="1" lang="zh-CN" altLang="en-US" sz="1600" b="1" dirty="0">
                <a:latin typeface="+mn-ea"/>
              </a:rPr>
              <a:t>  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[0-55)   - </a:t>
            </a:r>
            <a:r>
              <a:rPr kumimoji="1" lang="zh-CN" altLang="en-US" sz="1600" b="1" dirty="0">
                <a:latin typeface="+mn-ea"/>
              </a:rPr>
              <a:t>不及格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、用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语句完成该程序并贴图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语句，该如何实现？（如果程序太长，允许只截取能说明问题的部分即可）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分细一点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、如果学生成绩带小数点，即</a:t>
            </a:r>
            <a:r>
              <a:rPr kumimoji="1" lang="en-US" altLang="zh-CN" sz="1600" b="1" dirty="0">
                <a:latin typeface="+mn-ea"/>
              </a:rPr>
              <a:t>"xx.5"</a:t>
            </a:r>
            <a:r>
              <a:rPr kumimoji="1" lang="zh-CN" altLang="en-US" sz="1600" b="1" dirty="0">
                <a:latin typeface="+mn-ea"/>
              </a:rPr>
              <a:t>形式，能用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语句吗？能用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语句吗？请解释原因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能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，不能</a:t>
            </a:r>
            <a:r>
              <a:rPr kumimoji="1" lang="en-US" altLang="zh-CN" sz="1600" b="1" dirty="0">
                <a:latin typeface="+mn-ea"/>
              </a:rPr>
              <a:t>switch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、总结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语句使用时的注意事项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传整形或枚举，不能有相同的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，记得</a:t>
            </a:r>
            <a:r>
              <a:rPr kumimoji="1" lang="en-US" altLang="zh-CN" sz="1600" b="1" dirty="0">
                <a:latin typeface="+mn-ea"/>
              </a:rPr>
              <a:t>break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switch-case</a:t>
            </a:r>
            <a:r>
              <a:rPr kumimoji="1" lang="zh-CN" altLang="en-US" sz="1600" b="1" dirty="0">
                <a:latin typeface="+mn-ea"/>
              </a:rPr>
              <a:t>语句能完全取代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不能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需要文字描述的地方，尽可能用简单的文字描述清楚即可，不需要卷字数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8740" y="128270"/>
            <a:ext cx="4312285" cy="43630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4751070"/>
            <a:ext cx="3037205" cy="196278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17543</Words>
  <Application>WPS 演示</Application>
  <PresentationFormat>宽屏</PresentationFormat>
  <Paragraphs>1324</Paragraphs>
  <Slides>43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wps</cp:lastModifiedBy>
  <cp:revision>219</cp:revision>
  <dcterms:created xsi:type="dcterms:W3CDTF">2020-08-13T13:39:00Z</dcterms:created>
  <dcterms:modified xsi:type="dcterms:W3CDTF">2025-03-22T07:49:13Z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21ED98C3D1034C9B9E4EF88E3B4BFBE3_12</vt:lpwstr>
  </property>
  <property fmtid="{D5CDD505-2E9C-101B-9397-08002B2CF9AE}" pid="3" name="KSOProductBuildVer">
    <vt:lpwstr>2052-12.8.2.15091</vt:lpwstr>
  </property>
</Properties>
</file>